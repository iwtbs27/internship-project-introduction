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这个项目可以用一句话概括：我把冗长的 Agent 执行日志整理成结构化、可检索并带可信度的证据环境，再让模型基于证据定位根因。这里最重要的区别是，我们不是总结哪里失败，而是证明为什么失败。整个 V5 可以记成三个词：结构化日志、证据路由和假设验证。最终目标是找到最早、可修复、能够改变后续轨迹的因果节点，为算法和架构优化提供方向。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的分数只能告诉我们一个 case 失败了，却不能告诉我们下一步该改模型、改工具还是改执行流程。归因把低分 case 转成根因，再把根因连接到算法或架构迭代；同样，它也可以把失败轨迹转成 Reflection 下一轮真正可用的经验，避免难 case 原样重试。线上真实 case 也能复用这套能力，但数据链路会与 Benchmark 不同。这里要强调边界：轨迹级 checkpoint 重试和 Harness 自进化是长期方向，不是当前已经交付的结果。既然归因必要，下一步就要看旧方案为什么还不够。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旧基线其实已经能完整跑通：扫描结果、筛低分 case、分发给 sub agent、拼接上下文、调用 review_code，最后输出 JSON。问题在于主 Agent 主要承担分发，每个 case 的归因仍然是单 Agent 在粗糙上下文上工作。代码文件只从 Editor.write 重建，同一路径只留下最后一次写入；日志兜底也只看末尾七十五行，文件查询还依赖模型猜路径。虚拟文件系统和 review_code 是有价值的起点，但它们无法弥补输入证据缺失。由此可以把问题从“多 Agent 是否足够”转向“证据环境是否可靠”。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这页的判断是：继续调 Prompt 之前，必须先修证据环境。原始统计里 Editor.write 有六万三千一百三十四次，而 edit_file_by_replace 有两万四千七百四十次；在写类操作中，replace 约占百分之二十八，所以只保留最后一次 write 是结构性遗漏，不是小误差。末尾七十五行会把注意力推向后期级联现象，猜文件名又削弱检索，同时未利用每一步 think 中的操作意图。再加上重复调用模型写 JSON 和错误 domain prompt 污染，上下文即使被更强模型读取，也可能得到流畅但错误的解释。这个诊断直接决定了后续调研必须回答：怎样压缩日志、恢复文件、提供约束，并让假设可验证。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我没有把调研做成论文列表，而是要求每个研究发现必须对应一个已观察问题和一个实现边界。All-at-once、Binary Search 与 logdx_ci 支持把全量输入改成工具化的按需取证；AgentRX 和 AgentDebug 启发了先验约束、验证摘要与异常信号；Dover 则说明单次猜测不够，需要假设和证据循环。V5 因此实现了 Step 摘要、证据查询、确定性约束与串行假设验证，但 checkpoint 重放还没有完成。AgentTracer 和 StepFinder 代表后续的强化学习与时序建模方向，也没有被包装成当前成果。调研最后落成的系统原则是：先整理证据，再让模型推理。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这张原始架构图可以从四层理解。数据层接收日志、Trace、GUI 现象和评估信息；证据层把它们整理成 Step 化日志、约束信号、文件状态与可信度；推理层再执行提出假设、查询证据、判断假设和收敛结论；输出层同时保留紧凑根因和完整轨迹。这个顺序不能颠倒，因为模型推理是否可信，首先取决于它看到的证据是否完整、能否回查、是否知道可靠程度。右侧的循环说明模型不再一次性生成答案，而是在证据接口上推进判断。接下来我会拆开三项最关键的证据工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第一项设计是把一次 think 加一次 act 或工具调用定义成一个编号 Step。压缩版保留 think、工具名、路径、状态和耗时，把 read 或 write 中的长代码参数移出主上下文；完整版则不丢内容，仍按 Step 编号保存，必要时由 query_evidence 精确回查。样例中 Step 一记录需求分析，Step 十九记录写文件和 lint，Step 二十一记录没有产生有效命令，这些时序线索在简单 tail 中很容易失去前因。这里的压缩不是删除证据，而是把证据从默认占用注意力改成按索引访问。日志有了结构以后，代码内容本身还必须被可信地恢复。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第二项设计是按日志顺序重放文件事件，而不是只保留最后一次 write。完整 write 建立基线，replace 和 insert 在基线上依序应用；增量版本缺少 write 时，可以用此前的 Editor.read 快照补基线。事件重放覆盖约百分之九十九点九六的写类命令调用，但这是文件重建覆盖率，不是归因准确率。每个文件还会被标成四级可信度：exact 和成功解析的 stale_resolved 可以作为强代码证据，未知基线或只能确认存在的文件只能引导后续搜索。只有先说明代码是否可信，模型对代码的因果解释才有资格进入最终结论。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第三项设计是把确定性约束和 LLM 因果推理解耦。程序检查结束前是否构建、最后改代码后是否重验、前端是否冒烟、构建失败后是否修复重跑，以及工具连续失败后是否切换解法，并统一输出 satisfied、violated 或 not_applicable。它们只是进入 validation_summary 的事实信号，单个 violated 不能直接成为 root cause。模型随后提出假设，查询 step、code、grep、项目结构和评估摘要，再用 support、contradict 或 inconclusive 判断；证据不足就继续取证或换假设，证据收敛后才 conclude。当前采用串行循环，是因为相同上下文下的并行分支容易产生同质假设，后续还需要角色化与明确的收敛机制。下一页用真实输出看这套边界是否真的改善了归因粒度。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这个案例的主路由是从现象进入 execution_process，先定位相关 Step，再读取代码、判断假设并形成结论；如果 Step 和目录树还不够，才用 grep 缩小候选文件。旧版输出主要停留在页面不可访问或功能异常等现象和宽泛原因上，对具体修复帮助有限。V5 则把问题定位到 Step 一：Agent 从一开始就把研究报告理解成 Web 展示任务，并在输出中给出 root_cause_step 和 process_evidence。这里比较的不是哪一版文字更长，而是哪一版能找到更早、可修复、还能被日志和代码复核的节点。案例说明机制方向有效，但成果还需要与验证边界一起陈述。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当前可以诚实地说，历史 case 的配对盲评和人工抽查都支持 V5 在归因粒度与准确度判断上优于旧版，文件重放也达到约百分之九十九点九六的写类调用覆盖。不能说的是开放 Benchmark 上的准确率提升，因为原文没有给出样本总量、置信区间，也没有完成外部数据适配。真正经过执行验证的根因还需要 checkpoint 恢复和重放，当前评估也仍依赖 LLM Judge 与有限人工抽查。下一步会补标准化评测集、checkpoint 重放和角色化并行假设。这个项目最值得面试官记住的结论是：V5 先把归因从一次生成，变成一条可检查的证据链。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如果进一步追问架构，我会沿这张原始图从输入到输出逐层展开。第一条线索是输入怎样转成 Step 化日志和 validation_summary；第二条是 write、replace、insert 和 read 快照怎样共同恢复文件并产生可信度；第三条是 query_evidence 如何访问 step、code 和 grep；第四条是假设经过 support、contradict 或 inconclusive 后怎样继续或收敛。图中节点和连接保持原样，这一页只是提供共同坐标系，不重新解释或重绘系统结构。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重放对每个路径维护一个随时间变化的文件状态。遇到 write 就覆盖完整内容；遇到 replace 时，如果内存中没有基线，就先寻找此前最近的 read 快照，再判断旧片段是否存在并只替换一次；insert 也只在基线可用时应用。任何无法应用的补丁都会被记录，而不是静默忽略，随后更新该路径的 reconstruction confidence。exact 和 stale_resolved 支持强证据，efbr_only_unknown_base 只能提示搜索，terminal_or_unavailable 更不能单独用于定因。这个设计让“恢复失败在哪里”也成为显式信息。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这五类约束都只读取执行轨迹中的确定性事实。build_before_end 检查结束前是否构建，validate_after_last_write 检查最后修改后是否重验，frontend_browser_smoke_before_end 检查前端运行时验证，build_error_not_fixed 检查构建失败是否修复重跑，最后一项检查连续失败后是否切换解法。每项统一输出 satisfied、violated 或 not_applicable，便于进入 validation_summary。violated 的含义只是指出一个可疑方向，仍需与日志、代码和评估证据共同验证，不能让规则替模型完成因果判断。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第二个 GUI case 用来检查这种提升是否只发生在单个案例。旧版主要复述页面空白、静态蛋糕和动画未实现；V5 继续追到需求误解：用户要的是食材在空中飞舞并重新组合，但实现被简化成静态图片和基础三维悬停。输出进一步关联 Step 二的需求处理与 Step 八的 ExplodingCake 组件实现，因此修复方向可以落到需求澄清和组件方案，而不是笼统地补动画。跨案例稳定的价值不是措辞更具体，而是结论能够回到执行步骤和代码实现被复核。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ttribution_agent_v5_inter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ttribution_agent_v5_inter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03504" y="422910"/>
            <a:ext cx="10984992" cy="234696"/>
            <a:chOff x="603504" y="42291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422910"/>
              <a:ext cx="33636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ATTRIBUTION AGENT · INTERVIEW DOSSIER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035132" y="4229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971550"/>
            <a:ext cx="656082" cy="4476750"/>
            <a:chOff x="552450" y="971550"/>
            <a:chExt cx="656082" cy="4476750"/>
          </a:xfrm>
        </p:grpSpPr>
        <p:sp>
          <p:nvSpPr>
            <p:cNvPr id="5" name="Rectangle 5"/>
            <p:cNvSpPr/>
            <p:nvPr/>
          </p:nvSpPr>
          <p:spPr>
            <a:xfrm>
              <a:off x="609600" y="971550"/>
              <a:ext cx="38100" cy="447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552450" y="1847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71500" y="3276600"/>
              <a:ext cx="114300" cy="114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71500" y="4686300"/>
              <a:ext cx="114300" cy="114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342" y="1835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342" y="3245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证据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4654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19250" y="1577498"/>
            <a:ext cx="3451860" cy="2114550"/>
            <a:chOff x="1676400" y="1558290"/>
            <a:chExt cx="3451860" cy="2114550"/>
          </a:xfrm>
        </p:grpSpPr>
        <p:sp>
          <p:nvSpPr>
            <p:cNvPr id="13" name="TextBox 13"/>
            <p:cNvSpPr txBox="1"/>
            <p:nvPr/>
          </p:nvSpPr>
          <p:spPr>
            <a:xfrm>
              <a:off x="1686306" y="1558290"/>
              <a:ext cx="117121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归因 Agent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6400" y="2005965"/>
              <a:ext cx="345186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从长日志到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76400" y="2739390"/>
              <a:ext cx="345186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可行动根因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3790950"/>
            <a:ext cx="3307080" cy="863917"/>
            <a:chOff x="1695450" y="3790950"/>
            <a:chExt cx="3307080" cy="863917"/>
          </a:xfrm>
        </p:grpSpPr>
        <p:sp>
          <p:nvSpPr>
            <p:cNvPr id="17" name="Rectangle 17"/>
            <p:cNvSpPr/>
            <p:nvPr/>
          </p:nvSpPr>
          <p:spPr>
            <a:xfrm>
              <a:off x="1695450" y="3790950"/>
              <a:ext cx="57150" cy="781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53006" y="391096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不是总结哪里失败，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50720" y="4214812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而是证明为什么失败。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95450" y="5067300"/>
            <a:ext cx="7010400" cy="533400"/>
            <a:chOff x="1695450" y="5067300"/>
            <a:chExt cx="7010400" cy="533400"/>
          </a:xfrm>
        </p:grpSpPr>
        <p:sp>
          <p:nvSpPr>
            <p:cNvPr id="21" name="Rectangle 21"/>
            <p:cNvSpPr/>
            <p:nvPr/>
          </p:nvSpPr>
          <p:spPr>
            <a:xfrm>
              <a:off x="1695450" y="5067300"/>
              <a:ext cx="2209800" cy="5334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911350" y="5233988"/>
              <a:ext cx="177801" cy="200025"/>
              <a:chOff x="1911350" y="5233988"/>
              <a:chExt cx="177801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911350" y="52339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911350" y="52673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911350" y="53340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259330" y="5248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结构化日志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95750" y="5067300"/>
              <a:ext cx="2209800" cy="5334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300538" y="5233988"/>
              <a:ext cx="200025" cy="200025"/>
              <a:chOff x="4300538" y="5233988"/>
              <a:chExt cx="200025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300538" y="53895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456113" y="5233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322763" y="5256213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5" y="155575"/>
                      <a:pt x="166688" y="138162"/>
                      <a:pt x="166688" y="116682"/>
                    </a:cubicBezTo>
                    <a:cubicBezTo>
                      <a:pt x="166688" y="95201"/>
                      <a:pt x="149275" y="77788"/>
                      <a:pt x="127794" y="77788"/>
                    </a:cubicBezTo>
                    <a:lnTo>
                      <a:pt x="38894" y="77788"/>
                    </a:ln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659630" y="524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证据路由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96050" y="5067300"/>
              <a:ext cx="2209800" cy="5334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85841" y="5233988"/>
              <a:ext cx="217008" cy="200025"/>
              <a:chOff x="6685841" y="5233988"/>
              <a:chExt cx="217008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85841" y="52339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34188" y="53895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059930" y="524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假设验证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3294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WHY IT MATTERS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981200" y="447675"/>
              <a:ext cx="9048750" cy="9525"/>
            </a:xfrm>
            <a:custGeom>
              <a:avLst/>
              <a:gdLst/>
              <a:ahLst/>
              <a:cxnLst/>
              <a:rect l="l" t="t" r="r" b="b"/>
              <a:pathLst>
                <a:path w="9048750" h="9525">
                  <a:moveTo>
                    <a:pt x="0" y="0"/>
                  </a:moveTo>
                  <a:lnTo>
                    <a:pt x="9048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917258"/>
            <a:ext cx="8545068" cy="823912"/>
            <a:chOff x="593598" y="917258"/>
            <a:chExt cx="8545068" cy="823912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917258"/>
              <a:ext cx="85450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归因是发现失败到改进系统之间缺失的一环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447800"/>
              <a:ext cx="467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评分告诉我们“失败了”，根因决定下一步该改哪里。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2171700"/>
            <a:ext cx="4724400" cy="838200"/>
            <a:chOff x="685800" y="2171700"/>
            <a:chExt cx="4724400" cy="838200"/>
          </a:xfrm>
        </p:grpSpPr>
        <p:sp>
          <p:nvSpPr>
            <p:cNvPr id="9" name="Rectangle 9"/>
            <p:cNvSpPr/>
            <p:nvPr/>
          </p:nvSpPr>
          <p:spPr>
            <a:xfrm>
              <a:off x="685800" y="2171700"/>
              <a:ext cx="1428750" cy="83820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2401" y="2340292"/>
              <a:ext cx="955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Benchmark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746" y="2577465"/>
              <a:ext cx="1154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低分 Case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114550" y="2590800"/>
              <a:ext cx="7620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971800" y="2171700"/>
              <a:ext cx="1676400" cy="838200"/>
            </a:xfrm>
            <a:prstGeom prst="roundRect">
              <a:avLst>
                <a:gd name="adj" fmla="val 4545"/>
              </a:avLst>
            </a:prstGeom>
            <a:solidFill>
              <a:srgbClr val="FFF3EE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162300" y="2419350"/>
              <a:ext cx="228599" cy="228599"/>
              <a:chOff x="3162300" y="2419350"/>
              <a:chExt cx="228599" cy="22859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263900" y="25209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213100" y="24701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162300" y="24193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551682" y="24593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48200" y="2590800"/>
              <a:ext cx="7620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562600" y="2133600"/>
            <a:ext cx="5429250" cy="1219200"/>
            <a:chOff x="5562600" y="2133600"/>
            <a:chExt cx="5429250" cy="1219200"/>
          </a:xfrm>
        </p:grpSpPr>
        <p:sp>
          <p:nvSpPr>
            <p:cNvPr id="21" name="Rectangle 21"/>
            <p:cNvSpPr/>
            <p:nvPr/>
          </p:nvSpPr>
          <p:spPr>
            <a:xfrm>
              <a:off x="5562600" y="2133600"/>
              <a:ext cx="54292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41492" y="23117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迭代优化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38444" y="2570798"/>
              <a:ext cx="24368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算法优化 / 架构优化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40730" y="29432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定位链路中最早、可修复、能改变后续轨迹的问题。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3771900"/>
            <a:ext cx="4724400" cy="838200"/>
            <a:chOff x="685800" y="3771900"/>
            <a:chExt cx="4724400" cy="838200"/>
          </a:xfrm>
        </p:grpSpPr>
        <p:sp>
          <p:nvSpPr>
            <p:cNvPr id="26" name="Rectangle 26"/>
            <p:cNvSpPr/>
            <p:nvPr/>
          </p:nvSpPr>
          <p:spPr>
            <a:xfrm>
              <a:off x="685800" y="3771900"/>
              <a:ext cx="1428750" cy="838200"/>
            </a:xfrm>
            <a:prstGeom prst="roundRect">
              <a:avLst>
                <a:gd name="adj" fmla="val 454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9843" y="39404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失败轨迹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18" y="4177665"/>
              <a:ext cx="909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难 Case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114550" y="4191000"/>
              <a:ext cx="7620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971800" y="3771900"/>
              <a:ext cx="1676400" cy="838200"/>
            </a:xfrm>
            <a:prstGeom prst="roundRect">
              <a:avLst>
                <a:gd name="adj" fmla="val 4545"/>
              </a:avLst>
            </a:prstGeom>
            <a:solidFill>
              <a:srgbClr val="EAF5F4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3162300" y="4019550"/>
              <a:ext cx="228599" cy="228599"/>
              <a:chOff x="3162300" y="4019550"/>
              <a:chExt cx="228599" cy="22859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263900" y="41211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213100" y="40703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162300" y="40195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3551682" y="4059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4648200" y="4191000"/>
              <a:ext cx="7620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562600" y="3733800"/>
            <a:ext cx="5429250" cy="1219200"/>
            <a:chOff x="5562600" y="3733800"/>
            <a:chExt cx="5429250" cy="1219200"/>
          </a:xfrm>
        </p:grpSpPr>
        <p:sp>
          <p:nvSpPr>
            <p:cNvPr id="38" name="Rectangle 38"/>
            <p:cNvSpPr/>
            <p:nvPr/>
          </p:nvSpPr>
          <p:spPr>
            <a:xfrm>
              <a:off x="5562600" y="3733800"/>
              <a:ext cx="5429250" cy="1219200"/>
            </a:xfrm>
            <a:prstGeom prst="roundRect">
              <a:avLst>
                <a:gd name="adj" fmla="val 31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41492" y="3911918"/>
              <a:ext cx="1396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Reflection 输入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38444" y="4170998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给下一轮尝试有效经验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40730" y="45434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避免难 case 沿原路径重复失败。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8942" y="5391150"/>
            <a:ext cx="10312908" cy="721995"/>
            <a:chOff x="678942" y="5391150"/>
            <a:chExt cx="10312908" cy="721995"/>
          </a:xfrm>
        </p:grpSpPr>
        <p:sp>
          <p:nvSpPr>
            <p:cNvPr id="43" name="Line 43"/>
            <p:cNvSpPr/>
            <p:nvPr/>
          </p:nvSpPr>
          <p:spPr>
            <a:xfrm>
              <a:off x="685800" y="5391150"/>
              <a:ext cx="10306050" cy="9525"/>
            </a:xfrm>
            <a:custGeom>
              <a:avLst/>
              <a:gdLst/>
              <a:ahLst/>
              <a:cxnLst/>
              <a:rect l="l" t="t" r="r" b="b"/>
              <a:pathLst>
                <a:path w="10306050" h="9525">
                  <a:moveTo>
                    <a:pt x="0" y="0"/>
                  </a:moveTo>
                  <a:lnTo>
                    <a:pt x="103060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942" y="55597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延伸方向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02130" y="5543550"/>
              <a:ext cx="49372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线上真实 case 与 Harness 自进化可以复用归因能力；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02130" y="5819775"/>
              <a:ext cx="3619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当前尚未实现轨迹级 checkpoint 重试。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141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OLD BASELINE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847850" y="447675"/>
              <a:ext cx="9182100" cy="9525"/>
            </a:xfrm>
            <a:custGeom>
              <a:avLst/>
              <a:gdLst/>
              <a:ahLst/>
              <a:cxnLst/>
              <a:rect l="l" t="t" r="r" b="b"/>
              <a:pathLst>
                <a:path w="9182100" h="9525">
                  <a:moveTo>
                    <a:pt x="0" y="0"/>
                  </a:moveTo>
                  <a:lnTo>
                    <a:pt x="9182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60108"/>
            <a:ext cx="6232289" cy="795337"/>
            <a:chOff x="593598" y="860108"/>
            <a:chExt cx="6232289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60108"/>
              <a:ext cx="121668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旧基线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62075"/>
              <a:ext cx="6223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 Agent 负责分发，真正归因仍是每个 case 的单 Agent 工具调用。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1866900"/>
            <a:ext cx="10972800" cy="781050"/>
            <a:chOff x="609600" y="1866900"/>
            <a:chExt cx="10972800" cy="781050"/>
          </a:xfrm>
        </p:grpSpPr>
        <p:sp>
          <p:nvSpPr>
            <p:cNvPr id="9" name="Rectangle 9"/>
            <p:cNvSpPr/>
            <p:nvPr/>
          </p:nvSpPr>
          <p:spPr>
            <a:xfrm>
              <a:off x="609600" y="1866900"/>
              <a:ext cx="161925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7648" y="2015014"/>
              <a:ext cx="823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SCAN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4474" y="22698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扫描结果目录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22885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47950" y="1866900"/>
              <a:ext cx="161925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68620" y="2015014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FILTER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15632" y="2269808"/>
              <a:ext cx="1283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筛低分 Case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26720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86300" y="1866900"/>
              <a:ext cx="161925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06833" y="2015014"/>
              <a:ext cx="1178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DISPATCH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70953" y="2269808"/>
              <a:ext cx="1649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分发 Sub Agent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30555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24650" y="1866900"/>
              <a:ext cx="1619250" cy="781050"/>
            </a:xfrm>
            <a:prstGeom prst="roundRect">
              <a:avLst>
                <a:gd name="adj" fmla="val 4878"/>
              </a:avLst>
            </a:prstGeom>
            <a:solidFill>
              <a:srgbClr val="FFF3EE"/>
            </a:solidFill>
            <a:ln w="9525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4286" y="2015014"/>
              <a:ext cx="1159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CONTEXT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59524" y="22698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拼接粗上下文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4390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763000" y="1866900"/>
              <a:ext cx="133350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81760" y="2015014"/>
              <a:ext cx="8959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TOOL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21681" y="22698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review_code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10096500" y="2257425"/>
              <a:ext cx="3429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515600" y="1866900"/>
              <a:ext cx="1066800" cy="781050"/>
            </a:xfrm>
            <a:prstGeom prst="roundRect">
              <a:avLst>
                <a:gd name="adj" fmla="val 48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47751" y="20150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44901" y="2269808"/>
              <a:ext cx="6081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JSON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3276600"/>
            <a:ext cx="6477000" cy="2381250"/>
            <a:chOff x="609600" y="3276600"/>
            <a:chExt cx="64770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609600" y="3276600"/>
              <a:ext cx="6477000" cy="2381250"/>
            </a:xfrm>
            <a:prstGeom prst="roundRect">
              <a:avLst>
                <a:gd name="adj" fmla="val 16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0392" y="3473768"/>
              <a:ext cx="2145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注入 Sub Agent 的上下文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7250" y="375285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9630" y="3924300"/>
              <a:ext cx="1782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user_requirement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99780" y="39404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用户需求与后续追问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630" y="4257675"/>
              <a:ext cx="1467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code_file_map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99780" y="4273868"/>
              <a:ext cx="341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只抽取 Editor.write；同路径取最后一次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9630" y="4591050"/>
              <a:ext cx="2801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reply_to_human / evaluation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99780" y="46072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最终回复、评分与人工评语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9630" y="4924425"/>
              <a:ext cx="2660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terminal_return_messages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99780" y="4940618"/>
              <a:ext cx="21218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install / add / build 回显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9630" y="5257800"/>
              <a:ext cx="1679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tail_n_lines = 75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99780" y="52739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只在兜底时看日志末尾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391400" y="3276600"/>
            <a:ext cx="4191000" cy="2381250"/>
            <a:chOff x="7391400" y="3276600"/>
            <a:chExt cx="4191000" cy="2381250"/>
          </a:xfrm>
        </p:grpSpPr>
        <p:sp>
          <p:nvSpPr>
            <p:cNvPr id="47" name="Rectangle 47"/>
            <p:cNvSpPr/>
            <p:nvPr/>
          </p:nvSpPr>
          <p:spPr>
            <a:xfrm>
              <a:off x="7391400" y="3276600"/>
              <a:ext cx="4191000" cy="2381250"/>
            </a:xfrm>
            <a:prstGeom prst="roundRect">
              <a:avLst>
                <a:gd name="adj" fmla="val 16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70292" y="3492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真正创新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68006" y="3787140"/>
              <a:ext cx="32913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虚拟文件系统 + review_code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69911" y="4189571"/>
              <a:ext cx="3224530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线上 workspace 难访问时，允许 Agent</a:t>
              </a:r>
              <a:br>
                <a:rPr dirty="0"/>
              </a:br>
              <a:r>
                <a:rPr lang="zh-CN" sz="142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从内存字典按需读取代码。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677150" y="48768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53606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70292" y="5045392"/>
              <a:ext cx="2681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但主 Agent 只做分发与结果写入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70292" y="5331142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没有参与跨 case 协作推理。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5867400"/>
            <a:ext cx="10972800" cy="419100"/>
            <a:chOff x="609600" y="5867400"/>
            <a:chExt cx="10972800" cy="419100"/>
          </a:xfrm>
        </p:grpSpPr>
        <p:sp>
          <p:nvSpPr>
            <p:cNvPr id="55" name="Rectangle 55"/>
            <p:cNvSpPr/>
            <p:nvPr/>
          </p:nvSpPr>
          <p:spPr>
            <a:xfrm>
              <a:off x="609600" y="5867400"/>
              <a:ext cx="10972800" cy="419100"/>
            </a:xfrm>
            <a:prstGeom prst="rect">
              <a:avLst/>
            </a:prstGeom>
            <a:solidFill>
              <a:srgbClr val="FFF3E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0580" y="59817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判断：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516380" y="5981700"/>
              <a:ext cx="62952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旧方案“有工具”，但提供给工具的证据不完整，检索入口也依赖猜测。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293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ROOT PROBLEM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1924050" y="447675"/>
              <a:ext cx="9105900" cy="9525"/>
            </a:xfrm>
            <a:custGeom>
              <a:avLst/>
              <a:gdLst/>
              <a:ahLst/>
              <a:cxnLst/>
              <a:rect l="l" t="t" r="r" b="b"/>
              <a:pathLst>
                <a:path w="9105900" h="9525">
                  <a:moveTo>
                    <a:pt x="0" y="0"/>
                  </a:moveTo>
                  <a:lnTo>
                    <a:pt x="9105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8545068" cy="795337"/>
            <a:chOff x="593598" y="841058"/>
            <a:chExt cx="8545068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85450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最大问题不是模型不够强，而是证据不完整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5885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在不可靠的证据环境上调 Prompt，只会更流畅地解释错误信息。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828800"/>
            <a:ext cx="4970678" cy="3577970"/>
            <a:chOff x="609600" y="1828800"/>
            <a:chExt cx="4970678" cy="3577970"/>
          </a:xfrm>
        </p:grpSpPr>
        <p:sp>
          <p:nvSpPr>
            <p:cNvPr id="9" name="Rectangle 9"/>
            <p:cNvSpPr/>
            <p:nvPr/>
          </p:nvSpPr>
          <p:spPr>
            <a:xfrm>
              <a:off x="609600" y="1828800"/>
              <a:ext cx="4914900" cy="723900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104" y="1985010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证据丢失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2228850"/>
              <a:ext cx="42759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只取最后一次 write，漏掉 replace / insert。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2705100"/>
              <a:ext cx="4914900" cy="723900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104" y="2861310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时序偏差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3105150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tail 75 行偏向后期现象，忽略早期根因。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3581400"/>
              <a:ext cx="4914900" cy="723900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2104" y="3737610"/>
              <a:ext cx="1201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注意力稀释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0580" y="3981450"/>
              <a:ext cx="4749698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500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Review_code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只能猜文件名，没有利用每步 think 路由。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4457699"/>
              <a:ext cx="4914900" cy="949071"/>
            </a:xfrm>
            <a:prstGeom prst="roundRect">
              <a:avLst>
                <a:gd name="adj" fmla="val 526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2104" y="4613910"/>
              <a:ext cx="1558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· 工程冗余 / 污染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4839843"/>
              <a:ext cx="296265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再写 JSON；错误 domain prompt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进入上下文。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905500" y="1790700"/>
            <a:ext cx="5676900" cy="3714750"/>
            <a:chOff x="5905500" y="1790700"/>
            <a:chExt cx="5676900" cy="3714750"/>
          </a:xfrm>
        </p:grpSpPr>
        <p:sp>
          <p:nvSpPr>
            <p:cNvPr id="22" name="Rectangle 22"/>
            <p:cNvSpPr/>
            <p:nvPr/>
          </p:nvSpPr>
          <p:spPr>
            <a:xfrm>
              <a:off x="5905500" y="1790700"/>
              <a:ext cx="5676900" cy="3714750"/>
            </a:xfrm>
            <a:prstGeom prst="roundRect">
              <a:avLst>
                <a:gd name="adj" fmla="val 102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65342" y="1949768"/>
              <a:ext cx="1759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Editor 工具调用次数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63428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原始统计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175096" y="2381250"/>
              <a:ext cx="5251658" cy="2822734"/>
              <a:chOff x="6175096" y="2381250"/>
              <a:chExt cx="5251658" cy="2822734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6915150" y="2381250"/>
                <a:ext cx="9525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0">
                    <a:moveTo>
                      <a:pt x="0" y="0"/>
                    </a:moveTo>
                    <a:lnTo>
                      <a:pt x="0" y="2476500"/>
                    </a:lnTo>
                  </a:path>
                </a:pathLst>
              </a:custGeom>
              <a:noFill/>
              <a:ln w="9525">
                <a:solidFill>
                  <a:srgbClr val="87919A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6915150" y="485775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9525">
                <a:solidFill>
                  <a:srgbClr val="87919A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9105900" y="2381250"/>
                <a:ext cx="9525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0">
                    <a:moveTo>
                      <a:pt x="0" y="0"/>
                    </a:moveTo>
                    <a:lnTo>
                      <a:pt x="0" y="24765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11296650" y="2381250"/>
                <a:ext cx="9525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0">
                    <a:moveTo>
                      <a:pt x="0" y="0"/>
                    </a:moveTo>
                    <a:lnTo>
                      <a:pt x="0" y="24765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  <a:prstDash val="dash"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867972" y="4983956"/>
                <a:ext cx="943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975796" y="49839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35k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166546" y="4983956"/>
                <a:ext cx="2602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70k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01257" y="2546985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read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915150" y="2505075"/>
                <a:ext cx="4317873" cy="228600"/>
              </a:xfrm>
              <a:prstGeom prst="rect">
                <a:avLst/>
              </a:prstGeom>
              <a:solidFill>
                <a:srgbClr val="AAB2B9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597454" y="2546985"/>
                <a:ext cx="5719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68,984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320485" y="3004185"/>
                <a:ext cx="4483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write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915150" y="2962275"/>
                <a:ext cx="3951732" cy="228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235504" y="3004185"/>
                <a:ext cx="5719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63,134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175096" y="3461385"/>
                <a:ext cx="5937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replace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6915150" y="3419475"/>
                <a:ext cx="1548575" cy="228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547354" y="3461385"/>
                <a:ext cx="57194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24,740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263945" y="3918585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insert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915150" y="3876675"/>
                <a:ext cx="2381" cy="228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6905625" y="3962400"/>
                <a:ext cx="57150" cy="571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061454" y="3918585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38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23559" y="4375785"/>
                <a:ext cx="54528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append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061454" y="437578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6165723" y="5215414"/>
              <a:ext cx="21414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replace 约占写类操作 28%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04885" y="523160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仅看 write 是结构性遗漏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5676900"/>
            <a:ext cx="10972800" cy="628650"/>
            <a:chOff x="609600" y="5676900"/>
            <a:chExt cx="10972800" cy="628650"/>
          </a:xfrm>
        </p:grpSpPr>
        <p:sp>
          <p:nvSpPr>
            <p:cNvPr id="51" name="Rectangle 51"/>
            <p:cNvSpPr/>
            <p:nvPr/>
          </p:nvSpPr>
          <p:spPr>
            <a:xfrm>
              <a:off x="609600" y="5676900"/>
              <a:ext cx="10972800" cy="628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8106" y="5873115"/>
              <a:ext cx="3693319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b="1" dirty="0">
                  <a:solidFill>
                    <a:srgbClr val="FFFFFF"/>
                  </a:solidFill>
                </a:rPr>
                <a:t>所以，上下文上面有很大的优化空间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741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RESEARCH → DECISION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533650" y="447675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5697855" cy="795337"/>
            <a:chOff x="593598" y="841058"/>
            <a:chExt cx="5697855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405559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从调研中获取相关思想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5689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每条研究发现都要回答一个已观察问题，并标清“做到哪一步”。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" y="1809750"/>
            <a:ext cx="10972800" cy="3943350"/>
            <a:chOff x="609600" y="1809750"/>
            <a:chExt cx="10972800" cy="3943350"/>
          </a:xfrm>
        </p:grpSpPr>
        <p:sp>
          <p:nvSpPr>
            <p:cNvPr id="9" name="Rectangle 9"/>
            <p:cNvSpPr/>
            <p:nvPr/>
          </p:nvSpPr>
          <p:spPr>
            <a:xfrm>
              <a:off x="609600" y="1809750"/>
              <a:ext cx="10972800" cy="3943350"/>
            </a:xfrm>
            <a:prstGeom prst="roundRect">
              <a:avLst>
                <a:gd name="adj" fmla="val 96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809750"/>
              <a:ext cx="10972800" cy="438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1723" y="195786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研究来源 / 发现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08173" y="1957864"/>
              <a:ext cx="1144544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我们能学到什么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23323" y="1957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实现边界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686050" y="180975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601200" y="180975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" y="2838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" y="34194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4000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" y="4581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" y="5162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2247900"/>
              <a:ext cx="10972800" cy="5905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723" y="2338864"/>
              <a:ext cx="1148029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All-at-once /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Binary Search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08173" y="2338864"/>
              <a:ext cx="4269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一次性 chat 归因有限 → 工具化取证与 iterator 式循环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08554" y="2566035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按需查询，不把全量日志一次灌入模型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3323" y="24341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342" y="3045142"/>
              <a:ext cx="766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AgentRX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08173" y="2929414"/>
              <a:ext cx="3424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先验、工具 schema、验证日志可引导注意力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08554" y="3156585"/>
              <a:ext cx="3356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约束引擎 + validation_summary + 证据入口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23323" y="29294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24085" y="31646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规则仍需业务化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3419475"/>
              <a:ext cx="10972800" cy="5810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1342" y="3635692"/>
              <a:ext cx="54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Dover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08173" y="35104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单次猜测不足，多假设需要验证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08554" y="3737610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串行 propose / query / judge / conclude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23323" y="3510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部分实现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24085" y="374570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未做 checkpoint 重放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1342" y="4216718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AgentDebug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08173" y="40914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按模块预定义错误与异常分类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08554" y="4318635"/>
              <a:ext cx="257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确定性约束给方向，不直接给根因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23323" y="42248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4581525"/>
              <a:ext cx="10972800" cy="58102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1342" y="4797742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logdx_ci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08173" y="46724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压缩与工具检索配合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08554" y="4899660"/>
              <a:ext cx="3182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Step 摘要进主上下文，完整日志按需查询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23323" y="46724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已实现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24085" y="49077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不虚构压缩率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1723" y="5272564"/>
              <a:ext cx="1190701" cy="458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AgentTracer /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StepFinder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908173" y="52725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强化学习、步骤奖励与时序模型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908554" y="5499735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保留为可验证的后续研究路线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23323" y="53773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未来方向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27660"/>
            <a:ext cx="10984992" cy="234696"/>
            <a:chOff x="603504" y="3276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27660"/>
              <a:ext cx="1275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V5 SYSTEM MAP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038350" y="409575"/>
              <a:ext cx="8991600" cy="9525"/>
            </a:xfrm>
            <a:custGeom>
              <a:avLst/>
              <a:gdLst/>
              <a:ahLst/>
              <a:cxnLst/>
              <a:rect l="l" t="t" r="r" b="b"/>
              <a:pathLst>
                <a:path w="8991600" h="9525">
                  <a:moveTo>
                    <a:pt x="0" y="0"/>
                  </a:moveTo>
                  <a:lnTo>
                    <a:pt x="8991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276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3598" y="726758"/>
            <a:ext cx="5272277" cy="484748"/>
            <a:chOff x="593598" y="726758"/>
            <a:chExt cx="5272277" cy="484748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726758"/>
              <a:ext cx="5272277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总体架构：证据工程先于推理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3504" y="1584960"/>
            <a:ext cx="1934994" cy="4418307"/>
            <a:chOff x="603504" y="1584960"/>
            <a:chExt cx="1934994" cy="4418307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584960"/>
              <a:ext cx="1732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FOUR-LAYER READING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23900" y="20193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47700" y="21336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6404" y="2023110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数据层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254568"/>
              <a:ext cx="1592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 / Trace / GUI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47700" y="3028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6404" y="2918460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证据层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5642" y="3149918"/>
              <a:ext cx="1580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/ 文件 / 约束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47700" y="3924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6404" y="3813810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推理层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404526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提出 / 查询 / 判断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47700" y="48196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6404" y="4709160"/>
              <a:ext cx="734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输出层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4940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 / 完整轨迹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3504" y="5585460"/>
              <a:ext cx="1846659" cy="4178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alt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先假设，再取证，再判断，</a:t>
              </a:r>
              <a:endParaRPr lang="en-US" alt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ts val="1650"/>
                </a:lnSpc>
              </a:pPr>
              <a:r>
                <a:rPr lang="zh-CN" altLang="en-US" sz="1200" dirty="0">
                  <a:solidFill>
                    <a:schemeClr val="accent5"/>
                  </a:solidFill>
                </a:rPr>
                <a:t>最后归因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219450" y="1371600"/>
            <a:ext cx="5962650" cy="4857750"/>
            <a:chOff x="3219450" y="1371600"/>
            <a:chExt cx="5962650" cy="4857750"/>
          </a:xfrm>
        </p:grpSpPr>
        <p:sp>
          <p:nvSpPr>
            <p:cNvPr id="24" name="Rectangle 24"/>
            <p:cNvSpPr/>
            <p:nvPr/>
          </p:nvSpPr>
          <p:spPr>
            <a:xfrm>
              <a:off x="3219450" y="1371600"/>
              <a:ext cx="5962650" cy="4857750"/>
            </a:xfrm>
            <a:prstGeom prst="roundRect">
              <a:avLst>
                <a:gd name="adj" fmla="val 78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76600" y="1409700"/>
              <a:ext cx="5848350" cy="4762500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9480804" y="1680210"/>
            <a:ext cx="2101596" cy="3454146"/>
            <a:chOff x="9480804" y="1680210"/>
            <a:chExt cx="2101596" cy="3454146"/>
          </a:xfrm>
        </p:grpSpPr>
        <p:sp>
          <p:nvSpPr>
            <p:cNvPr id="27" name="TextBox 27"/>
            <p:cNvSpPr txBox="1"/>
            <p:nvPr/>
          </p:nvSpPr>
          <p:spPr>
            <a:xfrm>
              <a:off x="9480804" y="1680210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LOOP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486900" y="2038350"/>
              <a:ext cx="2095500" cy="514350"/>
            </a:xfrm>
            <a:prstGeom prst="roundRect">
              <a:avLst>
                <a:gd name="adj" fmla="val 7407"/>
              </a:avLst>
            </a:prstGeom>
            <a:solidFill>
              <a:srgbClr val="FFF3EE"/>
            </a:solidFill>
            <a:ln w="9525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607067" y="2216468"/>
              <a:ext cx="1855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propose_hypothesis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0534650" y="25527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87919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86900" y="2762250"/>
              <a:ext cx="2095500" cy="51435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16973" y="2940368"/>
              <a:ext cx="1435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query_evidence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10534650" y="3276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87919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486900" y="3486150"/>
              <a:ext cx="2095500" cy="514350"/>
            </a:xfrm>
            <a:prstGeom prst="roundRect">
              <a:avLst>
                <a:gd name="adj" fmla="val 740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35873" y="3664268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judge_hypothesis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10534650" y="40005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87919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486900" y="4210050"/>
              <a:ext cx="2095500" cy="514350"/>
            </a:xfrm>
            <a:prstGeom prst="roundRect">
              <a:avLst>
                <a:gd name="adj" fmla="val 7407"/>
              </a:avLst>
            </a:prstGeom>
            <a:solidFill>
              <a:srgbClr val="EAF5F4"/>
            </a:solidFill>
            <a:ln w="9525">
              <a:solidFill>
                <a:schemeClr val="accent3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31833" y="4388168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conclude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80804" y="48996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紧凑结论 + 可审阅轨迹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5624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METHOD 01 · LOGS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190750" y="447675"/>
              <a:ext cx="8839200" cy="9525"/>
            </a:xfrm>
            <a:custGeom>
              <a:avLst/>
              <a:gdLst/>
              <a:ahLst/>
              <a:cxnLst/>
              <a:rect l="l" t="t" r="r" b="b"/>
              <a:pathLst>
                <a:path w="8839200" h="9525">
                  <a:moveTo>
                    <a:pt x="0" y="0"/>
                  </a:moveTo>
                  <a:lnTo>
                    <a:pt x="8839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93598" y="841058"/>
            <a:ext cx="720090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日志预处理：保留意图，折叠长参数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1847850"/>
            <a:ext cx="10972800" cy="723900"/>
            <a:chOff x="609600" y="1847850"/>
            <a:chExt cx="10972800" cy="723900"/>
          </a:xfrm>
        </p:grpSpPr>
        <p:sp>
          <p:nvSpPr>
            <p:cNvPr id="9" name="Rectangle 9"/>
            <p:cNvSpPr/>
            <p:nvPr/>
          </p:nvSpPr>
          <p:spPr>
            <a:xfrm>
              <a:off x="609600" y="1847850"/>
              <a:ext cx="10972800" cy="723900"/>
            </a:xfrm>
            <a:prstGeom prst="roundRect">
              <a:avLst>
                <a:gd name="adj" fmla="val 526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104" y="2023110"/>
              <a:ext cx="801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STEP 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1670" y="2024062"/>
              <a:ext cx="8179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think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800350" y="2171700"/>
              <a:ext cx="78105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79520" y="2024062"/>
              <a:ext cx="21696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 / tool call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42595" y="2121218"/>
              <a:ext cx="2160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一次循环 = 一个编号 Step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3504" y="2918460"/>
            <a:ext cx="4482846" cy="2663190"/>
            <a:chOff x="603504" y="2918460"/>
            <a:chExt cx="4482846" cy="2663190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2918460"/>
              <a:ext cx="23600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TWO COMPLEMENTARY VIEWS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3257550"/>
              <a:ext cx="4476750" cy="1066800"/>
            </a:xfrm>
            <a:prstGeom prst="roundRect">
              <a:avLst>
                <a:gd name="adj" fmla="val 3571"/>
              </a:avLst>
            </a:prstGeom>
            <a:solidFill>
              <a:srgbClr val="EAF5F4"/>
            </a:solidFill>
            <a:ln w="9525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1342" y="3416618"/>
              <a:ext cx="150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压缩版 · 主上下文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0580" y="3705225"/>
              <a:ext cx="276838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 think、工具名、路径、状态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3997642"/>
              <a:ext cx="3233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折叠 Editor.read/write 的长文本参数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4514850"/>
              <a:ext cx="4476750" cy="1066800"/>
            </a:xfrm>
            <a:prstGeom prst="roundRect">
              <a:avLst>
                <a:gd name="adj" fmla="val 357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342" y="4673918"/>
              <a:ext cx="214481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完整版 · </a:t>
              </a:r>
              <a:r>
                <a:rPr lang="en-US" altLang="zh-CN" sz="1350" b="1" dirty="0">
                  <a:solidFill>
                    <a:schemeClr val="accent1"/>
                  </a:solidFill>
                </a:rPr>
                <a:t>Offload</a:t>
              </a:r>
              <a:r>
                <a:rPr lang="zh-CN" altLang="en-US" sz="1350" b="1" dirty="0">
                  <a:solidFill>
                    <a:schemeClr val="accent1"/>
                  </a:solidFill>
                </a:rPr>
                <a:t>后按需获取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0580" y="4962525"/>
              <a:ext cx="2636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完整内容仍按 Step 编号保留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342" y="5254942"/>
              <a:ext cx="3684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 query_evidence(type="step") 精确回查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429250" y="2838450"/>
            <a:ext cx="6153150" cy="2857500"/>
            <a:chOff x="5429250" y="2838450"/>
            <a:chExt cx="6153150" cy="2857500"/>
          </a:xfrm>
        </p:grpSpPr>
        <p:sp>
          <p:nvSpPr>
            <p:cNvPr id="26" name="Rectangle 26"/>
            <p:cNvSpPr/>
            <p:nvPr/>
          </p:nvSpPr>
          <p:spPr>
            <a:xfrm>
              <a:off x="5429250" y="2838450"/>
              <a:ext cx="6153150" cy="2857500"/>
            </a:xfrm>
            <a:prstGeom prst="roundRect">
              <a:avLst>
                <a:gd name="adj" fmla="val 1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0" y="2838450"/>
              <a:ext cx="6153150" cy="400050"/>
            </a:xfrm>
            <a:prstGeom prst="rect">
              <a:avLst/>
            </a:prstGeom>
            <a:solidFill>
              <a:srgbClr val="EDEFF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610225" y="29908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781675" y="29908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953125" y="2990850"/>
              <a:ext cx="95250" cy="95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30141" y="2964656"/>
              <a:ext cx="1891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STRUCTURED LOG EXCERPT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50992" y="3378518"/>
              <a:ext cx="2742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 01 · 02:39:35—02:41:23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50992" y="3654742"/>
              <a:ext cx="238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Think: 需要先分析项目需求…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50992" y="3921442"/>
              <a:ext cx="3919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FrontendEngineer.draft_plan → 成功 · 91.2s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657850" y="4248150"/>
              <a:ext cx="5695950" cy="9525"/>
            </a:xfrm>
            <a:custGeom>
              <a:avLst/>
              <a:gdLst/>
              <a:ahLst/>
              <a:cxnLst/>
              <a:rect l="l" t="t" r="r" b="b"/>
              <a:pathLst>
                <a:path w="5695950" h="9525">
                  <a:moveTo>
                    <a:pt x="0" y="0"/>
                  </a:moveTo>
                  <a:lnTo>
                    <a:pt x="5695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50992" y="4388168"/>
              <a:ext cx="2742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 19 · 02:46:20—02:49:08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50992" y="4664392"/>
              <a:ext cx="3724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Think: Let me build all the frontend files…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50992" y="4931092"/>
              <a:ext cx="348557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Editor.write(StockCard.tsx) → 成功</a:t>
              </a:r>
              <a:br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Terminal.run(pnpm run lint) → 成功 · 6.0s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12966" y="5433060"/>
              <a:ext cx="2508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21 · NO_COMMAND → 失败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5867400"/>
            <a:ext cx="10972800" cy="438150"/>
            <a:chOff x="609600" y="5867400"/>
            <a:chExt cx="10972800" cy="438150"/>
          </a:xfrm>
        </p:grpSpPr>
        <p:sp>
          <p:nvSpPr>
            <p:cNvPr id="41" name="Rectangle 41"/>
            <p:cNvSpPr/>
            <p:nvPr/>
          </p:nvSpPr>
          <p:spPr>
            <a:xfrm>
              <a:off x="609600" y="5867400"/>
              <a:ext cx="10972800" cy="438150"/>
            </a:xfrm>
            <a:prstGeom prst="rect">
              <a:avLst/>
            </a:prstGeom>
            <a:solidFill>
              <a:srgbClr val="FFF3E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0580" y="59912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6380" y="5991225"/>
              <a:ext cx="6719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压缩不是删掉证据，而是把证据从“默认占用注意力”改为“可按索引回查”。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2127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METHOD 02 · FILE REPLAY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800350" y="447675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8739572" cy="795337"/>
            <a:chOff x="593598" y="841058"/>
            <a:chExt cx="8739572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8739572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150" b="1" dirty="0" err="1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Mock_file_system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:</a:t>
              </a:r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更完善的重建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Workspace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事件按日志顺序重放；可信度决定一段代码能支撑多强的归因结论。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504" y="1880235"/>
            <a:ext cx="10978896" cy="1006221"/>
            <a:chOff x="603504" y="1880235"/>
            <a:chExt cx="10978896" cy="1006221"/>
          </a:xfrm>
        </p:grpSpPr>
        <p:sp>
          <p:nvSpPr>
            <p:cNvPr id="9" name="TextBox 9"/>
            <p:cNvSpPr txBox="1"/>
            <p:nvPr/>
          </p:nvSpPr>
          <p:spPr>
            <a:xfrm>
              <a:off x="603504" y="1880235"/>
              <a:ext cx="21807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FILE EVENTS IN LOG ORDER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476500"/>
              <a:ext cx="859155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11" name="Ellipse 11"/>
            <p:cNvSpPr/>
            <p:nvPr/>
          </p:nvSpPr>
          <p:spPr>
            <a:xfrm>
              <a:off x="1504950" y="2362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73101" y="2410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4780" y="2121218"/>
              <a:ext cx="528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write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8522" y="2651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建立完整基线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362450" y="23622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30601" y="2410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25679" y="2121218"/>
              <a:ext cx="1502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replace / insert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24478" y="26517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依序应用增量修改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219950" y="23622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88101" y="2410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1896" y="2121218"/>
              <a:ext cx="1864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prior read snapshot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57746" y="265176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 write 时补基线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886950" y="2076450"/>
              <a:ext cx="1695450" cy="8001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78386" y="21736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≈ 99.96%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25862" y="2545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写类命令重放覆盖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" y="3219450"/>
            <a:ext cx="10972800" cy="2552700"/>
            <a:chOff x="609600" y="3219450"/>
            <a:chExt cx="10972800" cy="2552700"/>
          </a:xfrm>
        </p:grpSpPr>
        <p:sp>
          <p:nvSpPr>
            <p:cNvPr id="27" name="Rectangle 27"/>
            <p:cNvSpPr/>
            <p:nvPr/>
          </p:nvSpPr>
          <p:spPr>
            <a:xfrm>
              <a:off x="609600" y="3219450"/>
              <a:ext cx="10972800" cy="2552700"/>
            </a:xfrm>
            <a:prstGeom prst="roundRect">
              <a:avLst>
                <a:gd name="adj" fmla="val 149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219450"/>
              <a:ext cx="109728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104" y="3347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可信等级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46654" y="3347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形成条件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37854" y="3347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可支持的证据强度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2686050" y="3219450"/>
              <a:ext cx="9525" cy="2552700"/>
            </a:xfrm>
            <a:custGeom>
              <a:avLst/>
              <a:gdLst/>
              <a:ahLst/>
              <a:cxnLst/>
              <a:rect l="l" t="t" r="r" b="b"/>
              <a:pathLst>
                <a:path w="9525" h="2552700">
                  <a:moveTo>
                    <a:pt x="0" y="0"/>
                  </a:moveTo>
                  <a:lnTo>
                    <a:pt x="0" y="2552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477250" y="3219450"/>
              <a:ext cx="9525" cy="2552700"/>
            </a:xfrm>
            <a:custGeom>
              <a:avLst/>
              <a:gdLst/>
              <a:ahLst/>
              <a:cxnLst/>
              <a:rect l="l" t="t" r="r" b="b"/>
              <a:pathLst>
                <a:path w="9525" h="2552700">
                  <a:moveTo>
                    <a:pt x="0" y="0"/>
                  </a:moveTo>
                  <a:lnTo>
                    <a:pt x="0" y="25527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09600" y="3619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09600" y="4152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609600" y="4686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" y="4152900"/>
              <a:ext cx="109728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9600" y="5219700"/>
              <a:ext cx="10972800" cy="552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1342" y="37976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exact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45892" y="37976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write，且无后续未知补丁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37473" y="38057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强代码证据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1342" y="4331018"/>
              <a:ext cx="1387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stale_resolved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45892" y="4331018"/>
              <a:ext cx="3139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write 后的 replace 已按顺序成功重放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37473" y="43391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强代码证据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1723" y="4872514"/>
              <a:ext cx="21931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efbr_only_unknown_base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945892" y="4864418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 replace，且没有可确认的 write / read 基线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37473" y="48725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仅用于搜索线索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1723" y="5405914"/>
              <a:ext cx="211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terminal_or_unavailable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45892" y="53978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只确认文件存在，内容无法重建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37473" y="54059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不能单独证明根因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9600" y="5905500"/>
            <a:ext cx="10972800" cy="400050"/>
            <a:chOff x="609600" y="5905500"/>
            <a:chExt cx="10972800" cy="400050"/>
          </a:xfrm>
        </p:grpSpPr>
        <p:sp>
          <p:nvSpPr>
            <p:cNvPr id="53" name="Rectangle 53"/>
            <p:cNvSpPr/>
            <p:nvPr/>
          </p:nvSpPr>
          <p:spPr>
            <a:xfrm>
              <a:off x="609600" y="5905500"/>
              <a:ext cx="10972800" cy="400050"/>
            </a:xfrm>
            <a:prstGeom prst="rect">
              <a:avLst/>
            </a:prstGeom>
            <a:solidFill>
              <a:srgbClr val="EAF5F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0961" y="601837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边界：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78661" y="6018371"/>
              <a:ext cx="6666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99.96% 描述文件重建覆盖，不是归因准确率；低可信代码只能引导继续取证。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201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METHOD 03 · REASONING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667000" y="447675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83629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5677662" cy="795337"/>
            <a:chOff x="593598" y="841058"/>
            <a:chExt cx="5677662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446115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提供先验，缩小搜索空间</a:t>
              </a:r>
              <a:endPara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确定性检查只输出事实信号；根因必须经过假设、取证与判断。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9600" y="1809750"/>
            <a:ext cx="4762500" cy="3905250"/>
            <a:chOff x="609600" y="1809750"/>
            <a:chExt cx="4762500" cy="3905250"/>
          </a:xfrm>
        </p:grpSpPr>
        <p:sp>
          <p:nvSpPr>
            <p:cNvPr id="9" name="Rectangle 9"/>
            <p:cNvSpPr/>
            <p:nvPr/>
          </p:nvSpPr>
          <p:spPr>
            <a:xfrm>
              <a:off x="609600" y="1809750"/>
              <a:ext cx="4762500" cy="3905250"/>
            </a:xfrm>
            <a:prstGeom prst="roundRect">
              <a:avLst>
                <a:gd name="adj" fmla="val 97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809750"/>
              <a:ext cx="47625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3054" y="1956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确定性约束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66001" y="1964531"/>
              <a:ext cx="983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FACT SIGNALS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22288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2800350"/>
              <a:ext cx="4762500" cy="57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3943350"/>
              <a:ext cx="4762500" cy="57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054" y="2375535"/>
              <a:ext cx="1420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build_before_end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69731" y="2383631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结束前是否 lint / build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3054" y="2947035"/>
              <a:ext cx="22087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validate_after_last_write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80815" y="29551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最后修改后是否重验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3054" y="3518535"/>
              <a:ext cx="21324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frontend_browser_smoke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0815" y="35266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前端是否浏览器冒烟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3054" y="4090035"/>
              <a:ext cx="1844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build_error_not_fixed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79267" y="40981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构建失败后是否修复重跑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054" y="4661535"/>
              <a:ext cx="2488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tool_failure_strategy_switch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79267" y="46696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连续失败后是否切换解法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19150" y="501015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3435" y="5174456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satisfied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8360" y="517445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violated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94685" y="5174456"/>
              <a:ext cx="111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not_applicable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3054" y="5423535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violated ≠ root cause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51108" y="5431631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进入 validation_summary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0" y="1809750"/>
            <a:ext cx="5981700" cy="3905250"/>
            <a:chOff x="5600700" y="1809750"/>
            <a:chExt cx="5981700" cy="3905250"/>
          </a:xfrm>
        </p:grpSpPr>
        <p:sp>
          <p:nvSpPr>
            <p:cNvPr id="33" name="Rectangle 33"/>
            <p:cNvSpPr/>
            <p:nvPr/>
          </p:nvSpPr>
          <p:spPr>
            <a:xfrm>
              <a:off x="5600700" y="1809750"/>
              <a:ext cx="5981700" cy="3905250"/>
            </a:xfrm>
            <a:prstGeom prst="roundRect">
              <a:avLst>
                <a:gd name="adj" fmla="val 97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23204" y="1956435"/>
              <a:ext cx="2951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SERIAL HYPOTHESIS–EVIDENCE LOOP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829300" y="2362200"/>
              <a:ext cx="74295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23585" y="2450306"/>
              <a:ext cx="935355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altLang="en-US" sz="1120" dirty="0">
                  <a:solidFill>
                    <a:schemeClr val="accent5"/>
                  </a:solidFill>
                </a:rPr>
                <a:t>上下文观测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10350" y="2171700"/>
              <a:ext cx="2095500" cy="552450"/>
            </a:xfrm>
            <a:prstGeom prst="roundRect">
              <a:avLst>
                <a:gd name="adj" fmla="val 6897"/>
              </a:avLst>
            </a:prstGeom>
            <a:solidFill>
              <a:srgbClr val="FFF3EE"/>
            </a:solidFill>
            <a:ln w="9525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30517" y="2368868"/>
              <a:ext cx="1855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propose_hypothesis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705850" y="2447925"/>
              <a:ext cx="5334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277350" y="2171700"/>
              <a:ext cx="2076450" cy="552450"/>
            </a:xfrm>
            <a:prstGeom prst="roundRect">
              <a:avLst>
                <a:gd name="adj" fmla="val 689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97898" y="2368868"/>
              <a:ext cx="1435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query_evidence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23204" y="3013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可查询证据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22442" y="3283268"/>
              <a:ext cx="352844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· code · grep · 项目结构</a:t>
              </a:r>
              <a:br>
                <a:rPr dirty="0"/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validation_summary · evaluation_summary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10315575" y="2724150"/>
              <a:ext cx="1" cy="1276350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010650" y="4038600"/>
              <a:ext cx="2343150" cy="552450"/>
            </a:xfrm>
            <a:prstGeom prst="roundRect">
              <a:avLst>
                <a:gd name="adj" fmla="val 6897"/>
              </a:avLst>
            </a:prstGeom>
            <a:solidFill>
              <a:srgbClr val="EAF5F4"/>
            </a:solidFill>
            <a:ln w="9525">
              <a:solidFill>
                <a:schemeClr val="accent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83448" y="4235768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judge_hypothesis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23204" y="4137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22442" y="4407218"/>
              <a:ext cx="936498" cy="6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support / contradict / inconclusive</a:t>
              </a:r>
            </a:p>
          </p:txBody>
        </p:sp>
        <p:sp>
          <p:nvSpPr>
            <p:cNvPr id="49" name="Line 49"/>
            <p:cNvSpPr/>
            <p:nvPr/>
          </p:nvSpPr>
          <p:spPr>
            <a:xfrm flipH="1">
              <a:off x="8477250" y="4314825"/>
              <a:ext cx="53340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610350" y="4038600"/>
              <a:ext cx="1828800" cy="552450"/>
            </a:xfrm>
            <a:prstGeom prst="roundRect">
              <a:avLst>
                <a:gd name="adj" fmla="val 68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121933" y="4235768"/>
              <a:ext cx="805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conclude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658100" y="4591050"/>
              <a:ext cx="2524125" cy="514350"/>
            </a:xfrm>
            <a:custGeom>
              <a:avLst/>
              <a:gdLst/>
              <a:ahLst/>
              <a:cxnLst/>
              <a:rect l="l" t="t" r="r" b="b"/>
              <a:pathLst>
                <a:path w="2524125" h="514350">
                  <a:moveTo>
                    <a:pt x="2524125" y="0"/>
                  </a:moveTo>
                  <a:lnTo>
                    <a:pt x="2524125" y="514350"/>
                  </a:lnTo>
                  <a:lnTo>
                    <a:pt x="0" y="514350"/>
                  </a:lnTo>
                  <a:lnTo>
                    <a:pt x="0" y="95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300000" sp="200000"/>
              </a:custDash>
              <a:tailEnd type="triangle" w="lg" len="lg"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911414" y="5212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证据不足：继续取证或更换假设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5905500"/>
            <a:ext cx="10972800" cy="400050"/>
            <a:chOff x="609600" y="5905500"/>
            <a:chExt cx="10972800" cy="400050"/>
          </a:xfrm>
        </p:grpSpPr>
        <p:sp>
          <p:nvSpPr>
            <p:cNvPr id="56" name="Rectangle 56"/>
            <p:cNvSpPr/>
            <p:nvPr/>
          </p:nvSpPr>
          <p:spPr>
            <a:xfrm>
              <a:off x="609600" y="5905500"/>
              <a:ext cx="10972800" cy="400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0580" y="6010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职责边界：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878330" y="6010275"/>
              <a:ext cx="4082849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缩小搜索空间；LLM 负责形成并验证因果解释。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759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EVIDENCE IN PRACTICE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571750" y="447675"/>
              <a:ext cx="8458200" cy="9525"/>
            </a:xfrm>
            <a:custGeom>
              <a:avLst/>
              <a:gdLst/>
              <a:ahLst/>
              <a:cxnLst/>
              <a:rect l="l" t="t" r="r" b="b"/>
              <a:pathLst>
                <a:path w="8458200" h="9525">
                  <a:moveTo>
                    <a:pt x="0" y="0"/>
                  </a:moveTo>
                  <a:lnTo>
                    <a:pt x="8458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6505575" cy="795337"/>
            <a:chOff x="593598" y="841058"/>
            <a:chExt cx="6505575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一次归因怎样落到证据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标准不是“写得更长”，而是能否定位更早、可修复、可复核的因果节点。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714500"/>
            <a:ext cx="10972800" cy="578453"/>
            <a:chOff x="609600" y="1714500"/>
            <a:chExt cx="10972800" cy="578453"/>
          </a:xfrm>
        </p:grpSpPr>
        <p:sp>
          <p:nvSpPr>
            <p:cNvPr id="9" name="Rectangle 9"/>
            <p:cNvSpPr/>
            <p:nvPr/>
          </p:nvSpPr>
          <p:spPr>
            <a:xfrm>
              <a:off x="609600" y="1714500"/>
              <a:ext cx="7239000" cy="571500"/>
            </a:xfrm>
            <a:prstGeom prst="roundRect">
              <a:avLst>
                <a:gd name="adj" fmla="val 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3816" y="18392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主路由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2673" y="2043589"/>
              <a:ext cx="54580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phenomenon → execution_process → step → code → judge → conclude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039100" y="1714500"/>
              <a:ext cx="3543300" cy="571500"/>
            </a:xfrm>
            <a:prstGeom prst="roundRect">
              <a:avLst>
                <a:gd name="adj" fmla="val 6667"/>
              </a:avLst>
            </a:prstGeom>
            <a:solidFill>
              <a:srgbClr val="EAF5F4"/>
            </a:solidFill>
            <a:ln w="9525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43316" y="18392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补充路由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42173" y="2043589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grep → 候选文件 → code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457450"/>
            <a:ext cx="10972800" cy="1619250"/>
            <a:chOff x="609600" y="2457450"/>
            <a:chExt cx="109728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609600" y="2457450"/>
              <a:ext cx="10972800" cy="1619250"/>
            </a:xfrm>
            <a:prstGeom prst="roundRect">
              <a:avLst>
                <a:gd name="adj" fmla="val 2353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2457450"/>
              <a:ext cx="14668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5335" y="2545556"/>
              <a:ext cx="993862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旧</a:t>
              </a:r>
              <a:r>
                <a:rPr lang="zh-CN" altLang="en-US" sz="1120" b="1" dirty="0">
                  <a:solidFill>
                    <a:srgbClr val="FFFFFF"/>
                  </a:solidFill>
                </a:rPr>
                <a:t>基线</a:t>
              </a: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· 现象层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59830" y="254555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页面异常 / 宽泛原因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b="72877"/>
            <a:stretch>
              <a:fillRect/>
            </a:stretch>
          </p:blipFill>
          <p:spPr>
            <a:xfrm>
              <a:off x="685800" y="2819400"/>
              <a:ext cx="10820400" cy="1181100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609600" y="4210050"/>
            <a:ext cx="10972800" cy="1657350"/>
            <a:chOff x="609600" y="4210050"/>
            <a:chExt cx="10972800" cy="1657350"/>
          </a:xfrm>
        </p:grpSpPr>
        <p:sp>
          <p:nvSpPr>
            <p:cNvPr id="22" name="Rectangle 22"/>
            <p:cNvSpPr/>
            <p:nvPr/>
          </p:nvSpPr>
          <p:spPr>
            <a:xfrm>
              <a:off x="609600" y="4210050"/>
              <a:ext cx="10972800" cy="1657350"/>
            </a:xfrm>
            <a:prstGeom prst="roundRect">
              <a:avLst>
                <a:gd name="adj" fmla="val 2299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4210050"/>
              <a:ext cx="177165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5335" y="4298156"/>
              <a:ext cx="1338508" cy="172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120" b="1" dirty="0">
                  <a:solidFill>
                    <a:srgbClr val="FFFFFF"/>
                  </a:solidFill>
                </a:rPr>
                <a:t>假设归因</a:t>
              </a: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可行动根因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06364" y="4298156"/>
              <a:ext cx="2853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root_cause_step + process_evidence</a:t>
              </a: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4"/>
            <a:srcRect t="75491"/>
            <a:stretch>
              <a:fillRect/>
            </a:stretch>
          </p:blipFill>
          <p:spPr>
            <a:xfrm>
              <a:off x="685800" y="4572000"/>
              <a:ext cx="10820400" cy="121920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601980" y="6067425"/>
            <a:ext cx="6208994" cy="293370"/>
            <a:chOff x="601980" y="6067425"/>
            <a:chExt cx="6208994" cy="293370"/>
          </a:xfrm>
        </p:grpSpPr>
        <p:sp>
          <p:nvSpPr>
            <p:cNvPr id="28" name="TextBox 28"/>
            <p:cNvSpPr txBox="1"/>
            <p:nvPr/>
          </p:nvSpPr>
          <p:spPr>
            <a:xfrm>
              <a:off x="601980" y="6067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案例结论：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06880" y="6067425"/>
              <a:ext cx="510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偏差发生在 Step 1：把研究报告理解成 Web 展示任务。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8492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RESULT · LIMIT · NEXT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476500" y="447675"/>
              <a:ext cx="8553450" cy="9525"/>
            </a:xfrm>
            <a:custGeom>
              <a:avLst/>
              <a:gdLst/>
              <a:ahLst/>
              <a:cxnLst/>
              <a:rect l="l" t="t" r="r" b="b"/>
              <a:pathLst>
                <a:path w="8553450" h="9525">
                  <a:moveTo>
                    <a:pt x="0" y="0"/>
                  </a:moveTo>
                  <a:lnTo>
                    <a:pt x="85534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93598" y="841058"/>
            <a:ext cx="496062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成果、可信边界与下一步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93598" y="1926908"/>
            <a:ext cx="10760202" cy="616077"/>
            <a:chOff x="593598" y="1926908"/>
            <a:chExt cx="10760202" cy="616077"/>
          </a:xfrm>
        </p:grpSpPr>
        <p:sp>
          <p:nvSpPr>
            <p:cNvPr id="9" name="TextBox 9"/>
            <p:cNvSpPr txBox="1"/>
            <p:nvPr/>
          </p:nvSpPr>
          <p:spPr>
            <a:xfrm>
              <a:off x="593598" y="1926908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方向有效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70048" y="192690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17748" y="192690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指标已经闭环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724650" y="2171700"/>
              <a:ext cx="4629150" cy="1"/>
            </a:xfrm>
            <a:prstGeom prst="line">
              <a:avLst/>
            </a:prstGeom>
            <a:noFill/>
            <a:ln w="19050">
              <a:solidFill>
                <a:srgbClr val="87919A"/>
              </a:solidFill>
              <a:tailEnd type="triangle" w="lg" len="lg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1980" y="2823210"/>
            <a:ext cx="3150870" cy="2270093"/>
            <a:chOff x="601980" y="2823210"/>
            <a:chExt cx="3150870" cy="2270093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2823210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· 已有证据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31051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1980" y="3267075"/>
              <a:ext cx="2115964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配对盲评：</a:t>
              </a:r>
              <a:r>
                <a:rPr lang="zh-CN" altLang="en-US" sz="1500" b="1" dirty="0">
                  <a:solidFill>
                    <a:schemeClr val="dk1"/>
                  </a:solidFill>
                </a:rPr>
                <a:t>全面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优于旧版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3123" y="356758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判断维度：归因粒度、归因准确度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980" y="39052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人工抽查：方向一致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123" y="42057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原文未给样本总量与置信区间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1980" y="4543425"/>
              <a:ext cx="2212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≈ 99.96% 文件重放覆盖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123" y="484393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工程完整性指标，不是准确率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64330" y="2823210"/>
            <a:ext cx="3150870" cy="2343341"/>
            <a:chOff x="4164330" y="2823210"/>
            <a:chExt cx="3150870" cy="2343341"/>
          </a:xfrm>
        </p:grpSpPr>
        <p:sp>
          <p:nvSpPr>
            <p:cNvPr id="23" name="TextBox 23"/>
            <p:cNvSpPr txBox="1"/>
            <p:nvPr/>
          </p:nvSpPr>
          <p:spPr>
            <a:xfrm>
              <a:off x="4165854" y="2823210"/>
              <a:ext cx="1040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可信边界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171950" y="31051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64330" y="3286125"/>
              <a:ext cx="1990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未做开放 Benchmark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65092" y="36071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先验规则、日志格式仍需适配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64330" y="3952875"/>
              <a:ext cx="20633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未做 checkpoint 重放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65092" y="42738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不能声称根因已被执行验证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64330" y="4619625"/>
              <a:ext cx="2187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评估仍依赖 LLM Judge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65092" y="49025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人工抽查规模有限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728204" y="2823210"/>
            <a:ext cx="3854196" cy="2460593"/>
            <a:chOff x="7728204" y="2823210"/>
            <a:chExt cx="3854196" cy="2460593"/>
          </a:xfrm>
        </p:grpSpPr>
        <p:sp>
          <p:nvSpPr>
            <p:cNvPr id="32" name="TextBox 32"/>
            <p:cNvSpPr txBox="1"/>
            <p:nvPr/>
          </p:nvSpPr>
          <p:spPr>
            <a:xfrm>
              <a:off x="7728204" y="2823210"/>
              <a:ext cx="1201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 · 下一步补证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734300" y="31051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800975" y="34194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69580" y="33909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标准化评测集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70723" y="366283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补充样本规模与统计口径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00975" y="41052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69580" y="4076700"/>
              <a:ext cx="19997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checkpoint 重放验证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70723" y="434863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验证修复是否真正改变轨迹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00975" y="47910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69580" y="4762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角色化并行假设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70723" y="503443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降低同质化，并设计收敛机制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9600" y="5467350"/>
            <a:ext cx="10972800" cy="838200"/>
            <a:chOff x="609600" y="5467350"/>
            <a:chExt cx="10972800" cy="838200"/>
          </a:xfrm>
        </p:grpSpPr>
        <p:sp>
          <p:nvSpPr>
            <p:cNvPr id="44" name="Rectangle 44"/>
            <p:cNvSpPr/>
            <p:nvPr/>
          </p:nvSpPr>
          <p:spPr>
            <a:xfrm>
              <a:off x="609600" y="5467350"/>
              <a:ext cx="109728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51154" y="5680710"/>
              <a:ext cx="8366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TAKEAWAY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582" y="5907405"/>
              <a:ext cx="646330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100" b="1" dirty="0">
                  <a:solidFill>
                    <a:srgbClr val="FFFFFF"/>
                  </a:solidFill>
                </a:rPr>
                <a:t>该框架</a:t>
              </a:r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把归因从一次生成，变成一条可检查的证据链。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08610"/>
            <a:ext cx="10984992" cy="234696"/>
            <a:chOff x="603504" y="30861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8610"/>
              <a:ext cx="1974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APPENDIX · SYSTEM MAP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628900" y="390525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086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4360" y="685800"/>
            <a:ext cx="3444240" cy="586740"/>
            <a:chOff x="594360" y="685800"/>
            <a:chExt cx="344424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594360" y="68580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附录：完整架构图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9600" y="1295400"/>
            <a:ext cx="6153150" cy="4933950"/>
            <a:chOff x="609600" y="1295400"/>
            <a:chExt cx="6153150" cy="4933950"/>
          </a:xfrm>
        </p:grpSpPr>
        <p:sp>
          <p:nvSpPr>
            <p:cNvPr id="8" name="Rectangle 8"/>
            <p:cNvSpPr/>
            <p:nvPr/>
          </p:nvSpPr>
          <p:spPr>
            <a:xfrm>
              <a:off x="609600" y="1295400"/>
              <a:ext cx="6153150" cy="4933950"/>
            </a:xfrm>
            <a:prstGeom prst="roundRect">
              <a:avLst>
                <a:gd name="adj" fmla="val 77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768" y="1352550"/>
              <a:ext cx="5914815" cy="4819650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7080504" y="1565910"/>
            <a:ext cx="4501896" cy="4187190"/>
            <a:chOff x="7080504" y="1565910"/>
            <a:chExt cx="4501896" cy="4187190"/>
          </a:xfrm>
        </p:grpSpPr>
        <p:sp>
          <p:nvSpPr>
            <p:cNvPr id="11" name="TextBox 11"/>
            <p:cNvSpPr txBox="1"/>
            <p:nvPr/>
          </p:nvSpPr>
          <p:spPr>
            <a:xfrm>
              <a:off x="7080504" y="1565910"/>
              <a:ext cx="2225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TECHNICAL QUESTION INDEX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219950" y="200025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1437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80554" y="1985010"/>
              <a:ext cx="11703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 · 输入与日志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9030" y="2219325"/>
              <a:ext cx="2636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如何转为 Step 与验证摘要？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43750" y="2914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80554" y="2804160"/>
              <a:ext cx="999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 · 文件证据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79030" y="30384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事件如何重放并产生可信度？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43750" y="3733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80554" y="3623310"/>
              <a:ext cx="999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 · 证据接口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79030" y="3857625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/ code / grep 如何路由？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143750" y="45529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80554" y="4442460"/>
              <a:ext cx="9996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 · 推理收敛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79030" y="4676775"/>
              <a:ext cx="3301365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support / contradict / inconclusive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之后怎样形成结论？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86600" y="5334000"/>
              <a:ext cx="4495800" cy="419100"/>
            </a:xfrm>
            <a:prstGeom prst="rect">
              <a:avLst/>
            </a:prstGeom>
            <a:solidFill>
              <a:srgbClr val="EAF5F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89673" y="5463064"/>
              <a:ext cx="26764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原图完整展示 · no-crop · 未重绘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19567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APPENDIX · FILE REPLAY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647950" y="44767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5408676" cy="795337"/>
            <a:chOff x="593598" y="841058"/>
            <a:chExt cx="5408676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附录：文件事件怎样被重放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467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重放逻辑同时恢复内容，并记录“恢复失败在哪里”。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1809750"/>
            <a:ext cx="4762500" cy="3953256"/>
            <a:chOff x="609600" y="1809750"/>
            <a:chExt cx="4762500" cy="3953256"/>
          </a:xfrm>
        </p:grpSpPr>
        <p:sp>
          <p:nvSpPr>
            <p:cNvPr id="9" name="Rectangle 9"/>
            <p:cNvSpPr/>
            <p:nvPr/>
          </p:nvSpPr>
          <p:spPr>
            <a:xfrm>
              <a:off x="609600" y="1809750"/>
              <a:ext cx="4762500" cy="3943350"/>
            </a:xfrm>
            <a:prstGeom prst="roundRect">
              <a:avLst>
                <a:gd name="adj" fmla="val 96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485" y="1974056"/>
              <a:ext cx="2236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PSEUDOCODE · IN LOG ORDER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38200" y="22669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9525">
              <a:solidFill>
                <a:srgbClr val="52606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723" y="2434114"/>
              <a:ext cx="2985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for ev in file_events_in_log_order: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223" y="2719864"/>
              <a:ext cx="1873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if ev.kind == "write":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2723" y="3005614"/>
              <a:ext cx="1917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FD1CA"/>
                  </a:solidFill>
                  <a:latin typeface="+mn-lt"/>
                  <a:ea typeface="+mn-ea"/>
                  <a:cs typeface="+mn-cs"/>
                </a:rPr>
                <a:t>fs[path] = ev.content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223" y="3291364"/>
              <a:ext cx="32782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elif ev.kind == "edit_file_by_replace":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2723" y="357711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 path not in fs: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03223" y="3862864"/>
              <a:ext cx="3200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FD1CA"/>
                  </a:solidFill>
                  <a:latin typeface="+mn-lt"/>
                  <a:ea typeface="+mn-ea"/>
                  <a:cs typeface="+mn-cs"/>
                </a:rPr>
                <a:t>fs[path] = nearest_prior_read(path)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2723" y="4148614"/>
              <a:ext cx="25028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if ev.to_replace in fs[path]: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03604" y="444246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D1CA"/>
                  </a:solidFill>
                  <a:latin typeface="+mn-lt"/>
                  <a:ea typeface="+mn-ea"/>
                  <a:cs typeface="+mn-cs"/>
                </a:rPr>
                <a:t>replace once with ev.new_content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12723" y="4720114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else: mark_unresolved_patch(path)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223" y="5005864"/>
              <a:ext cx="35109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7CFD6"/>
                  </a:solidFill>
                  <a:latin typeface="+mn-lt"/>
                  <a:ea typeface="+mn-ea"/>
                  <a:cs typeface="+mn-cs"/>
                </a:rPr>
                <a:t>elif ev.kind == "insert_content_at_line":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13104" y="5299710"/>
              <a:ext cx="2911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FD1CA"/>
                  </a:solidFill>
                  <a:latin typeface="+mn-lt"/>
                  <a:ea typeface="+mn-ea"/>
                  <a:cs typeface="+mn-cs"/>
                </a:rPr>
                <a:t>apply_insert_when_base_is_available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104" y="5528310"/>
              <a:ext cx="3307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B199"/>
                  </a:solidFill>
                  <a:latin typeface="+mn-lt"/>
                  <a:ea typeface="+mn-ea"/>
                  <a:cs typeface="+mn-cs"/>
                </a:rPr>
                <a:t>update_reconstruction_confidence(path)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19750" y="1809750"/>
            <a:ext cx="5962650" cy="3943350"/>
            <a:chOff x="5619750" y="1809750"/>
            <a:chExt cx="5962650" cy="3943350"/>
          </a:xfrm>
        </p:grpSpPr>
        <p:sp>
          <p:nvSpPr>
            <p:cNvPr id="25" name="Rectangle 25"/>
            <p:cNvSpPr/>
            <p:nvPr/>
          </p:nvSpPr>
          <p:spPr>
            <a:xfrm>
              <a:off x="5619750" y="1809750"/>
              <a:ext cx="5962650" cy="3943350"/>
            </a:xfrm>
            <a:prstGeom prst="roundRect">
              <a:avLst>
                <a:gd name="adj" fmla="val 96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619750" y="1809750"/>
              <a:ext cx="596265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23204" y="19564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99654" y="1956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形成条件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3428" y="1956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证据用途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639050" y="180975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10039350" y="1809750"/>
              <a:ext cx="9525" cy="3943350"/>
            </a:xfrm>
            <a:custGeom>
              <a:avLst/>
              <a:gdLst/>
              <a:ahLst/>
              <a:cxnLst/>
              <a:rect l="l" t="t" r="r" b="b"/>
              <a:pathLst>
                <a:path w="9525" h="3943350">
                  <a:moveTo>
                    <a:pt x="0" y="0"/>
                  </a:moveTo>
                  <a:lnTo>
                    <a:pt x="0" y="39433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619750" y="222885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619750" y="310515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5619750" y="398145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5619750" y="485775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619750" y="3105150"/>
              <a:ext cx="5962650" cy="87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19750" y="4857750"/>
              <a:ext cx="5962650" cy="895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22823" y="2453164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exact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99654" y="2404110"/>
              <a:ext cx="1383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write；无后续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未知补丁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824972" y="2518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强证据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23204" y="3299460"/>
              <a:ext cx="1233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stale_resolved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99654" y="3242310"/>
              <a:ext cx="12161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write 后 replace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已依序成功重放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24972" y="3356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强证据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23585" y="4145756"/>
              <a:ext cx="1027024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efbr_only_</a:t>
              </a:r>
              <a:br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unknown_base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99654" y="4118610"/>
              <a:ext cx="17876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 replace；没有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可确认 write / read 基线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63428" y="4232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搜索线索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23585" y="5022056"/>
              <a:ext cx="952348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terminal_or_</a:t>
              </a:r>
              <a:br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unavailable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99654" y="4994910"/>
              <a:ext cx="12313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只确认存在；内容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不可重建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63428" y="5109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不可定因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5905500"/>
            <a:ext cx="10972800" cy="400050"/>
            <a:chOff x="609600" y="5905500"/>
            <a:chExt cx="10972800" cy="400050"/>
          </a:xfrm>
        </p:grpSpPr>
        <p:sp>
          <p:nvSpPr>
            <p:cNvPr id="51" name="Rectangle 51"/>
            <p:cNvSpPr/>
            <p:nvPr/>
          </p:nvSpPr>
          <p:spPr>
            <a:xfrm>
              <a:off x="609600" y="5905500"/>
              <a:ext cx="10972800" cy="400050"/>
            </a:xfrm>
            <a:prstGeom prst="rect">
              <a:avLst/>
            </a:prstGeom>
            <a:solidFill>
              <a:srgbClr val="EAF5F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0961" y="60183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使用原则：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02511" y="6018371"/>
              <a:ext cx="70587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exact 与成功解析的 stale_resolved 可作为强代码证据，其余等级引导继续查询。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2037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APPENDIX · CONSTRAINTS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800350" y="447675"/>
              <a:ext cx="8229600" cy="9525"/>
            </a:xfrm>
            <a:custGeom>
              <a:avLst/>
              <a:gdLst/>
              <a:ahLst/>
              <a:cxnLst/>
              <a:rect l="l" t="t" r="r" b="b"/>
              <a:pathLst>
                <a:path w="8229600" h="9525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8993124" cy="795337"/>
            <a:chOff x="593598" y="841058"/>
            <a:chExt cx="8993124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89931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附录：确定性约束只给方向，不替模型下结论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65779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每个检查读取可确定事实；任何 violated 都必须再进入假设与证据验证。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1790700"/>
            <a:ext cx="10972800" cy="3638550"/>
            <a:chOff x="609600" y="1790700"/>
            <a:chExt cx="10972800" cy="3638550"/>
          </a:xfrm>
        </p:grpSpPr>
        <p:sp>
          <p:nvSpPr>
            <p:cNvPr id="9" name="Rectangle 9"/>
            <p:cNvSpPr/>
            <p:nvPr/>
          </p:nvSpPr>
          <p:spPr>
            <a:xfrm>
              <a:off x="609600" y="1790700"/>
              <a:ext cx="10972800" cy="3638550"/>
            </a:xfrm>
            <a:prstGeom prst="roundRect">
              <a:avLst>
                <a:gd name="adj" fmla="val 10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79070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4004" y="19373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32454" y="1937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37604" y="1937385"/>
              <a:ext cx="12092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violated 的含义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24616" y="19373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371850" y="179070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477000" y="179070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096500" y="1790700"/>
              <a:ext cx="9525" cy="3638550"/>
            </a:xfrm>
            <a:custGeom>
              <a:avLst/>
              <a:gdLst/>
              <a:ahLst/>
              <a:cxnLst/>
              <a:rect l="l" t="t" r="r" b="b"/>
              <a:pathLst>
                <a:path w="9525" h="3638550">
                  <a:moveTo>
                    <a:pt x="0" y="0"/>
                  </a:moveTo>
                  <a:lnTo>
                    <a:pt x="0" y="36385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" y="2209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" y="2838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" y="3467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" y="4095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09600" y="4724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2838450"/>
              <a:ext cx="10972800" cy="628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4095750"/>
              <a:ext cx="10972800" cy="6286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4004" y="2461260"/>
              <a:ext cx="1420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build_before_end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32454" y="2337435"/>
              <a:ext cx="1078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结束前是否运行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lint / build？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7604" y="2461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可能缺少构建验证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43576" y="246935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4385" y="3098006"/>
              <a:ext cx="2061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validate_after_last_write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32454" y="2966085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最后改代码后是否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重新验证？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37604" y="3089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可能缺少回归验证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43576" y="309800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385" y="3602831"/>
              <a:ext cx="1960474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frontend_browser_smoke_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before_end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32454" y="3594735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前端结束前是否做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浏览器冒烟？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37604" y="3718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可能缺少运行时验证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43576" y="372665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385" y="4355306"/>
              <a:ext cx="1721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build_error_not_fixed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32454" y="4223385"/>
              <a:ext cx="116281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build 失败后是否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修复并重跑？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37604" y="43472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可能带着构建失败交付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43576" y="435530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4385" y="4879181"/>
              <a:ext cx="1706575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tool_failure_strategy_</a:t>
              </a:r>
              <a:br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switch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632454" y="4871085"/>
              <a:ext cx="1078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连续三次失败后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是否切换解法？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7604" y="4871085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失败被略过，或没有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采用新方式解决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43576" y="4983956"/>
              <a:ext cx="815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/ V / N/A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5600700"/>
            <a:ext cx="10972800" cy="704850"/>
            <a:chOff x="609600" y="5600700"/>
            <a:chExt cx="10972800" cy="704850"/>
          </a:xfrm>
        </p:grpSpPr>
        <p:sp>
          <p:nvSpPr>
            <p:cNvPr id="46" name="Rectangle 46"/>
            <p:cNvSpPr/>
            <p:nvPr/>
          </p:nvSpPr>
          <p:spPr>
            <a:xfrm>
              <a:off x="609600" y="5600700"/>
              <a:ext cx="10972800" cy="704850"/>
            </a:xfrm>
            <a:prstGeom prst="rect">
              <a:avLst/>
            </a:prstGeom>
            <a:solidFill>
              <a:srgbClr val="FFF3E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2104" y="5737860"/>
              <a:ext cx="3482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三态：satisfied / violated / not_applicable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0580" y="5991225"/>
              <a:ext cx="74654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规则命中进入 validation_summary；单个 violated 不能独立成为 root cause。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3504" y="365760"/>
            <a:ext cx="10984992" cy="234696"/>
            <a:chOff x="603504" y="365760"/>
            <a:chExt cx="10984992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65760"/>
              <a:ext cx="2037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APPENDIX · SECOND CASE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2724150" y="447675"/>
              <a:ext cx="8305800" cy="9525"/>
            </a:xfrm>
            <a:custGeom>
              <a:avLst/>
              <a:gdLst/>
              <a:ahLst/>
              <a:cxnLst/>
              <a:rect l="l" t="t" r="r" b="b"/>
              <a:pathLst>
                <a:path w="8305800" h="9525">
                  <a:moveTo>
                    <a:pt x="0" y="0"/>
                  </a:moveTo>
                  <a:lnTo>
                    <a:pt x="8305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35132" y="3657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3598" y="841058"/>
            <a:ext cx="6752844" cy="795337"/>
            <a:chOff x="593598" y="841058"/>
            <a:chExt cx="6752844" cy="795337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841058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附录：从静态现象定位到需求误解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343025"/>
              <a:ext cx="5496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第二个 GUI case 再次把结论落到需求处理与组件实现步骤。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752600"/>
            <a:ext cx="8572500" cy="4210050"/>
            <a:chOff x="609600" y="1752600"/>
            <a:chExt cx="8572500" cy="4210050"/>
          </a:xfrm>
        </p:grpSpPr>
        <p:sp>
          <p:nvSpPr>
            <p:cNvPr id="9" name="Rectangle 9"/>
            <p:cNvSpPr/>
            <p:nvPr/>
          </p:nvSpPr>
          <p:spPr>
            <a:xfrm>
              <a:off x="609600" y="1752600"/>
              <a:ext cx="8572500" cy="4210050"/>
            </a:xfrm>
            <a:prstGeom prst="roundRect">
              <a:avLst>
                <a:gd name="adj" fmla="val 90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140" y="1809750"/>
              <a:ext cx="8407421" cy="40957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9424035" y="1859756"/>
            <a:ext cx="2158365" cy="4102894"/>
            <a:chOff x="9424035" y="1859756"/>
            <a:chExt cx="2158365" cy="4102894"/>
          </a:xfrm>
        </p:grpSpPr>
        <p:sp>
          <p:nvSpPr>
            <p:cNvPr id="12" name="TextBox 12"/>
            <p:cNvSpPr txBox="1"/>
            <p:nvPr/>
          </p:nvSpPr>
          <p:spPr>
            <a:xfrm>
              <a:off x="9424035" y="1859756"/>
              <a:ext cx="14834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ATTRIBUTION DEPTH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9563100" y="23241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477375" y="2390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04654" y="2289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现象复述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03892" y="2540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页面空白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03892" y="27784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动画未实现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77375" y="34575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04654" y="3356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需求误解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04273" y="3615214"/>
              <a:ext cx="1199642" cy="7256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“飞舞并重组”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被简化为静态图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基础 3D hover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9477375" y="47148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04654" y="4613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实现步骤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04654" y="4880610"/>
              <a:ext cx="1261872" cy="682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2 · 需求处理</a:t>
              </a:r>
            </a:p>
            <a:p>
              <a:pPr algn="l">
                <a:lnSpc>
                  <a:spcPts val="1725"/>
                </a:lnSpc>
                <a:spcBef>
                  <a:spcPts val="75"/>
                </a:spcBef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8 · 组件实现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ExplodingCake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429750" y="5619750"/>
              <a:ext cx="2152650" cy="342900"/>
            </a:xfrm>
            <a:prstGeom prst="rect">
              <a:avLst/>
            </a:prstGeom>
            <a:solidFill>
              <a:srgbClr val="EAF5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76054" y="57188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结论可回到步骤复核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ttribution_agent_v5_interview">
  <a:themeElements>
    <a:clrScheme name="attribution_agent_v5_interview">
      <a:dk1>
        <a:srgbClr val="202830"/>
      </a:dk1>
      <a:lt1>
        <a:srgbClr val="F7F8FA"/>
      </a:lt1>
      <a:dk2>
        <a:srgbClr val="1F497D"/>
      </a:dk2>
      <a:lt2>
        <a:srgbClr val="FFFFFF"/>
      </a:lt2>
      <a:accent1>
        <a:srgbClr val="1C2733"/>
      </a:accent1>
      <a:accent2>
        <a:srgbClr val="E4572E"/>
      </a:accent2>
      <a:accent3>
        <a:srgbClr val="1B7F79"/>
      </a:accent3>
      <a:accent4>
        <a:srgbClr val="1C2733"/>
      </a:accent4>
      <a:accent5>
        <a:srgbClr val="5E6A73"/>
      </a:accent5>
      <a:accent6>
        <a:srgbClr val="D9DEE3"/>
      </a:accent6>
      <a:hlink>
        <a:srgbClr val="E4572E"/>
      </a:hlink>
      <a:folHlink>
        <a:srgbClr val="1B7F79"/>
      </a:folHlink>
    </a:clrScheme>
    <a:fontScheme name="attribution_agent_v5_interview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tribution_agent_v5_int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ttribution_agent_v5_interview">
  <a:themeElements>
    <a:clrScheme name="attribution_agent_v5_interview">
      <a:dk1>
        <a:srgbClr val="202830"/>
      </a:dk1>
      <a:lt1>
        <a:srgbClr val="F7F8FA"/>
      </a:lt1>
      <a:dk2>
        <a:srgbClr val="1F497D"/>
      </a:dk2>
      <a:lt2>
        <a:srgbClr val="FFFFFF"/>
      </a:lt2>
      <a:accent1>
        <a:srgbClr val="1C2733"/>
      </a:accent1>
      <a:accent2>
        <a:srgbClr val="E4572E"/>
      </a:accent2>
      <a:accent3>
        <a:srgbClr val="1B7F79"/>
      </a:accent3>
      <a:accent4>
        <a:srgbClr val="1C2733"/>
      </a:accent4>
      <a:accent5>
        <a:srgbClr val="5E6A73"/>
      </a:accent5>
      <a:accent6>
        <a:srgbClr val="D9DEE3"/>
      </a:accent6>
      <a:hlink>
        <a:srgbClr val="E4572E"/>
      </a:hlink>
      <a:folHlink>
        <a:srgbClr val="1B7F79"/>
      </a:folHlink>
    </a:clrScheme>
    <a:fontScheme name="attribution_agent_v5_interview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tribution_agent_v5_int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4219</Words>
  <Application>Microsoft Office PowerPoint</Application>
  <PresentationFormat>宽屏</PresentationFormat>
  <Paragraphs>390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Arial</vt:lpstr>
      <vt:lpstr>attribution_agent_v5_interview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Nariyuki WL_</cp:lastModifiedBy>
  <cp:revision>8</cp:revision>
  <dcterms:created xsi:type="dcterms:W3CDTF">2026-09-02T12:34:19Z</dcterms:created>
  <dcterms:modified xsi:type="dcterms:W3CDTF">2026-09-03T15:07:43Z</dcterms:modified>
  <cp:category/>
  <cp:contentStatus/>
  <dc:language>zh-CN</dc:language>
</cp:coreProperties>
</file>