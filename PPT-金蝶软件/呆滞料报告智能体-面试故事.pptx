
<file path=[Content_Types].xml><?xml version="1.0" encoding="utf-8"?>
<Types xmlns="http://schemas.openxmlformats.org/package/2006/content-types"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0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12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Master+xml" PartName="/ppt/slideMasters/slideMaster1.xml"/>
  <Override ContentType="application/vnd.openxmlformats-officedocument.presentationml.slideMaster+xml" PartName="/ppt/slideMasters/slideMaster2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  <Override PartName="/docProps/custom.xml" ContentType="application/vnd.openxmlformats-officedocument.custom-properties+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core.xml" Type="http://schemas.openxmlformats.org/package/2006/relationships/metadata/core-properties"/><Relationship Id="rId3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  <p:sldMasterId id="2147483660" r:id="rId8"/>
  </p:sldMasterIdLst>
  <p:notesMasterIdLst>
    <p:notesMasterId r:id="rId6"/>
  </p:notesMasterIdLst>
  <p:sldIdLst>
    <p:sldId id="256" r:id="rId9"/>
    <p:sldId id="257" r:id="rId10"/>
    <p:sldId id="258" r:id="rId11"/>
    <p:sldId id="259" r:id="rId12"/>
    <p:sldId id="260" r:id="rId13"/>
    <p:sldId id="261" r:id="rId14"/>
    <p:sldId id="262" r:id="rId15"/>
    <p:sldId id="263" r:id="rId16"/>
    <p:sldId id="264" r:id="rId17"/>
    <p:sldId id="265" r:id="rId18"/>
    <p:sldId id="266" r:id="rId19"/>
    <p:sldId id="267" r:id="rId20"/>
  </p:sldIdLst>
  <p:sldSz cx="12192000" cy="6858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 mar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 marL="4572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 marL="9144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 marL="13716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 marL="18288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 marL="22860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 marL="27432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 marL="32004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 marL="36576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<Relationships xmlns="http://schemas.openxmlformats.org/package/2006/relationships"><Relationship Id="rId1" Target="theme/theme1.xml" Type="http://schemas.openxmlformats.org/officeDocument/2006/relationships/theme"/><Relationship Id="rId10" Target="slides/slide2.xml" Type="http://schemas.openxmlformats.org/officeDocument/2006/relationships/slide"/><Relationship Id="rId11" Target="slides/slide3.xml" Type="http://schemas.openxmlformats.org/officeDocument/2006/relationships/slide"/><Relationship Id="rId12" Target="slides/slide4.xml" Type="http://schemas.openxmlformats.org/officeDocument/2006/relationships/slide"/><Relationship Id="rId13" Target="slides/slide5.xml" Type="http://schemas.openxmlformats.org/officeDocument/2006/relationships/slide"/><Relationship Id="rId14" Target="slides/slide6.xml" Type="http://schemas.openxmlformats.org/officeDocument/2006/relationships/slide"/><Relationship Id="rId15" Target="slides/slide7.xml" Type="http://schemas.openxmlformats.org/officeDocument/2006/relationships/slide"/><Relationship Id="rId16" Target="slides/slide8.xml" Type="http://schemas.openxmlformats.org/officeDocument/2006/relationships/slide"/><Relationship Id="rId17" Target="slides/slide9.xml" Type="http://schemas.openxmlformats.org/officeDocument/2006/relationships/slide"/><Relationship Id="rId18" Target="slides/slide10.xml" Type="http://schemas.openxmlformats.org/officeDocument/2006/relationships/slide"/><Relationship Id="rId19" Target="slides/slide11.xml" Type="http://schemas.openxmlformats.org/officeDocument/2006/relationships/slide"/><Relationship Id="rId2" Target="viewProps.xml" Type="http://schemas.openxmlformats.org/officeDocument/2006/relationships/viewProps"/><Relationship Id="rId20" Target="slides/slide12.xml" Type="http://schemas.openxmlformats.org/officeDocument/2006/relationships/slide"/><Relationship Id="rId21" Target="notesSlides/notesSlide1.xml" Type="http://schemas.openxmlformats.org/officeDocument/2006/relationships/notesSlide"/><Relationship Id="rId22" Target="notesSlides/notesSlide2.xml" Type="http://schemas.openxmlformats.org/officeDocument/2006/relationships/notesSlide"/><Relationship Id="rId23" Target="notesSlides/notesSlide3.xml" Type="http://schemas.openxmlformats.org/officeDocument/2006/relationships/notesSlide"/><Relationship Id="rId24" Target="notesSlides/notesSlide4.xml" Type="http://schemas.openxmlformats.org/officeDocument/2006/relationships/notesSlide"/><Relationship Id="rId25" Target="notesSlides/notesSlide5.xml" Type="http://schemas.openxmlformats.org/officeDocument/2006/relationships/notesSlide"/><Relationship Id="rId26" Target="notesSlides/notesSlide6.xml" Type="http://schemas.openxmlformats.org/officeDocument/2006/relationships/notesSlide"/><Relationship Id="rId27" Target="notesSlides/notesSlide7.xml" Type="http://schemas.openxmlformats.org/officeDocument/2006/relationships/notesSlide"/><Relationship Id="rId28" Target="notesSlides/notesSlide8.xml" Type="http://schemas.openxmlformats.org/officeDocument/2006/relationships/notesSlide"/><Relationship Id="rId29" Target="notesSlides/notesSlide9.xml" Type="http://schemas.openxmlformats.org/officeDocument/2006/relationships/notesSlide"/><Relationship Id="rId3" Target="presProps.xml" Type="http://schemas.openxmlformats.org/officeDocument/2006/relationships/presProps"/><Relationship Id="rId30" Target="notesSlides/notesSlide10.xml" Type="http://schemas.openxmlformats.org/officeDocument/2006/relationships/notesSlide"/><Relationship Id="rId31" Target="notesSlides/notesSlide11.xml" Type="http://schemas.openxmlformats.org/officeDocument/2006/relationships/notesSlide"/><Relationship Id="rId32" Target="notesSlides/notesSlide12.xml" Type="http://schemas.openxmlformats.org/officeDocument/2006/relationships/notesSlide"/><Relationship Id="rId4" Target="slideMasters/slideMaster1.xml" Type="http://schemas.openxmlformats.org/officeDocument/2006/relationships/slideMaster"/><Relationship Id="rId6" Target="notesMasters/notesMaster1.xml" Type="http://schemas.openxmlformats.org/officeDocument/2006/relationships/notesMaster"/><Relationship Id="rId7" Target="theme/theme2.xml" Type="http://schemas.openxmlformats.org/officeDocument/2006/relationships/theme"/><Relationship Id="rId8" Target="slideMasters/slideMaster2.xml" Type="http://schemas.openxmlformats.org/officeDocument/2006/relationships/slideMaster"/><Relationship Id="rId9" Target="slides/slide1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_rels/notesSlide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_rels/notesSlide1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0.xml" Type="http://schemas.openxmlformats.org/officeDocument/2006/relationships/slide"/></Relationships>
</file>

<file path=ppt/notesSlides/_rels/notesSlide1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1.xml" Type="http://schemas.openxmlformats.org/officeDocument/2006/relationships/slide"/></Relationships>
</file>

<file path=ppt/notesSlides/_rels/notesSlide1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2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各位面试官好，今天我要分享的项目是呆滞料报告智能体。这是一个计划驱动的多Agent库存分析系统，能够自动完成从行业判断、库存取数、指标计算、根因分析到报告交付的全链路工作。底层使用的是doubao-1-5-pro-32k模型。接下来我会从为什么做、怎么做两个维度展开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本次分享分为两个部分。第一部分讲清楚什么是呆滞料报告智能体，以及为什么需要它，包括业务痛点和项目目标。第二部分深入方法论和实现流程，重点讲解通用研究图的全链路架构，六大Agent如何协作，以及呆滞分析的核心业务逻辑。整个系统的核心主线是以Plan为中枢，驱动多Agent串行协作，自动交付呆滞库存分析报告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首先明确什么是呆滞料报告智能体。它的本质是一个计划驱动的多Agent分析系统，面向企业库存治理场景。核心设计理念是以Plan状态作为中枢，自动串联五个关键环节：第一是行业自动判断，用LLM识别企业所属行业，匹配对应的呆滞分类阈值标准；第二是库存取数与指标计算，从Nebula数据库取库存明细，自动清洗聚合；第三是根因分析与处理建议，并发检测多种可能根因，基于规则引擎生成建议；第四是报告自动交付，一键生成Markdown报告、洞察摘要和带ECharts图表的HTML页面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接下来讲为什么需要这个智能体。传统人工模式有三个核心痛点：第一是数据分散，库存数据散落在多个业务系统中，呆滞识别需要分析师跨系统手工取数、拼接、清洗，非常耗时；第二是根因定位高度依赖个人经验，不同分析师给出的结论质量参差不齐，难以标准化；第三是报告编制周期长，从取数到成稿通常需要数天时间，导致库存治理决策响应滞后。针对这些痛点，我们的目标是构建一个计划驱动的多Agent分析系统，自动完成行业判断、库存取数、指标计算、根因分析和报告交付这五大环节，把分析周期从数天压缩到分钟级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进入第二部分，先看项目总览。整个系统设计了三条端到端的分析路径：第一条是运营库存图，面向企业内部运营库存数据，聚焦日常库存周转与呆滞监控；第二条是上市公司图，基于公开财报数据分析上市公司库存健康度，辅助投研决策；第三条是通用研究图，这是最为全面、也是最重要的一条路径，覆盖了完整的多Agent协作链路，支持任意企业的呆滞料深度研究与报告生成。接下来我会重点展开通用研究图的方法论与实现流程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这是通用研究图的完整端到端流程，也是整个系统最核心的架构。流程从START开始，首先进入Coordinator做意图分发，判断是简单问题直接回复，还是研究类请求需要进入规划。接着是Background Investigator做行业判断，用LLM判定企业所属行业，匹配对应的呆滞分类阈值写入State。然后进入Planner，这是整个系统的核心中枢，负责生成Plan和Steps，用户确认后进入执行。Research Team是调度执行层，包含三个Agent：Researcher负责资料检索，Coder负责数据取数和指标计算，Inventory Analysis调用封装好的呆滞分析Workflow。所有步骤完成后回传Planner，判断信息是否足够，足够则进入Reporter整理成Markdown，再由Insight Reporter生成洞察摘要和带ECharts图表的HTML页面，最后END。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前置阶段包含两个Agent。第一个是Coordinator，本质是一个LLM路由器，负责判断用户query的类型：是打招呼、需要补充信息，还是研究类请求。它绑定了一个handoff_to_planner工具，作用是让模型结构化地表达研究主题和语言。Coordinator的决策只有两类：简单问题直接生成文本回复，研究类请求且开启背景调查则进入下一环节。第二个是Background Investigator，本质是一个LLM行业分类器。它的输入是候选行业列表加用户需求，输出是最匹配的单一行业。然后通过行业规则表得到对应的呆滞分类阈值，比如电子高科技行业原材料180天、半成品60天、成品90天，这些阈值会写入State，供后续的Inventory Analysis环节使用。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Planner是整个系统的核心中枢，Plan状态是DeepResearch的关键。我们定义了两个Pydantic模型：Plan和Step。Plan包含locale输出语言、has_enough_context信息是否足够、thought需求重述与规划理由、title总任务标题、以及steps步骤列表。每个Step包含need_search是否需要检索、step_type类型（research/processing/inventory_analysis三种）、以及execution_res执行结果（初始为空）。计划生成过程是：输入用户主题加行业背景加现有observations加max_step_num，经过PlannerLLM生成JSON，再经过repair_json_output修复，最后用Plan.model_validate校验。Planner的上下文由三部分组成：系统提示词（规划规则、JSON格式、配置）、state历史消息（用户问题和各Agent结果）、以及背景调查结果。如果Planner认为信息足够，has_enough_context设为True，直接进入Reporter；否则生成新计划覆盖旧计划，但已执行结果保留在observations中供Planner参考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Research Team是真正的调度器。调度算法很清晰：找到steps中第一个execution_res为空的步骤，然后按step_type路由到对应的Agent——research类型路由到Researcher，processing类型路由到Coder，inventory_analysis类型路由到Inventory Analysis。三个Agent各有分工：Researcher负责查资料和整理事实，根据已确定的企业和行业收集库存定义、行业背景和分析口径，默认绑定get_inventory_data_tool，也可配置搜索或RAG工具；Coder是数据访问Agent，负责表格取数、数据清洗、聚合、pandas处理和指标计算，同样绑定get_inventory_data_tool；Inventory Analysis则调用我们封装好的呆滞分析Workflow，根据Coder取数得到的指标进行呆滞分析，绑定inventory_workflow_tool。每个Agent本质都是ReAct Agent，运行时组装计划标题加已完成step结果加当前step标题描述加agent专属提示成请求，然后进行多次LLM调用，当输出不含tool_calls时终止，结果写入execution_res和observations。所有步骤完成后回传Planner。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交付阶段包含两个节点。第一个是Reporter，它的输入是plan的title和thought、observations中每个Agent的阶段性结果、以及reporter.md的格式要求。输出是final_report，同时写入markdown_result目录下的{thread_id}.md文件。Reporter的定位很清晰，它是"证据整理和文档写作"节点，不负责重新查询数据库，也不负责决定计划。如果observations缺少数据，Prompt会要求标注信息不足，而不是凭空补数据。第二个是Insight Reporter，它做两件事：先读取final_report，调用LLM生成短版洞察写入insight_report_result；然后读取Markdown文件，使用ConvertToHtmlFunc完成HTML生成。图表生成实际上就是在这个转换阶段完成的，整个流程是：读取Markdown、识别标题和章节、LLM生成HTML页面框架（左侧导航、Font Awesome美化、CSS、ECharts库引用）、为每个章节生成HTML内容、LLM根据章节数据生成图表容器和JavaScript、最后合并所有章节保存final.html。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最后讲呆滞分析的业务逻辑。整个分析流程分七步：第一步读取State中的企业、行业和分析标准；第二步从Nebula数据库取数，查库存明细和历史数据；第三步按行业标准判断哪些数据属于呆滞库存；第四步计算各种指标，包括呆滞金额、占比、趋势、周转率等；第五步并发检测多种可能的根因；第六步根据根因结果生成处理建议；第七步汇总结果。这里有一个关键的设计决策：处理建议和结果汇总都不调用LLM，而是用规则引擎实现。处理建议是根据根因结果，用人为定义好的if-else规则直接给出；结果汇总就是直接拼接各环节输出。这样做的好处是保证结果的确定性和可复现性，避免LLM生成的不确定性和幻觉问题，同时也降低了延迟和成本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最后做一个总结。呆滞料报告智能体的核心价值是"计划驱动，多Agent协作"，把呆滞库存分析从行业判断到报告交付的全链路实现了自动化。具体体现在两个方面：第一是分析周期从数天压缩到分钟级，自动串联行业判断、取数、计算、根因分析和报告交付，消除了人工串联的瓶颈；第二是分析质量标准化、可复现，用规则引擎替代个人经验判断，结果确定可追溯。关键设计亮点有三个：一是以Plan状态为中枢的闭环调度，Planner生成计划、Agent执行、回传判断、迭代或交付；二是LLM与规则引擎分层协作，LLM负责规划和写作，规则引擎负责计算和建议，各司其职；三是ReAct Agent按step_type路由，Researcher、Coder、Inventory Analysis三个Agent各司其职。以上就是呆滞料报告智能体的完整分享，谢谢各位面试官。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2.xml.rels><?xml version="1.0" encoding="UTF-8" standalone="yes"?><Relationships xmlns="http://schemas.openxmlformats.org/package/2006/relationships"><Relationship Id="rId1" Target="../slideMasters/slideMaster2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幻灯片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" name="Shape 31"/>
          <p:cNvSpPr txBox="1"/>
          <p:nvPr>
            <p:ph idx="1" type="subTitle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4" name="Shape 32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" name="Shape 33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" name="Shape 34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和内容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" name="Shape 55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0" name="Shape 5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1" name="Shape 5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2" name="Shape 5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节标题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/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5" name="Shape 60"/>
          <p:cNvSpPr txBox="1"/>
          <p:nvPr>
            <p:ph idx="1" type="body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Shape 6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7" name="Shape 6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8" name="Shape 6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两栏内容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1" name="Shape 10"/>
          <p:cNvSpPr txBox="1"/>
          <p:nvPr>
            <p:ph idx="1" type="body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2" name="Shape 11"/>
          <p:cNvSpPr txBox="1"/>
          <p:nvPr>
            <p:ph idx="2" type="body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3" name="Shape 12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4" name="Shape 13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5" name="Shape 14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比较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/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8" name="Shape 36"/>
          <p:cNvSpPr txBox="1"/>
          <p:nvPr>
            <p:ph idx="1" type="body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39" name="Shape 37"/>
          <p:cNvSpPr txBox="1"/>
          <p:nvPr>
            <p:ph idx="2" type="body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0" name="Shape 38"/>
          <p:cNvSpPr txBox="1"/>
          <p:nvPr>
            <p:ph idx="3" type="body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41" name="Shape 39"/>
          <p:cNvSpPr txBox="1"/>
          <p:nvPr>
            <p:ph idx="4" type="body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2" name="Shape 40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3" name="Shape 41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4" name="Shape 42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仅标题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7" name="Shape 2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8" name="Shape 2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9" name="Shape 2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空白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2" name="Shape 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3" name="Shape 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内容与标题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6" name="Shape 44"/>
          <p:cNvSpPr txBox="1"/>
          <p:nvPr>
            <p:ph idx="1" type="body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810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6195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2385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indent="-32385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indent="-32385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57" name="Shape 45"/>
          <p:cNvSpPr txBox="1"/>
          <p:nvPr>
            <p:ph idx="2" type="body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58" name="Shape 4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Shape 4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Shape 4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图片与标题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3" name="Shape 25"/>
          <p:cNvSpPr/>
          <p:nvPr>
            <p:ph idx="2" type="pic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/>
          <p:nvPr>
            <p:ph idx="1" type="body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65" name="Shape 27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6" name="Shape 28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Shape 29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和竖排文字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Shape 50"/>
          <p:cNvSpPr txBox="1"/>
          <p:nvPr>
            <p:ph idx="1" type="body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1" name="Shape 5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2" name="Shape 5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" name="Shape 5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竖排标题与文本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/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Shape 16"/>
          <p:cNvSpPr txBox="1"/>
          <p:nvPr>
            <p:ph idx="1" type="body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7" name="Shape 17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8" name="Shape 18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9" name="Shape 19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_rels/slideMaster2.xml.rels><?xml version="1.0" encoding="UTF-8" standalone="yes"?><Relationships xmlns="http://schemas.openxmlformats.org/package/2006/relationships"><Relationship Id="rId1" Target="../theme/theme3.xml" Type="http://schemas.openxmlformats.org/officeDocument/2006/relationships/theme"/><Relationship Id="rId2" Target="../slideLayouts/slideLayout12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b="0" i="0" sz="3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7" name="Shape 2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Shape 3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Shape 4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Shape 5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默认主题">
    <p:bg>
      <p:bgPr>
        <a:solidFill>
          <a:srgbClr val="FFFFFF">
            <a:alpha val="100000"/>
          </a:srgbClr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57483699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notesSlides/notesSlide1.xml" Type="http://schemas.openxmlformats.org/officeDocument/2006/relationships/notesSlide"/></Relationships>
</file>

<file path=ppt/slides/_rels/slide2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2.xml" Type="http://schemas.openxmlformats.org/officeDocument/2006/relationships/notesSlide"/></Relationships>
</file>

<file path=ppt/slides/_rels/slide3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10" Target="../notesSlides/notesSlide3.xml" Type="http://schemas.openxmlformats.org/officeDocument/2006/relationships/notesSlide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Relationship Id="rId6" Target="../media/image7.png" Type="http://schemas.openxmlformats.org/officeDocument/2006/relationships/image"/><Relationship Id="rId7" Target="../media/image8.svg" Type="http://schemas.openxmlformats.org/officeDocument/2006/relationships/image"/><Relationship Id="rId8" Target="../media/image9.png" Type="http://schemas.openxmlformats.org/officeDocument/2006/relationships/image"/><Relationship Id="rId9" Target="../media/image10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4.xml" Type="http://schemas.openxmlformats.org/officeDocument/2006/relationships/notesSlide"/></Relationships>
</file>

<file path=ppt/slides/_rels/slide5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5.xml" Type="http://schemas.openxmlformats.org/officeDocument/2006/relationships/notesSlide"/></Relationships>
</file>

<file path=ppt/slides/_rels/slide6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6.xml" Type="http://schemas.openxmlformats.org/officeDocument/2006/relationships/notesSlide"/></Relationships>
</file>

<file path=ppt/slides/_rels/slide7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11.png" Type="http://schemas.openxmlformats.org/officeDocument/2006/relationships/image"/><Relationship Id="rId3" Target="../media/image12.svg" Type="http://schemas.openxmlformats.org/officeDocument/2006/relationships/image"/><Relationship Id="rId4" Target="../media/image13.png" Type="http://schemas.openxmlformats.org/officeDocument/2006/relationships/image"/><Relationship Id="rId5" Target="../media/image14.svg" Type="http://schemas.openxmlformats.org/officeDocument/2006/relationships/image"/><Relationship Id="rId6" Target="../notesSlides/notesSlide7.xml" Type="http://schemas.openxmlformats.org/officeDocument/2006/relationships/notesSlide"/></Relationships>
</file>

<file path=ppt/slides/_rels/slide8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8.xml" Type="http://schemas.openxmlformats.org/officeDocument/2006/relationships/notesSlide"/></Relationships>
</file>

<file path=ppt/slides/_rels/slide9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15.png" Type="http://schemas.openxmlformats.org/officeDocument/2006/relationships/image"/><Relationship Id="rId3" Target="../media/image16.svg" Type="http://schemas.openxmlformats.org/officeDocument/2006/relationships/image"/><Relationship Id="rId4" Target="../media/image17.png" Type="http://schemas.openxmlformats.org/officeDocument/2006/relationships/image"/><Relationship Id="rId5" Target="../media/image18.svg" Type="http://schemas.openxmlformats.org/officeDocument/2006/relationships/image"/><Relationship Id="rId6" Target="../media/image19.png" Type="http://schemas.openxmlformats.org/officeDocument/2006/relationships/image"/><Relationship Id="rId7" Target="../media/image20.svg" Type="http://schemas.openxmlformats.org/officeDocument/2006/relationships/image"/><Relationship Id="rId8" Target="../notesSlides/notesSlide9.xml" Type="http://schemas.openxmlformats.org/officeDocument/2006/relationships/notesSlide"/></Relationships>
</file>

<file path=ppt/slides/_rels/slide10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21.png" Type="http://schemas.openxmlformats.org/officeDocument/2006/relationships/image"/><Relationship Id="rId3" Target="../media/image22.svg" Type="http://schemas.openxmlformats.org/officeDocument/2006/relationships/image"/><Relationship Id="rId4" Target="../media/image23.png" Type="http://schemas.openxmlformats.org/officeDocument/2006/relationships/image"/><Relationship Id="rId5" Target="../media/image24.svg" Type="http://schemas.openxmlformats.org/officeDocument/2006/relationships/image"/><Relationship Id="rId6" Target="../notesSlides/notesSlide10.xml" Type="http://schemas.openxmlformats.org/officeDocument/2006/relationships/notesSlide"/></Relationships>
</file>

<file path=ppt/slides/_rels/slide11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11.xml" Type="http://schemas.openxmlformats.org/officeDocument/2006/relationships/notesSlide"/></Relationships>
</file>

<file path=ppt/slides/_rels/slide12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25.png" Type="http://schemas.openxmlformats.org/officeDocument/2006/relationships/image"/><Relationship Id="rId3" Target="../media/image26.svg" Type="http://schemas.openxmlformats.org/officeDocument/2006/relationships/image"/><Relationship Id="rId4" Target="../notesSlides/notesSlide12.xml" Type="http://schemas.openxmlformats.org/officeDocument/2006/relationships/notesSlide"/><Relationship Id="rId5" Target="../media/image27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D1326">
                <a:alpha val="100000"/>
              </a:srgbClr>
            </a:gs>
            <a:gs pos="60000">
              <a:srgbClr val="141E3C">
                <a:alpha val="100000"/>
              </a:srgbClr>
            </a:gs>
            <a:gs pos="100000">
              <a:srgbClr val="2563EB">
                <a:alpha val="100000"/>
              </a:srgbClr>
            </a:gs>
          </a:gsLst>
          <a:lin ang="27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76200" cy="6858000"/>
          </a:xfrm>
          <a:prstGeom prst="roundRect">
            <a:avLst>
              <a:gd name="adj" fmla="val 0"/>
            </a:avLst>
          </a:prstGeom>
          <a:solidFill>
            <a:srgbClr val="2563EB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1016000" y="1524000"/>
            <a:ext cx="8890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600">
                <a:solidFill>
                  <a:srgbClr val="BFD7FF"/>
                </a:solidFill>
                <a:latin typeface="Noto Sans SC"/>
                <a:ea typeface="Noto Sans SC"/>
                <a:cs typeface="Noto Sans SC"/>
                <a:sym typeface="Noto Sans SC"/>
              </a:rPr>
              <a:t>INTERVIEW STORY · AI AGENT SYSTEM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1016000" y="2286000"/>
            <a:ext cx="10160000" cy="152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56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呆滞料报告智能体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1016000" y="3937000"/>
            <a:ext cx="9652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400">
                <a:solidFill>
                  <a:srgbClr val="BFD7FF"/>
                </a:solidFill>
                <a:latin typeface="Noto Sans SC"/>
                <a:ea typeface="Noto Sans SC"/>
                <a:cs typeface="Noto Sans SC"/>
                <a:sym typeface="Noto Sans SC"/>
              </a:rPr>
              <a:t>计划驱动的多Agent库存分析系统</a:t>
            </a:r>
            <a:endParaRPr lang="en-US" sz="1100"/>
          </a:p>
        </p:txBody>
      </p:sp>
      <p:cxnSp>
        <p:nvCxnSpPr>
          <p:cNvPr name="Connector 6" id="6"/>
          <p:cNvCxnSpPr/>
          <p:nvPr/>
        </p:nvCxnSpPr>
        <p:spPr>
          <a:xfrm rot="-28647" flipH="false" flipV="false">
            <a:off x="1016026" y="4819650"/>
            <a:ext cx="1524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38100" cmpd="sng" cap="flat">
            <a:solidFill>
              <a:srgbClr val="2563EB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name="AutoShape 7" id="7"/>
          <p:cNvSpPr/>
          <p:nvPr/>
        </p:nvSpPr>
        <p:spPr>
          <a:xfrm rot="0" flipH="false" flipV="false">
            <a:off x="1016000" y="5080000"/>
            <a:ext cx="7620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500">
                <a:solidFill>
                  <a:srgbClr val="A0B4DC"/>
                </a:solidFill>
                <a:latin typeface="Noto Sans SC"/>
                <a:ea typeface="Noto Sans SC"/>
                <a:cs typeface="Noto Sans SC"/>
                <a:sym typeface="Noto Sans SC"/>
              </a:rPr>
              <a:t>从行业判断到根因分析，自动完成呆滞库存全链路报告交付</a:t>
            </a:r>
            <a:endParaRPr lang="en-US" sz="1100"/>
          </a:p>
        </p:txBody>
      </p:sp>
      <p:pic>
        <p:nvPicPr>
          <p:cNvPr name="Picture 8" id="8"/>
          <p:cNvPicPr>
            <a:picLocks noChangeAspect="true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0" flipH="false" flipV="false">
            <a:off x="9906000" y="2286000"/>
            <a:ext cx="1270000" cy="1270000"/>
          </a:xfrm>
          <a:prstGeom prst="rect">
            <a:avLst/>
          </a:prstGeom>
        </p:spPr>
      </p:pic>
      <p:sp>
        <p:nvSpPr>
          <p:cNvPr name="AutoShape 9" id="9"/>
          <p:cNvSpPr/>
          <p:nvPr/>
        </p:nvSpPr>
        <p:spPr>
          <a:xfrm rot="0" flipH="false" flipV="false">
            <a:off x="1016000" y="6223000"/>
            <a:ext cx="5080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788CB4"/>
                </a:solidFill>
                <a:latin typeface="Noto Sans SC"/>
                <a:ea typeface="Noto Sans SC"/>
                <a:cs typeface="Noto Sans SC"/>
                <a:sym typeface="Noto Sans SC"/>
              </a:rPr>
              <a:t>Base Model: doubao-1-5-pro-32k-250115</a:t>
            </a:r>
            <a:endParaRPr lang="en-US" sz="1100"/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bg>
      <p:bgPr>
        <a:solidFill>
          <a:srgbClr val="F2F4F8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76200"/>
          </a:xfrm>
          <a:prstGeom prst="roundRect">
            <a:avLst>
              <a:gd name="adj" fmla="val 0"/>
            </a:avLst>
          </a:prstGeom>
          <a:solidFill>
            <a:srgbClr val="0D1326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1016000" y="635000"/>
            <a:ext cx="2540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2563EB"/>
                </a:solidFill>
                <a:latin typeface="Noto Sans SC"/>
                <a:ea typeface="Noto Sans SC"/>
                <a:cs typeface="Noto Sans SC"/>
                <a:sym typeface="Noto Sans SC"/>
              </a:rPr>
              <a:t>CONTENTS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1016000" y="1016000"/>
            <a:ext cx="5080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目录</a:t>
            </a:r>
            <a:endParaRPr lang="en-US" sz="1100"/>
          </a:p>
        </p:txBody>
      </p:sp>
      <p:cxnSp>
        <p:nvCxnSpPr>
          <p:cNvPr name="Connector 5" id="5"/>
          <p:cNvCxnSpPr/>
          <p:nvPr/>
        </p:nvCxnSpPr>
        <p:spPr>
          <a:xfrm rot="-4297" flipH="false" flipV="false">
            <a:off x="1016004" y="1835150"/>
            <a:ext cx="1016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C8D0D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6" id="6"/>
          <p:cNvSpPr/>
          <p:nvPr/>
        </p:nvSpPr>
        <p:spPr>
          <a:xfrm rot="0" flipH="false" flipV="false">
            <a:off x="1016000" y="2286000"/>
            <a:ext cx="15240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6400">
                <a:solidFill>
                  <a:srgbClr val="2563EB"/>
                </a:solidFill>
                <a:latin typeface="Noto Sans SC"/>
                <a:ea typeface="Noto Sans SC"/>
                <a:cs typeface="Noto Sans SC"/>
                <a:sym typeface="Noto Sans SC"/>
              </a:rPr>
              <a:t>01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2794000" y="2349500"/>
            <a:ext cx="7620000" cy="571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600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什么是呆滞料报告智能体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2794000" y="2921000"/>
            <a:ext cx="7620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500">
                <a:solidFill>
                  <a:srgbClr val="536174"/>
                </a:solidFill>
                <a:latin typeface="Noto Sans SC"/>
                <a:ea typeface="Noto Sans SC"/>
                <a:cs typeface="Noto Sans SC"/>
                <a:sym typeface="Noto Sans SC"/>
              </a:rPr>
              <a:t>定义与定位 · 业务痛点 · 项目目标</a:t>
            </a:r>
            <a:endParaRPr lang="en-US" sz="1100"/>
          </a:p>
        </p:txBody>
      </p:sp>
      <p:cxnSp>
        <p:nvCxnSpPr>
          <p:cNvPr name="Connector 9" id="9"/>
          <p:cNvCxnSpPr/>
          <p:nvPr/>
        </p:nvCxnSpPr>
        <p:spPr>
          <a:xfrm rot="-4297" flipH="false" flipV="false">
            <a:off x="1016004" y="3676650"/>
            <a:ext cx="1016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DCE2EB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10" id="10"/>
          <p:cNvSpPr/>
          <p:nvPr/>
        </p:nvSpPr>
        <p:spPr>
          <a:xfrm rot="0" flipH="false" flipV="false">
            <a:off x="1016000" y="4064000"/>
            <a:ext cx="15240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6400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02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2794000" y="4127500"/>
            <a:ext cx="7620000" cy="571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600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方法论与实现流程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2794000" y="4699000"/>
            <a:ext cx="7620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500">
                <a:solidFill>
                  <a:srgbClr val="536174"/>
                </a:solidFill>
                <a:latin typeface="Noto Sans SC"/>
                <a:ea typeface="Noto Sans SC"/>
                <a:cs typeface="Noto Sans SC"/>
                <a:sym typeface="Noto Sans SC"/>
              </a:rPr>
              <a:t>通用研究图全链路 · 六大Agent协作 · 呆滞分析业务逻辑</a:t>
            </a:r>
            <a:endParaRPr lang="en-US" sz="1100"/>
          </a:p>
        </p:txBody>
      </p:sp>
      <p:cxnSp>
        <p:nvCxnSpPr>
          <p:cNvPr name="Connector 13" id="13"/>
          <p:cNvCxnSpPr/>
          <p:nvPr/>
        </p:nvCxnSpPr>
        <p:spPr>
          <a:xfrm rot="-4297" flipH="false" flipV="false">
            <a:off x="1016004" y="5454650"/>
            <a:ext cx="1016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DCE2EB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14" id="14"/>
          <p:cNvSpPr/>
          <p:nvPr/>
        </p:nvSpPr>
        <p:spPr>
          <a:xfrm rot="0" flipH="false" flipV="false">
            <a:off x="1016000" y="5969000"/>
            <a:ext cx="10160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788496"/>
                </a:solidFill>
                <a:latin typeface="Noto Sans SC"/>
                <a:ea typeface="Noto Sans SC"/>
                <a:cs typeface="Noto Sans SC"/>
                <a:sym typeface="Noto Sans SC"/>
              </a:rPr>
              <a:t>核心主线：以Plan为中枢，驱动多Agent串行协作，自动交付呆滞库存分析报告</a:t>
            </a:r>
            <a:endParaRPr lang="en-US" sz="1100"/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2F4F8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76200"/>
          </a:xfrm>
          <a:prstGeom prst="roundRect">
            <a:avLst>
              <a:gd name="adj" fmla="val 0"/>
            </a:avLst>
          </a:prstGeom>
          <a:solidFill>
            <a:srgbClr val="0D1326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1016000" y="508000"/>
            <a:ext cx="1270000" cy="317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300">
                <a:solidFill>
                  <a:srgbClr val="2563EB"/>
                </a:solidFill>
                <a:latin typeface="Noto Sans SC"/>
                <a:ea typeface="Noto Sans SC"/>
                <a:cs typeface="Noto Sans SC"/>
                <a:sym typeface="Noto Sans SC"/>
              </a:rPr>
              <a:t>PART 01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1016000" y="825500"/>
            <a:ext cx="10160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000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什么是呆滞料报告智能体</a:t>
            </a:r>
            <a:endParaRPr lang="en-US" sz="1100"/>
          </a:p>
        </p:txBody>
      </p:sp>
      <p:cxnSp>
        <p:nvCxnSpPr>
          <p:cNvPr name="Connector 5" id="5"/>
          <p:cNvCxnSpPr/>
          <p:nvPr/>
        </p:nvCxnSpPr>
        <p:spPr>
          <a:xfrm rot="-4297" flipH="false" flipV="false">
            <a:off x="1016004" y="1581150"/>
            <a:ext cx="1016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C8D0D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6" id="6"/>
          <p:cNvSpPr/>
          <p:nvPr/>
        </p:nvSpPr>
        <p:spPr>
          <a:xfrm rot="0" flipH="false" flipV="false">
            <a:off x="1016000" y="1968500"/>
            <a:ext cx="4826000" cy="4064000"/>
          </a:xfrm>
          <a:prstGeom prst="roundRect">
            <a:avLst>
              <a:gd name="adj" fmla="val 0"/>
            </a:avLst>
          </a:prstGeom>
          <a:solidFill>
            <a:srgbClr val="0D1326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1397000" y="2286000"/>
            <a:ext cx="4064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300">
                <a:solidFill>
                  <a:srgbClr val="BFD7FF"/>
                </a:solidFill>
                <a:latin typeface="Noto Sans SC"/>
                <a:ea typeface="Noto Sans SC"/>
                <a:cs typeface="Noto Sans SC"/>
                <a:sym typeface="Noto Sans SC"/>
              </a:rPr>
              <a:t>DEFINITION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1397000" y="2730500"/>
            <a:ext cx="4064000" cy="1270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true" i="false" strike="noStrike" u="none" sz="24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计划驱动的</a:t>
            </a:r>
            <a:endParaRPr lang="en-US" sz="1100"/>
          </a:p>
          <a:p>
            <a:pPr algn="l" marL="0" indent="0">
              <a:lnSpc>
                <a:spcPct val="116666"/>
              </a:lnSpc>
            </a:pPr>
            <a:r>
              <a:rPr lang="en-US" b="true" i="false" strike="noStrike" u="none" sz="24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多Agent分析系统</a:t>
            </a:r>
          </a:p>
        </p:txBody>
      </p:sp>
      <p:cxnSp>
        <p:nvCxnSpPr>
          <p:cNvPr name="Connector 9" id="9"/>
          <p:cNvCxnSpPr/>
          <p:nvPr/>
        </p:nvCxnSpPr>
        <p:spPr>
          <a:xfrm rot="-49107" flipH="false" flipV="false">
            <a:off x="1397045" y="4184650"/>
            <a:ext cx="889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mpd="sng" cap="flat">
            <a:solidFill>
              <a:srgbClr val="2563EB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name="AutoShape 10" id="10"/>
          <p:cNvSpPr/>
          <p:nvPr/>
        </p:nvSpPr>
        <p:spPr>
          <a:xfrm rot="0" flipH="false" flipV="false">
            <a:off x="1397000" y="4445000"/>
            <a:ext cx="4064000" cy="1397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33333"/>
              </a:lnSpc>
              <a:defRPr/>
            </a:pPr>
            <a:r>
              <a:rPr lang="en-US" b="false" i="false" strike="noStrike" u="none" sz="1400">
                <a:solidFill>
                  <a:srgbClr val="B4C3E1"/>
                </a:solidFill>
                <a:latin typeface="Noto Sans SC"/>
                <a:ea typeface="Noto Sans SC"/>
                <a:cs typeface="Noto Sans SC"/>
                <a:sym typeface="Noto Sans SC"/>
              </a:rPr>
              <a:t>面向企业库存治理场景，以Plan状态为中枢，自动串联行业判断、库存取数、指标计算、根因分析与报告交付的全链路智能分析系统。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6350000" y="2032000"/>
            <a:ext cx="4826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300">
                <a:solidFill>
                  <a:srgbClr val="2563EB"/>
                </a:solidFill>
                <a:latin typeface="Noto Sans SC"/>
                <a:ea typeface="Noto Sans SC"/>
                <a:cs typeface="Noto Sans SC"/>
                <a:sym typeface="Noto Sans SC"/>
              </a:rPr>
              <a:t>CORE CAPABILITIES</a:t>
            </a:r>
            <a:endParaRPr lang="en-US" sz="1100"/>
          </a:p>
        </p:txBody>
      </p:sp>
      <p:pic>
        <p:nvPicPr>
          <p:cNvPr name="Picture 12" id="12"/>
          <p:cNvPicPr>
            <a:picLocks noChangeAspect="true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0" flipH="false" flipV="false">
            <a:off x="6350000" y="2603500"/>
            <a:ext cx="355600" cy="355600"/>
          </a:xfrm>
          <a:prstGeom prst="rect">
            <a:avLst/>
          </a:prstGeom>
        </p:spPr>
      </p:pic>
      <p:sp>
        <p:nvSpPr>
          <p:cNvPr name="AutoShape 13" id="13"/>
          <p:cNvSpPr/>
          <p:nvPr/>
        </p:nvSpPr>
        <p:spPr>
          <a:xfrm rot="0" flipH="false" flipV="false">
            <a:off x="6858000" y="2540000"/>
            <a:ext cx="4318000" cy="317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行业自动判断</a:t>
            </a:r>
            <a:endParaRPr lang="en-US" sz="1100"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6858000" y="2857500"/>
            <a:ext cx="4318000" cy="317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300">
                <a:solidFill>
                  <a:srgbClr val="536174"/>
                </a:solidFill>
                <a:latin typeface="Noto Sans SC"/>
                <a:ea typeface="Noto Sans SC"/>
                <a:cs typeface="Noto Sans SC"/>
                <a:sym typeface="Noto Sans SC"/>
              </a:rPr>
              <a:t>LLM识别企业所属行业，匹配呆滞分类阈值标准</a:t>
            </a:r>
            <a:endParaRPr lang="en-US" sz="1100"/>
          </a:p>
        </p:txBody>
      </p:sp>
      <p:pic>
        <p:nvPicPr>
          <p:cNvPr name="Picture 15" id="15"/>
          <p:cNvPicPr>
            <a:picLocks noChangeAspect="true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0" flipH="false" flipV="false">
            <a:off x="6350000" y="3429000"/>
            <a:ext cx="355600" cy="355600"/>
          </a:xfrm>
          <a:prstGeom prst="rect">
            <a:avLst/>
          </a:prstGeom>
        </p:spPr>
      </p:pic>
      <p:sp>
        <p:nvSpPr>
          <p:cNvPr name="AutoShape 16" id="16"/>
          <p:cNvSpPr/>
          <p:nvPr/>
        </p:nvSpPr>
        <p:spPr>
          <a:xfrm rot="0" flipH="false" flipV="false">
            <a:off x="6858000" y="3365500"/>
            <a:ext cx="4318000" cy="317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库存取数与指标计算</a:t>
            </a:r>
            <a:endParaRPr lang="en-US" sz="1100"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6858000" y="3683000"/>
            <a:ext cx="4318000" cy="317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300">
                <a:solidFill>
                  <a:srgbClr val="536174"/>
                </a:solidFill>
                <a:latin typeface="Noto Sans SC"/>
                <a:ea typeface="Noto Sans SC"/>
                <a:cs typeface="Noto Sans SC"/>
                <a:sym typeface="Noto Sans SC"/>
              </a:rPr>
              <a:t>从Nebula取库存明细，自动清洗聚合计算呆滞指标</a:t>
            </a:r>
            <a:endParaRPr lang="en-US" sz="1100"/>
          </a:p>
        </p:txBody>
      </p:sp>
      <p:pic>
        <p:nvPicPr>
          <p:cNvPr name="Picture 18" id="18"/>
          <p:cNvPicPr>
            <a:picLocks noChangeAspect="true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0" flipH="false" flipV="false">
            <a:off x="6350000" y="4254500"/>
            <a:ext cx="355600" cy="355600"/>
          </a:xfrm>
          <a:prstGeom prst="rect">
            <a:avLst/>
          </a:prstGeom>
        </p:spPr>
      </p:pic>
      <p:sp>
        <p:nvSpPr>
          <p:cNvPr name="AutoShape 19" id="19"/>
          <p:cNvSpPr/>
          <p:nvPr/>
        </p:nvSpPr>
        <p:spPr>
          <a:xfrm rot="0" flipH="false" flipV="false">
            <a:off x="6858000" y="4191000"/>
            <a:ext cx="4318000" cy="317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根因分析与处理建议</a:t>
            </a:r>
            <a:endParaRPr lang="en-US" sz="1100"/>
          </a:p>
        </p:txBody>
      </p:sp>
      <p:sp>
        <p:nvSpPr>
          <p:cNvPr name="AutoShape 20" id="20"/>
          <p:cNvSpPr/>
          <p:nvPr/>
        </p:nvSpPr>
        <p:spPr>
          <a:xfrm rot="0" flipH="false" flipV="false">
            <a:off x="6858000" y="4508500"/>
            <a:ext cx="4318000" cy="317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300">
                <a:solidFill>
                  <a:srgbClr val="536174"/>
                </a:solidFill>
                <a:latin typeface="Noto Sans SC"/>
                <a:ea typeface="Noto Sans SC"/>
                <a:cs typeface="Noto Sans SC"/>
                <a:sym typeface="Noto Sans SC"/>
              </a:rPr>
              <a:t>并发检测多种根因，基于规则引擎生成可执行建议</a:t>
            </a:r>
            <a:endParaRPr lang="en-US" sz="1100"/>
          </a:p>
        </p:txBody>
      </p:sp>
      <p:pic>
        <p:nvPicPr>
          <p:cNvPr name="Picture 21" id="21"/>
          <p:cNvPicPr>
            <a:picLocks noChangeAspect="true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 rot="0" flipH="false" flipV="false">
            <a:off x="6350000" y="5080000"/>
            <a:ext cx="355600" cy="355600"/>
          </a:xfrm>
          <a:prstGeom prst="rect">
            <a:avLst/>
          </a:prstGeom>
        </p:spPr>
      </p:pic>
      <p:sp>
        <p:nvSpPr>
          <p:cNvPr name="AutoShape 22" id="22"/>
          <p:cNvSpPr/>
          <p:nvPr/>
        </p:nvSpPr>
        <p:spPr>
          <a:xfrm rot="0" flipH="false" flipV="false">
            <a:off x="6858000" y="5016500"/>
            <a:ext cx="4318000" cy="317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报告自动交付</a:t>
            </a:r>
            <a:endParaRPr lang="en-US" sz="1100"/>
          </a:p>
        </p:txBody>
      </p:sp>
      <p:sp>
        <p:nvSpPr>
          <p:cNvPr name="AutoShape 23" id="23"/>
          <p:cNvSpPr/>
          <p:nvPr/>
        </p:nvSpPr>
        <p:spPr>
          <a:xfrm rot="0" flipH="false" flipV="false">
            <a:off x="6858000" y="5334000"/>
            <a:ext cx="4318000" cy="317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300">
                <a:solidFill>
                  <a:srgbClr val="536174"/>
                </a:solidFill>
                <a:latin typeface="Noto Sans SC"/>
                <a:ea typeface="Noto Sans SC"/>
                <a:cs typeface="Noto Sans SC"/>
                <a:sym typeface="Noto Sans SC"/>
              </a:rPr>
              <a:t>Markdown报告 + 洞察摘要 + HTML可视化图表一键生成</a:t>
            </a:r>
            <a:endParaRPr lang="en-US" sz="1100"/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bg>
      <p:bgPr>
        <a:solidFill>
          <a:srgbClr val="F2F4F8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76200"/>
          </a:xfrm>
          <a:prstGeom prst="roundRect">
            <a:avLst>
              <a:gd name="adj" fmla="val 0"/>
            </a:avLst>
          </a:prstGeom>
          <a:solidFill>
            <a:srgbClr val="0D1326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1016000" y="508000"/>
            <a:ext cx="1270000" cy="317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300">
                <a:solidFill>
                  <a:srgbClr val="2563EB"/>
                </a:solidFill>
                <a:latin typeface="Noto Sans SC"/>
                <a:ea typeface="Noto Sans SC"/>
                <a:cs typeface="Noto Sans SC"/>
                <a:sym typeface="Noto Sans SC"/>
              </a:rPr>
              <a:t>PART 01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1016000" y="825500"/>
            <a:ext cx="10160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000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为什么需要呆滞料报告智能体</a:t>
            </a:r>
            <a:endParaRPr lang="en-US" sz="1100"/>
          </a:p>
        </p:txBody>
      </p:sp>
      <p:cxnSp>
        <p:nvCxnSpPr>
          <p:cNvPr name="Connector 5" id="5"/>
          <p:cNvCxnSpPr/>
          <p:nvPr/>
        </p:nvCxnSpPr>
        <p:spPr>
          <a:xfrm rot="-4297" flipH="false" flipV="false">
            <a:off x="1016004" y="1581150"/>
            <a:ext cx="1016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C8D0D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6" id="6"/>
          <p:cNvSpPr/>
          <p:nvPr/>
        </p:nvSpPr>
        <p:spPr>
          <a:xfrm rot="0" flipH="false" flipV="false">
            <a:off x="1016000" y="1905000"/>
            <a:ext cx="4826000" cy="317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300">
                <a:solidFill>
                  <a:srgbClr val="963C3C"/>
                </a:solidFill>
                <a:latin typeface="Noto Sans SC"/>
                <a:ea typeface="Noto Sans SC"/>
                <a:cs typeface="Noto Sans SC"/>
                <a:sym typeface="Noto Sans SC"/>
              </a:rPr>
              <a:t>PAIN POINTS · 传统人工模式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1016000" y="2349500"/>
            <a:ext cx="4826000" cy="3683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DCE2EB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1333500" y="2667000"/>
            <a:ext cx="4191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数据分散，人工串联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1333500" y="3048000"/>
            <a:ext cx="4191000" cy="571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300">
                <a:solidFill>
                  <a:srgbClr val="536174"/>
                </a:solidFill>
                <a:latin typeface="Noto Sans SC"/>
                <a:ea typeface="Noto Sans SC"/>
                <a:cs typeface="Noto Sans SC"/>
                <a:sym typeface="Noto Sans SC"/>
              </a:rPr>
              <a:t>库存数据分散在多维业务系统中，呆滞识别需跨系统手工取数拼接</a:t>
            </a:r>
            <a:endParaRPr lang="en-US" sz="1100"/>
          </a:p>
        </p:txBody>
      </p:sp>
      <p:cxnSp>
        <p:nvCxnSpPr>
          <p:cNvPr name="Connector 10" id="10"/>
          <p:cNvCxnSpPr/>
          <p:nvPr/>
        </p:nvCxnSpPr>
        <p:spPr>
          <a:xfrm rot="-10417" flipH="false" flipV="false">
            <a:off x="1333510" y="3803650"/>
            <a:ext cx="4191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E6EBF2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11" id="11"/>
          <p:cNvSpPr/>
          <p:nvPr/>
        </p:nvSpPr>
        <p:spPr>
          <a:xfrm rot="0" flipH="false" flipV="false">
            <a:off x="1333500" y="4000500"/>
            <a:ext cx="4191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根因定位依赖经验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1333500" y="4381500"/>
            <a:ext cx="4191000" cy="571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300">
                <a:solidFill>
                  <a:srgbClr val="536174"/>
                </a:solidFill>
                <a:latin typeface="Noto Sans SC"/>
                <a:ea typeface="Noto Sans SC"/>
                <a:cs typeface="Noto Sans SC"/>
                <a:sym typeface="Noto Sans SC"/>
              </a:rPr>
              <a:t>根因分析和处理建议高度依赖分析师个人经验，质量不稳定</a:t>
            </a:r>
            <a:endParaRPr lang="en-US" sz="1100"/>
          </a:p>
        </p:txBody>
      </p:sp>
      <p:cxnSp>
        <p:nvCxnSpPr>
          <p:cNvPr name="Connector 13" id="13"/>
          <p:cNvCxnSpPr/>
          <p:nvPr/>
        </p:nvCxnSpPr>
        <p:spPr>
          <a:xfrm rot="-10417" flipH="false" flipV="false">
            <a:off x="1333510" y="5137150"/>
            <a:ext cx="4191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E6EBF2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14" id="14"/>
          <p:cNvSpPr/>
          <p:nvPr/>
        </p:nvSpPr>
        <p:spPr>
          <a:xfrm rot="0" flipH="false" flipV="false">
            <a:off x="1333500" y="5334000"/>
            <a:ext cx="4191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报告编制周期长</a:t>
            </a:r>
            <a:endParaRPr lang="en-US" sz="1100"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1333500" y="5651500"/>
            <a:ext cx="4191000" cy="355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300">
                <a:solidFill>
                  <a:srgbClr val="536174"/>
                </a:solidFill>
                <a:latin typeface="Noto Sans SC"/>
                <a:ea typeface="Noto Sans SC"/>
                <a:cs typeface="Noto Sans SC"/>
                <a:sym typeface="Noto Sans SC"/>
              </a:rPr>
              <a:t>从取数到成稿通常需要数天，决策响应滞后</a:t>
            </a:r>
            <a:endParaRPr lang="en-US" sz="1100"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6350000" y="1905000"/>
            <a:ext cx="4826000" cy="317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300">
                <a:solidFill>
                  <a:srgbClr val="2563EB"/>
                </a:solidFill>
                <a:latin typeface="Noto Sans SC"/>
                <a:ea typeface="Noto Sans SC"/>
                <a:cs typeface="Noto Sans SC"/>
                <a:sym typeface="Noto Sans SC"/>
              </a:rPr>
              <a:t>GOAL · 智能体目标</a:t>
            </a:r>
            <a:endParaRPr lang="en-US" sz="1100"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6350000" y="2349500"/>
            <a:ext cx="4826000" cy="3683000"/>
          </a:xfrm>
          <a:prstGeom prst="roundRect">
            <a:avLst>
              <a:gd name="adj" fmla="val 0"/>
            </a:avLst>
          </a:prstGeom>
          <a:solidFill>
            <a:srgbClr val="0D1326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6667500" y="2730500"/>
            <a:ext cx="41910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2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构建计划驱动的</a:t>
            </a:r>
            <a:endParaRPr lang="en-US" sz="1100"/>
          </a:p>
          <a:p>
            <a:pPr algn="l" marL="0" indent="0">
              <a:lnSpc>
                <a:spcPct val="125000"/>
              </a:lnSpc>
            </a:pPr>
            <a:r>
              <a:rPr lang="en-US" b="true" i="false" strike="noStrike" u="none" sz="22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多Agent分析系统</a:t>
            </a:r>
          </a:p>
        </p:txBody>
      </p:sp>
      <p:cxnSp>
        <p:nvCxnSpPr>
          <p:cNvPr name="Connector 19" id="19"/>
          <p:cNvCxnSpPr/>
          <p:nvPr/>
        </p:nvCxnSpPr>
        <p:spPr>
          <a:xfrm rot="-49107" flipH="false" flipV="false">
            <a:off x="6667545" y="3930650"/>
            <a:ext cx="889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mpd="sng" cap="flat">
            <a:solidFill>
              <a:srgbClr val="2563EB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name="AutoShape 20" id="20"/>
          <p:cNvSpPr/>
          <p:nvPr/>
        </p:nvSpPr>
        <p:spPr>
          <a:xfrm rot="0" flipH="false" flipV="false">
            <a:off x="6667500" y="4191000"/>
            <a:ext cx="4191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500">
                <a:solidFill>
                  <a:srgbClr val="BFD7FF"/>
                </a:solidFill>
                <a:latin typeface="Noto Sans SC"/>
                <a:ea typeface="Noto Sans SC"/>
                <a:cs typeface="Noto Sans SC"/>
                <a:sym typeface="Noto Sans SC"/>
              </a:rPr>
              <a:t>自动完成五大环节</a:t>
            </a:r>
            <a:endParaRPr lang="en-US" sz="1100"/>
          </a:p>
        </p:txBody>
      </p:sp>
      <p:sp>
        <p:nvSpPr>
          <p:cNvPr name="AutoShape 21" id="21"/>
          <p:cNvSpPr/>
          <p:nvPr/>
        </p:nvSpPr>
        <p:spPr>
          <a:xfrm rot="0" flipH="false" flipV="false">
            <a:off x="6667500" y="4635500"/>
            <a:ext cx="4191000" cy="1270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50000"/>
              </a:lnSpc>
              <a:defRPr/>
            </a:pPr>
            <a:r>
              <a:rPr lang="en-US" b="false" i="false" strike="noStrike" u="none" sz="1400">
                <a:solidFill>
                  <a:srgbClr val="B4C3E1"/>
                </a:solidFill>
                <a:latin typeface="Noto Sans SC"/>
                <a:ea typeface="Noto Sans SC"/>
                <a:cs typeface="Noto Sans SC"/>
                <a:sym typeface="Noto Sans SC"/>
              </a:rPr>
              <a:t>行业判断 → 库存取数</a:t>
            </a:r>
            <a:endParaRPr lang="en-US" sz="1100"/>
          </a:p>
          <a:p>
            <a:pPr algn="l" marL="0" indent="0">
              <a:lnSpc>
                <a:spcPct val="150000"/>
              </a:lnSpc>
            </a:pPr>
            <a:r>
              <a:rPr lang="en-US" b="false" i="false" strike="noStrike" u="none" sz="1400">
                <a:solidFill>
                  <a:srgbClr val="B4C3E1"/>
                </a:solidFill>
                <a:latin typeface="Noto Sans SC"/>
                <a:ea typeface="Noto Sans SC"/>
                <a:cs typeface="Noto Sans SC"/>
                <a:sym typeface="Noto Sans SC"/>
              </a:rPr>
              <a:t>指标计算 → 根因分析</a:t>
            </a:r>
          </a:p>
          <a:p>
            <a:pPr algn="l" marL="0" indent="0">
              <a:lnSpc>
                <a:spcPct val="150000"/>
              </a:lnSpc>
            </a:pPr>
            <a:r>
              <a:rPr lang="en-US" b="false" i="false" strike="noStrike" u="none" sz="1400">
                <a:solidFill>
                  <a:srgbClr val="B4C3E1"/>
                </a:solidFill>
                <a:latin typeface="Noto Sans SC"/>
                <a:ea typeface="Noto Sans SC"/>
                <a:cs typeface="Noto Sans SC"/>
                <a:sym typeface="Noto Sans SC"/>
              </a:rPr>
              <a:t>报告交付</a:t>
            </a:r>
          </a:p>
        </p:txBody>
      </p:sp>
      <p:cxnSp>
        <p:nvCxnSpPr>
          <p:cNvPr name="Connector 22" id="22"/>
          <p:cNvCxnSpPr/>
          <p:nvPr/>
        </p:nvCxnSpPr>
        <p:spPr>
          <a:xfrm rot="-171744" flipH="false" flipV="false">
            <a:off x="5969159" y="2533650"/>
            <a:ext cx="254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mpd="sng" cap="flat">
            <a:solidFill>
              <a:srgbClr val="2563EB">
                <a:alpha val="100000"/>
              </a:srgbClr>
            </a:solidFill>
            <a:prstDash val="solid"/>
            <a:round/>
            <a:headEnd type="none" w="lg" len="lg"/>
            <a:tailEnd type="arrow" w="lg" len="lg"/>
          </a:ln>
        </p:spPr>
      </p:cxnSp>
      <p:cxnSp>
        <p:nvCxnSpPr>
          <p:cNvPr name="Connector 23" id="23"/>
          <p:cNvCxnSpPr/>
          <p:nvPr/>
        </p:nvCxnSpPr>
        <p:spPr>
          <a:xfrm rot="-171744" flipH="false" flipV="false">
            <a:off x="5969159" y="3803650"/>
            <a:ext cx="254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mpd="sng" cap="flat">
            <a:solidFill>
              <a:srgbClr val="2563EB">
                <a:alpha val="100000"/>
              </a:srgbClr>
            </a:solidFill>
            <a:prstDash val="solid"/>
            <a:round/>
            <a:headEnd type="none" w="lg" len="lg"/>
            <a:tailEnd type="arrow" w="lg" len="lg"/>
          </a:ln>
        </p:spPr>
      </p:cxnSp>
      <p:cxnSp>
        <p:nvCxnSpPr>
          <p:cNvPr name="Connector 24" id="24"/>
          <p:cNvCxnSpPr/>
          <p:nvPr/>
        </p:nvCxnSpPr>
        <p:spPr>
          <a:xfrm rot="-171744" flipH="false" flipV="false">
            <a:off x="5969159" y="5073650"/>
            <a:ext cx="254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mpd="sng" cap="flat">
            <a:solidFill>
              <a:srgbClr val="2563EB">
                <a:alpha val="100000"/>
              </a:srgbClr>
            </a:solidFill>
            <a:prstDash val="solid"/>
            <a:round/>
            <a:headEnd type="none" w="lg" len="lg"/>
            <a:tailEnd type="arrow" w="lg" len="lg"/>
          </a:ln>
        </p:spPr>
      </p:cxn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bg>
      <p:bgPr>
        <a:solidFill>
          <a:srgbClr val="F2F4F8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76200"/>
          </a:xfrm>
          <a:prstGeom prst="roundRect">
            <a:avLst>
              <a:gd name="adj" fmla="val 0"/>
            </a:avLst>
          </a:prstGeom>
          <a:solidFill>
            <a:srgbClr val="0D1326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1016000" y="508000"/>
            <a:ext cx="1270000" cy="317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300">
                <a:solidFill>
                  <a:srgbClr val="2563EB"/>
                </a:solidFill>
                <a:latin typeface="Noto Sans SC"/>
                <a:ea typeface="Noto Sans SC"/>
                <a:cs typeface="Noto Sans SC"/>
                <a:sym typeface="Noto Sans SC"/>
              </a:rPr>
              <a:t>PART 02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1016000" y="825500"/>
            <a:ext cx="10160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000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项目总览：三条端到端分析路径</a:t>
            </a:r>
            <a:endParaRPr lang="en-US" sz="1100"/>
          </a:p>
        </p:txBody>
      </p:sp>
      <p:cxnSp>
        <p:nvCxnSpPr>
          <p:cNvPr name="Connector 5" id="5"/>
          <p:cNvCxnSpPr/>
          <p:nvPr/>
        </p:nvCxnSpPr>
        <p:spPr>
          <a:xfrm rot="-4297" flipH="false" flipV="false">
            <a:off x="1016004" y="1581150"/>
            <a:ext cx="1016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C8D0D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6" id="6"/>
          <p:cNvSpPr/>
          <p:nvPr/>
        </p:nvSpPr>
        <p:spPr>
          <a:xfrm rot="0" flipH="false" flipV="false">
            <a:off x="1016000" y="1841500"/>
            <a:ext cx="10160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500">
                <a:solidFill>
                  <a:srgbClr val="536174"/>
                </a:solidFill>
                <a:latin typeface="Noto Sans SC"/>
                <a:ea typeface="Noto Sans SC"/>
                <a:cs typeface="Noto Sans SC"/>
                <a:sym typeface="Noto Sans SC"/>
              </a:rPr>
              <a:t>系统覆盖三类分析场景，其中通用研究图最为全面，是本次分享的重点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1016000" y="2540000"/>
            <a:ext cx="3175000" cy="3429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DCE2EB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1333500" y="2857500"/>
            <a:ext cx="2540000" cy="317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788496"/>
                </a:solidFill>
                <a:latin typeface="Noto Sans SC"/>
                <a:ea typeface="Noto Sans SC"/>
                <a:cs typeface="Noto Sans SC"/>
                <a:sym typeface="Noto Sans SC"/>
              </a:rPr>
              <a:t>PATH 01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1333500" y="3238500"/>
            <a:ext cx="2540000" cy="444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运营库存图</a:t>
            </a:r>
            <a:endParaRPr lang="en-US" sz="1100"/>
          </a:p>
        </p:txBody>
      </p:sp>
      <p:cxnSp>
        <p:nvCxnSpPr>
          <p:cNvPr name="Connector 10" id="10"/>
          <p:cNvCxnSpPr/>
          <p:nvPr/>
        </p:nvCxnSpPr>
        <p:spPr>
          <a:xfrm rot="-62497" flipH="false" flipV="false">
            <a:off x="1333558" y="3803650"/>
            <a:ext cx="698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mpd="sng" cap="flat">
            <a:solidFill>
              <a:srgbClr val="B4BECD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name="AutoShape 11" id="11"/>
          <p:cNvSpPr/>
          <p:nvPr/>
        </p:nvSpPr>
        <p:spPr>
          <a:xfrm rot="0" flipH="false" flipV="false">
            <a:off x="1333500" y="4064000"/>
            <a:ext cx="2540000" cy="165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41666"/>
              </a:lnSpc>
              <a:defRPr/>
            </a:pPr>
            <a:r>
              <a:rPr lang="en-US" b="false" i="false" strike="noStrike" u="none" sz="1300">
                <a:solidFill>
                  <a:srgbClr val="536174"/>
                </a:solidFill>
                <a:latin typeface="Noto Sans SC"/>
                <a:ea typeface="Noto Sans SC"/>
                <a:cs typeface="Noto Sans SC"/>
                <a:sym typeface="Noto Sans SC"/>
              </a:rPr>
              <a:t>面向企业内部运营库存数据，聚焦日常库存周转与呆滞监控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4508500" y="2540000"/>
            <a:ext cx="3175000" cy="3429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DCE2EB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4826000" y="2857500"/>
            <a:ext cx="2540000" cy="317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788496"/>
                </a:solidFill>
                <a:latin typeface="Noto Sans SC"/>
                <a:ea typeface="Noto Sans SC"/>
                <a:cs typeface="Noto Sans SC"/>
                <a:sym typeface="Noto Sans SC"/>
              </a:rPr>
              <a:t>PATH 02</a:t>
            </a:r>
            <a:endParaRPr lang="en-US" sz="1100"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4826000" y="3238500"/>
            <a:ext cx="2540000" cy="444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上市公司图</a:t>
            </a:r>
            <a:endParaRPr lang="en-US" sz="1100"/>
          </a:p>
        </p:txBody>
      </p:sp>
      <p:cxnSp>
        <p:nvCxnSpPr>
          <p:cNvPr name="Connector 15" id="15"/>
          <p:cNvCxnSpPr/>
          <p:nvPr/>
        </p:nvCxnSpPr>
        <p:spPr>
          <a:xfrm rot="-62497" flipH="false" flipV="false">
            <a:off x="4826058" y="3803650"/>
            <a:ext cx="698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mpd="sng" cap="flat">
            <a:solidFill>
              <a:srgbClr val="B4BECD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name="AutoShape 16" id="16"/>
          <p:cNvSpPr/>
          <p:nvPr/>
        </p:nvSpPr>
        <p:spPr>
          <a:xfrm rot="0" flipH="false" flipV="false">
            <a:off x="4826000" y="4064000"/>
            <a:ext cx="2540000" cy="165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41666"/>
              </a:lnSpc>
              <a:defRPr/>
            </a:pPr>
            <a:r>
              <a:rPr lang="en-US" b="false" i="false" strike="noStrike" u="none" sz="1300">
                <a:solidFill>
                  <a:srgbClr val="536174"/>
                </a:solidFill>
                <a:latin typeface="Noto Sans SC"/>
                <a:ea typeface="Noto Sans SC"/>
                <a:cs typeface="Noto Sans SC"/>
                <a:sym typeface="Noto Sans SC"/>
              </a:rPr>
              <a:t>基于公开财报数据，分析上市公司库存健康度，辅助投研决策</a:t>
            </a:r>
            <a:endParaRPr lang="en-US" sz="1100"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8001000" y="2349500"/>
            <a:ext cx="3175000" cy="3810000"/>
          </a:xfrm>
          <a:prstGeom prst="roundRect">
            <a:avLst>
              <a:gd name="adj" fmla="val 0"/>
            </a:avLst>
          </a:prstGeom>
          <a:solidFill>
            <a:srgbClr val="0D1326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8001000" y="2349500"/>
            <a:ext cx="3175000" cy="50800"/>
          </a:xfrm>
          <a:prstGeom prst="roundRect">
            <a:avLst>
              <a:gd name="adj" fmla="val 0"/>
            </a:avLst>
          </a:prstGeom>
          <a:solidFill>
            <a:srgbClr val="2563EB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8318500" y="2667000"/>
            <a:ext cx="2540000" cy="317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BFD7FF"/>
                </a:solidFill>
                <a:latin typeface="Noto Sans SC"/>
                <a:ea typeface="Noto Sans SC"/>
                <a:cs typeface="Noto Sans SC"/>
                <a:sym typeface="Noto Sans SC"/>
              </a:rPr>
              <a:t>PATH 03 · CORE</a:t>
            </a:r>
            <a:endParaRPr lang="en-US" sz="1100"/>
          </a:p>
        </p:txBody>
      </p:sp>
      <p:sp>
        <p:nvSpPr>
          <p:cNvPr name="AutoShape 20" id="20"/>
          <p:cNvSpPr/>
          <p:nvPr/>
        </p:nvSpPr>
        <p:spPr>
          <a:xfrm rot="0" flipH="false" flipV="false">
            <a:off x="8318500" y="3048000"/>
            <a:ext cx="2540000" cy="444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通用研究图</a:t>
            </a:r>
            <a:endParaRPr lang="en-US" sz="1100"/>
          </a:p>
        </p:txBody>
      </p:sp>
      <p:cxnSp>
        <p:nvCxnSpPr>
          <p:cNvPr name="Connector 21" id="21"/>
          <p:cNvCxnSpPr/>
          <p:nvPr/>
        </p:nvCxnSpPr>
        <p:spPr>
          <a:xfrm rot="-62497" flipH="false" flipV="false">
            <a:off x="8318558" y="3613150"/>
            <a:ext cx="698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mpd="sng" cap="flat">
            <a:solidFill>
              <a:srgbClr val="2563EB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name="AutoShape 22" id="22"/>
          <p:cNvSpPr/>
          <p:nvPr/>
        </p:nvSpPr>
        <p:spPr>
          <a:xfrm rot="0" flipH="false" flipV="false">
            <a:off x="8318500" y="3873500"/>
            <a:ext cx="2540000" cy="203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41666"/>
              </a:lnSpc>
              <a:defRPr/>
            </a:pPr>
            <a:r>
              <a:rPr lang="en-US" b="false" i="false" strike="noStrike" u="none" sz="1300">
                <a:solidFill>
                  <a:srgbClr val="B4C3E1"/>
                </a:solidFill>
                <a:latin typeface="Noto Sans SC"/>
                <a:ea typeface="Noto Sans SC"/>
                <a:cs typeface="Noto Sans SC"/>
                <a:sym typeface="Noto Sans SC"/>
              </a:rPr>
              <a:t>最为全面的分析路径，覆盖完整的多Agent协作链路，支持任意企业的呆滞料深度研究与报告生成</a:t>
            </a:r>
            <a:endParaRPr lang="en-US" sz="1100"/>
          </a:p>
        </p:txBody>
      </p:sp>
      <p:sp>
        <p:nvSpPr>
          <p:cNvPr name="AutoShape 23" id="23"/>
          <p:cNvSpPr/>
          <p:nvPr/>
        </p:nvSpPr>
        <p:spPr>
          <a:xfrm rot="0" flipH="false" flipV="false">
            <a:off x="1016000" y="6286500"/>
            <a:ext cx="10160000" cy="317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788496"/>
                </a:solidFill>
                <a:latin typeface="Noto Sans SC"/>
                <a:ea typeface="Noto Sans SC"/>
                <a:cs typeface="Noto Sans SC"/>
                <a:sym typeface="Noto Sans SC"/>
              </a:rPr>
              <a:t>以下重点展开通用研究图的方法论与实现流程</a:t>
            </a:r>
            <a:endParaRPr lang="en-US" sz="1100"/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bg>
      <p:bgPr>
        <a:solidFill>
          <a:srgbClr val="F2F4F8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76200"/>
          </a:xfrm>
          <a:prstGeom prst="roundRect">
            <a:avLst>
              <a:gd name="adj" fmla="val 0"/>
            </a:avLst>
          </a:prstGeom>
          <a:solidFill>
            <a:srgbClr val="0D1326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1016000" y="381000"/>
            <a:ext cx="2032000" cy="279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200">
                <a:solidFill>
                  <a:srgbClr val="2563EB"/>
                </a:solidFill>
                <a:latin typeface="Noto Sans SC"/>
                <a:ea typeface="Noto Sans SC"/>
                <a:cs typeface="Noto Sans SC"/>
                <a:sym typeface="Noto Sans SC"/>
              </a:rPr>
              <a:t>PART 02 · CORE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1016000" y="660400"/>
            <a:ext cx="10160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600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通用研究图：端到端多Agent协作流程</a:t>
            </a:r>
            <a:endParaRPr lang="en-US" sz="1100"/>
          </a:p>
        </p:txBody>
      </p:sp>
      <p:cxnSp>
        <p:nvCxnSpPr>
          <p:cNvPr name="Connector 5" id="5"/>
          <p:cNvCxnSpPr/>
          <p:nvPr/>
        </p:nvCxnSpPr>
        <p:spPr>
          <a:xfrm rot="-4297" flipH="false" flipV="false">
            <a:off x="1016004" y="1263650"/>
            <a:ext cx="1016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C8D0D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6" id="6"/>
          <p:cNvSpPr/>
          <p:nvPr/>
        </p:nvSpPr>
        <p:spPr>
          <a:xfrm rot="0" flipH="false" flipV="false">
            <a:off x="5334000" y="1422400"/>
            <a:ext cx="1524000" cy="330200"/>
          </a:xfrm>
          <a:prstGeom prst="roundRect">
            <a:avLst>
              <a:gd name="adj" fmla="val 0"/>
            </a:avLst>
          </a:prstGeom>
          <a:solidFill>
            <a:srgbClr val="0D1326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5334000" y="1422400"/>
            <a:ext cx="1524000" cy="330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12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START</a:t>
            </a:r>
            <a:endParaRPr lang="en-US" sz="1100"/>
          </a:p>
        </p:txBody>
      </p:sp>
      <p:cxnSp>
        <p:nvCxnSpPr>
          <p:cNvPr name="Connector 8" id="8"/>
          <p:cNvCxnSpPr/>
          <p:nvPr/>
        </p:nvCxnSpPr>
        <p:spPr>
          <a:xfrm rot="5057364" flipH="false" flipV="false">
            <a:off x="6032500" y="1810067"/>
            <a:ext cx="127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mpd="sng" cap="flat">
            <a:solidFill>
              <a:srgbClr val="2563EB">
                <a:alpha val="100000"/>
              </a:srgbClr>
            </a:solidFill>
            <a:prstDash val="solid"/>
            <a:round/>
            <a:headEnd type="none" w="lg" len="lg"/>
            <a:tailEnd type="arrow" w="lg" len="lg"/>
          </a:ln>
        </p:spPr>
      </p:cxnSp>
      <p:sp>
        <p:nvSpPr>
          <p:cNvPr name="AutoShape 9" id="9"/>
          <p:cNvSpPr/>
          <p:nvPr/>
        </p:nvSpPr>
        <p:spPr>
          <a:xfrm rot="0" flipH="false" flipV="false">
            <a:off x="4318000" y="1879600"/>
            <a:ext cx="3556000" cy="4318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mpd="sng" cap="flat">
            <a:solidFill>
              <a:srgbClr val="2563EB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4318000" y="1879600"/>
            <a:ext cx="3556000" cy="431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Coordinator · 意图分发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8001000" y="1930400"/>
            <a:ext cx="3175000" cy="355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100">
                <a:solidFill>
                  <a:srgbClr val="788496"/>
                </a:solidFill>
                <a:latin typeface="Noto Sans SC"/>
                <a:ea typeface="Noto Sans SC"/>
                <a:cs typeface="Noto Sans SC"/>
                <a:sym typeface="Noto Sans SC"/>
              </a:rPr>
              <a:t>简单问题直接回复；研究类请求进入规划</a:t>
            </a:r>
            <a:endParaRPr lang="en-US" sz="1100"/>
          </a:p>
        </p:txBody>
      </p:sp>
      <p:cxnSp>
        <p:nvCxnSpPr>
          <p:cNvPr name="Connector 12" id="12"/>
          <p:cNvCxnSpPr/>
          <p:nvPr/>
        </p:nvCxnSpPr>
        <p:spPr>
          <a:xfrm rot="5057364" flipH="false" flipV="false">
            <a:off x="6032500" y="2368867"/>
            <a:ext cx="127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mpd="sng" cap="flat">
            <a:solidFill>
              <a:srgbClr val="2563EB">
                <a:alpha val="100000"/>
              </a:srgbClr>
            </a:solidFill>
            <a:prstDash val="solid"/>
            <a:round/>
            <a:headEnd type="none" w="lg" len="lg"/>
            <a:tailEnd type="arrow" w="lg" len="lg"/>
          </a:ln>
        </p:spPr>
      </p:cxnSp>
      <p:sp>
        <p:nvSpPr>
          <p:cNvPr name="AutoShape 13" id="13"/>
          <p:cNvSpPr/>
          <p:nvPr/>
        </p:nvSpPr>
        <p:spPr>
          <a:xfrm rot="0" flipH="false" flipV="false">
            <a:off x="4064000" y="2438400"/>
            <a:ext cx="4064000" cy="4318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mpd="sng" cap="flat">
            <a:solidFill>
              <a:srgbClr val="2563EB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4064000" y="2438400"/>
            <a:ext cx="4064000" cy="431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Background Investigator · 行业判断</a:t>
            </a:r>
            <a:endParaRPr lang="en-US" sz="1100"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8255000" y="2489200"/>
            <a:ext cx="2921000" cy="355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100">
                <a:solidFill>
                  <a:srgbClr val="788496"/>
                </a:solidFill>
                <a:latin typeface="Noto Sans SC"/>
                <a:ea typeface="Noto Sans SC"/>
                <a:cs typeface="Noto Sans SC"/>
                <a:sym typeface="Noto Sans SC"/>
              </a:rPr>
              <a:t>LLM判定行业，匹配呆滞分类阈值写入State</a:t>
            </a:r>
            <a:endParaRPr lang="en-US" sz="1100"/>
          </a:p>
        </p:txBody>
      </p:sp>
      <p:cxnSp>
        <p:nvCxnSpPr>
          <p:cNvPr name="Connector 16" id="16"/>
          <p:cNvCxnSpPr/>
          <p:nvPr/>
        </p:nvCxnSpPr>
        <p:spPr>
          <a:xfrm rot="5057364" flipH="false" flipV="false">
            <a:off x="6032500" y="2927667"/>
            <a:ext cx="127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mpd="sng" cap="flat">
            <a:solidFill>
              <a:srgbClr val="2563EB">
                <a:alpha val="100000"/>
              </a:srgbClr>
            </a:solidFill>
            <a:prstDash val="solid"/>
            <a:round/>
            <a:headEnd type="none" w="lg" len="lg"/>
            <a:tailEnd type="arrow" w="lg" len="lg"/>
          </a:ln>
        </p:spPr>
      </p:cxnSp>
      <p:sp>
        <p:nvSpPr>
          <p:cNvPr name="AutoShape 17" id="17"/>
          <p:cNvSpPr/>
          <p:nvPr/>
        </p:nvSpPr>
        <p:spPr>
          <a:xfrm rot="0" flipH="false" flipV="false">
            <a:off x="4445000" y="2997200"/>
            <a:ext cx="3302000" cy="431800"/>
          </a:xfrm>
          <a:prstGeom prst="roundRect">
            <a:avLst>
              <a:gd name="adj" fmla="val 0"/>
            </a:avLst>
          </a:prstGeom>
          <a:solidFill>
            <a:srgbClr val="0D1326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4445000" y="2997200"/>
            <a:ext cx="3302000" cy="431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Planner · 计划生成（核心中枢）</a:t>
            </a:r>
            <a:endParaRPr lang="en-US" sz="1100"/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7874000" y="3048000"/>
            <a:ext cx="3302000" cy="355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100">
                <a:solidFill>
                  <a:srgbClr val="788496"/>
                </a:solidFill>
                <a:latin typeface="Noto Sans SC"/>
                <a:ea typeface="Noto Sans SC"/>
                <a:cs typeface="Noto Sans SC"/>
                <a:sym typeface="Noto Sans SC"/>
              </a:rPr>
              <a:t>生成Plan/Steps，用户确认后进入执行；信息足够则转交付</a:t>
            </a:r>
            <a:endParaRPr lang="en-US" sz="1100"/>
          </a:p>
        </p:txBody>
      </p:sp>
      <p:cxnSp>
        <p:nvCxnSpPr>
          <p:cNvPr name="Connector 20" id="20"/>
          <p:cNvCxnSpPr/>
          <p:nvPr/>
        </p:nvCxnSpPr>
        <p:spPr>
          <a:xfrm rot="5057364" flipH="false" flipV="false">
            <a:off x="6032500" y="3486467"/>
            <a:ext cx="127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mpd="sng" cap="flat">
            <a:solidFill>
              <a:srgbClr val="2563EB">
                <a:alpha val="100000"/>
              </a:srgbClr>
            </a:solidFill>
            <a:prstDash val="solid"/>
            <a:round/>
            <a:headEnd type="none" w="lg" len="lg"/>
            <a:tailEnd type="arrow" w="lg" len="lg"/>
          </a:ln>
        </p:spPr>
      </p:cxnSp>
      <p:sp>
        <p:nvSpPr>
          <p:cNvPr name="AutoShape 21" id="21"/>
          <p:cNvSpPr/>
          <p:nvPr/>
        </p:nvSpPr>
        <p:spPr>
          <a:xfrm rot="0" flipH="false" flipV="false">
            <a:off x="2032000" y="3556000"/>
            <a:ext cx="8128000" cy="1016000"/>
          </a:xfrm>
          <a:prstGeom prst="roundRect">
            <a:avLst>
              <a:gd name="adj" fmla="val 0"/>
            </a:avLst>
          </a:prstGeom>
          <a:solidFill>
            <a:srgbClr val="2563EB">
              <a:alpha val="6000"/>
            </a:srgbClr>
          </a:solidFill>
          <a:ln w="12700" cmpd="sng" cap="flat">
            <a:solidFill>
              <a:srgbClr val="2563EB">
                <a:alpha val="30000"/>
              </a:srgbClr>
            </a:solidFill>
            <a:prstDash val="dash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2" id="22"/>
          <p:cNvSpPr/>
          <p:nvPr/>
        </p:nvSpPr>
        <p:spPr>
          <a:xfrm rot="0" flipH="false" flipV="false">
            <a:off x="2286000" y="3657600"/>
            <a:ext cx="25400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100">
                <a:solidFill>
                  <a:srgbClr val="2563EB"/>
                </a:solidFill>
                <a:latin typeface="Noto Sans SC"/>
                <a:ea typeface="Noto Sans SC"/>
                <a:cs typeface="Noto Sans SC"/>
                <a:sym typeface="Noto Sans SC"/>
              </a:rPr>
              <a:t>RESEARCH TEAM · 调度执行</a:t>
            </a:r>
            <a:endParaRPr lang="en-US" sz="1100"/>
          </a:p>
        </p:txBody>
      </p:sp>
      <p:sp>
        <p:nvSpPr>
          <p:cNvPr name="AutoShape 23" id="23"/>
          <p:cNvSpPr/>
          <p:nvPr/>
        </p:nvSpPr>
        <p:spPr>
          <a:xfrm rot="0" flipH="false" flipV="false">
            <a:off x="2349500" y="3962400"/>
            <a:ext cx="2286000" cy="4826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6478A0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4" id="24"/>
          <p:cNvSpPr/>
          <p:nvPr/>
        </p:nvSpPr>
        <p:spPr>
          <a:xfrm rot="0" flipH="false" flipV="false">
            <a:off x="2349500" y="3962400"/>
            <a:ext cx="2286000" cy="482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1300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Researcher</a:t>
            </a:r>
            <a:endParaRPr lang="en-US" sz="1100"/>
          </a:p>
          <a:p>
            <a:pPr algn="ctr" marL="0" indent="0">
              <a:lnSpc>
                <a:spcPct val="125000"/>
              </a:lnSpc>
            </a:pPr>
            <a:r>
              <a:rPr lang="en-US" b="true" i="false" strike="noStrike" u="none" sz="1300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资料检索与背景整理</a:t>
            </a:r>
          </a:p>
        </p:txBody>
      </p:sp>
      <p:sp>
        <p:nvSpPr>
          <p:cNvPr name="AutoShape 25" id="25"/>
          <p:cNvSpPr/>
          <p:nvPr/>
        </p:nvSpPr>
        <p:spPr>
          <a:xfrm rot="0" flipH="false" flipV="false">
            <a:off x="4953000" y="3962400"/>
            <a:ext cx="2286000" cy="4826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6478A0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6" id="26"/>
          <p:cNvSpPr/>
          <p:nvPr/>
        </p:nvSpPr>
        <p:spPr>
          <a:xfrm rot="0" flipH="false" flipV="false">
            <a:off x="4953000" y="3962400"/>
            <a:ext cx="2286000" cy="482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1300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Coder</a:t>
            </a:r>
            <a:endParaRPr lang="en-US" sz="1100"/>
          </a:p>
          <a:p>
            <a:pPr algn="ctr" marL="0" indent="0">
              <a:lnSpc>
                <a:spcPct val="125000"/>
              </a:lnSpc>
            </a:pPr>
            <a:r>
              <a:rPr lang="en-US" b="true" i="false" strike="noStrike" u="none" sz="1300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数据取数与指标计算</a:t>
            </a:r>
          </a:p>
        </p:txBody>
      </p:sp>
      <p:sp>
        <p:nvSpPr>
          <p:cNvPr name="AutoShape 27" id="27"/>
          <p:cNvSpPr/>
          <p:nvPr/>
        </p:nvSpPr>
        <p:spPr>
          <a:xfrm rot="0" flipH="false" flipV="false">
            <a:off x="7556500" y="3962400"/>
            <a:ext cx="2286000" cy="4826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6478A0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8" id="28"/>
          <p:cNvSpPr/>
          <p:nvPr/>
        </p:nvSpPr>
        <p:spPr>
          <a:xfrm rot="0" flipH="false" flipV="false">
            <a:off x="7556500" y="3962400"/>
            <a:ext cx="2286000" cy="482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1300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Inventory Analysis</a:t>
            </a:r>
            <a:endParaRPr lang="en-US" sz="1100"/>
          </a:p>
          <a:p>
            <a:pPr algn="ctr" marL="0" indent="0">
              <a:lnSpc>
                <a:spcPct val="125000"/>
              </a:lnSpc>
            </a:pPr>
            <a:r>
              <a:rPr lang="en-US" b="true" i="false" strike="noStrike" u="none" sz="1300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呆滞分析Workflow</a:t>
            </a:r>
          </a:p>
        </p:txBody>
      </p:sp>
      <p:cxnSp>
        <p:nvCxnSpPr>
          <p:cNvPr name="Connector 29" id="29"/>
          <p:cNvCxnSpPr/>
          <p:nvPr/>
        </p:nvCxnSpPr>
        <p:spPr>
          <a:xfrm rot="5057364" flipH="false" flipV="false">
            <a:off x="6032500" y="4629467"/>
            <a:ext cx="127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mpd="sng" cap="flat">
            <a:solidFill>
              <a:srgbClr val="2563EB">
                <a:alpha val="100000"/>
              </a:srgbClr>
            </a:solidFill>
            <a:prstDash val="solid"/>
            <a:round/>
            <a:headEnd type="none" w="lg" len="lg"/>
            <a:tailEnd type="arrow" w="lg" len="lg"/>
          </a:ln>
        </p:spPr>
      </p:cxnSp>
      <p:sp>
        <p:nvSpPr>
          <p:cNvPr name="AutoShape 30" id="30"/>
          <p:cNvSpPr/>
          <p:nvPr/>
        </p:nvSpPr>
        <p:spPr>
          <a:xfrm rot="0" flipH="false" flipV="false">
            <a:off x="1016000" y="4635500"/>
            <a:ext cx="3556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000">
                <a:solidFill>
                  <a:srgbClr val="788496"/>
                </a:solidFill>
                <a:latin typeface="Noto Sans SC"/>
                <a:ea typeface="Noto Sans SC"/>
                <a:cs typeface="Noto Sans SC"/>
                <a:sym typeface="Noto Sans SC"/>
              </a:rPr>
              <a:t>所有步骤完成后回传Planner，判断信息是否足够</a:t>
            </a:r>
            <a:endParaRPr lang="en-US" sz="1100"/>
          </a:p>
        </p:txBody>
      </p:sp>
      <p:cxnSp>
        <p:nvCxnSpPr>
          <p:cNvPr name="Connector 31" id="31"/>
          <p:cNvCxnSpPr/>
          <p:nvPr/>
        </p:nvCxnSpPr>
        <p:spPr>
          <a:xfrm rot="10800000" flipH="false" flipV="true">
            <a:off x="8382000" y="3175000"/>
            <a:ext cx="762000" cy="1397000"/>
          </a:xfrm>
          <a:prstGeom prst="bentConnector3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2563EB">
                <a:alpha val="50000"/>
              </a:srgbClr>
            </a:solidFill>
            <a:prstDash val="dash"/>
            <a:round/>
            <a:headEnd type="none" w="med" len="med"/>
            <a:tailEnd type="arrow" w="med" len="med"/>
          </a:ln>
        </p:spPr>
      </p:cxnSp>
      <p:sp>
        <p:nvSpPr>
          <p:cNvPr name="AutoShape 32" id="32"/>
          <p:cNvSpPr/>
          <p:nvPr/>
        </p:nvSpPr>
        <p:spPr>
          <a:xfrm rot="0" flipH="false" flipV="false">
            <a:off x="4572000" y="4699000"/>
            <a:ext cx="3048000" cy="4064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mpd="sng" cap="flat">
            <a:solidFill>
              <a:srgbClr val="2563EB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3" id="33"/>
          <p:cNvSpPr/>
          <p:nvPr/>
        </p:nvSpPr>
        <p:spPr>
          <a:xfrm rot="0" flipH="false" flipV="false">
            <a:off x="4572000" y="4699000"/>
            <a:ext cx="3048000" cy="406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1300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Reporter · 证据整理成Markdown</a:t>
            </a:r>
            <a:endParaRPr lang="en-US" sz="1100"/>
          </a:p>
        </p:txBody>
      </p:sp>
      <p:cxnSp>
        <p:nvCxnSpPr>
          <p:cNvPr name="Connector 34" id="34"/>
          <p:cNvCxnSpPr/>
          <p:nvPr/>
        </p:nvCxnSpPr>
        <p:spPr>
          <a:xfrm rot="5057364" flipH="false" flipV="false">
            <a:off x="6032500" y="5162867"/>
            <a:ext cx="127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mpd="sng" cap="flat">
            <a:solidFill>
              <a:srgbClr val="2563EB">
                <a:alpha val="100000"/>
              </a:srgbClr>
            </a:solidFill>
            <a:prstDash val="solid"/>
            <a:round/>
            <a:headEnd type="none" w="lg" len="lg"/>
            <a:tailEnd type="arrow" w="lg" len="lg"/>
          </a:ln>
        </p:spPr>
      </p:cxnSp>
      <p:sp>
        <p:nvSpPr>
          <p:cNvPr name="AutoShape 35" id="35"/>
          <p:cNvSpPr/>
          <p:nvPr/>
        </p:nvSpPr>
        <p:spPr>
          <a:xfrm rot="0" flipH="false" flipV="false">
            <a:off x="4318000" y="5232400"/>
            <a:ext cx="3556000" cy="4064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mpd="sng" cap="flat">
            <a:solidFill>
              <a:srgbClr val="2563EB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6" id="36"/>
          <p:cNvSpPr/>
          <p:nvPr/>
        </p:nvSpPr>
        <p:spPr>
          <a:xfrm rot="0" flipH="false" flipV="false">
            <a:off x="4318000" y="5232400"/>
            <a:ext cx="3556000" cy="406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1300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Insight Reporter · 洞察摘要 + HTML图表</a:t>
            </a:r>
            <a:endParaRPr lang="en-US" sz="1100"/>
          </a:p>
        </p:txBody>
      </p:sp>
      <p:cxnSp>
        <p:nvCxnSpPr>
          <p:cNvPr name="Connector 37" id="37"/>
          <p:cNvCxnSpPr/>
          <p:nvPr/>
        </p:nvCxnSpPr>
        <p:spPr>
          <a:xfrm rot="5057364" flipH="false" flipV="false">
            <a:off x="6032500" y="5696267"/>
            <a:ext cx="127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mpd="sng" cap="flat">
            <a:solidFill>
              <a:srgbClr val="2563EB">
                <a:alpha val="100000"/>
              </a:srgbClr>
            </a:solidFill>
            <a:prstDash val="solid"/>
            <a:round/>
            <a:headEnd type="none" w="lg" len="lg"/>
            <a:tailEnd type="arrow" w="lg" len="lg"/>
          </a:ln>
        </p:spPr>
      </p:cxnSp>
      <p:sp>
        <p:nvSpPr>
          <p:cNvPr name="AutoShape 38" id="38"/>
          <p:cNvSpPr/>
          <p:nvPr/>
        </p:nvSpPr>
        <p:spPr>
          <a:xfrm rot="0" flipH="false" flipV="false">
            <a:off x="5334000" y="5765800"/>
            <a:ext cx="1524000" cy="330200"/>
          </a:xfrm>
          <a:prstGeom prst="roundRect">
            <a:avLst>
              <a:gd name="adj" fmla="val 0"/>
            </a:avLst>
          </a:prstGeom>
          <a:solidFill>
            <a:srgbClr val="0D1326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9" id="39"/>
          <p:cNvSpPr/>
          <p:nvPr/>
        </p:nvSpPr>
        <p:spPr>
          <a:xfrm rot="0" flipH="false" flipV="false">
            <a:off x="5334000" y="5765800"/>
            <a:ext cx="1524000" cy="330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12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END</a:t>
            </a:r>
            <a:endParaRPr lang="en-US" sz="1100"/>
          </a:p>
        </p:txBody>
      </p:sp>
      <p:sp>
        <p:nvSpPr>
          <p:cNvPr name="AutoShape 40" id="40"/>
          <p:cNvSpPr/>
          <p:nvPr/>
        </p:nvSpPr>
        <p:spPr>
          <a:xfrm rot="0" flipH="false" flipV="false">
            <a:off x="1016000" y="6286500"/>
            <a:ext cx="10160000" cy="317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100">
                <a:solidFill>
                  <a:srgbClr val="788496"/>
                </a:solidFill>
                <a:latin typeface="Noto Sans SC"/>
                <a:ea typeface="Noto Sans SC"/>
                <a:cs typeface="Noto Sans SC"/>
                <a:sym typeface="Noto Sans SC"/>
              </a:rPr>
              <a:t>核心设计：以Plan状态为中枢，Research Team按step_type路由到对应Agent，全部完成后回传Planner判断是否进入交付</a:t>
            </a:r>
            <a:endParaRPr lang="en-US" sz="1100"/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2F4F8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76200"/>
          </a:xfrm>
          <a:prstGeom prst="roundRect">
            <a:avLst>
              <a:gd name="adj" fmla="val 0"/>
            </a:avLst>
          </a:prstGeom>
          <a:solidFill>
            <a:srgbClr val="0D1326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1016000" y="508000"/>
            <a:ext cx="2540000" cy="317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300">
                <a:solidFill>
                  <a:srgbClr val="2563EB"/>
                </a:solidFill>
                <a:latin typeface="Noto Sans SC"/>
                <a:ea typeface="Noto Sans SC"/>
                <a:cs typeface="Noto Sans SC"/>
                <a:sym typeface="Noto Sans SC"/>
              </a:rPr>
              <a:t>PART 02 · STAGE 1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1016000" y="825500"/>
            <a:ext cx="10160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000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前置阶段：意图分发与行业判断</a:t>
            </a:r>
            <a:endParaRPr lang="en-US" sz="1100"/>
          </a:p>
        </p:txBody>
      </p:sp>
      <p:cxnSp>
        <p:nvCxnSpPr>
          <p:cNvPr name="Connector 5" id="5"/>
          <p:cNvCxnSpPr/>
          <p:nvPr/>
        </p:nvCxnSpPr>
        <p:spPr>
          <a:xfrm rot="-4297" flipH="false" flipV="false">
            <a:off x="1016004" y="1581150"/>
            <a:ext cx="1016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C8D0D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6" id="6"/>
          <p:cNvSpPr/>
          <p:nvPr/>
        </p:nvSpPr>
        <p:spPr>
          <a:xfrm rot="0" flipH="false" flipV="false">
            <a:off x="1016000" y="1968500"/>
            <a:ext cx="4826000" cy="4318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DCE2EB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1016000" y="1968500"/>
            <a:ext cx="4826000" cy="635000"/>
          </a:xfrm>
          <a:prstGeom prst="roundRect">
            <a:avLst>
              <a:gd name="adj" fmla="val 0"/>
            </a:avLst>
          </a:prstGeom>
          <a:solidFill>
            <a:srgbClr val="0D1326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8" id="8"/>
          <p:cNvPicPr>
            <a:picLocks noChangeAspect="true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0" flipH="false" flipV="false">
            <a:off x="1333500" y="2133600"/>
            <a:ext cx="304800" cy="304800"/>
          </a:xfrm>
          <a:prstGeom prst="rect">
            <a:avLst/>
          </a:prstGeom>
        </p:spPr>
      </p:pic>
      <p:sp>
        <p:nvSpPr>
          <p:cNvPr name="AutoShape 9" id="9"/>
          <p:cNvSpPr/>
          <p:nvPr/>
        </p:nvSpPr>
        <p:spPr>
          <a:xfrm rot="0" flipH="false" flipV="false">
            <a:off x="1778000" y="2095500"/>
            <a:ext cx="3810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Coordinator · 意图分发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1333500" y="2857500"/>
            <a:ext cx="4191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500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本质：一个LLM路由器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1333500" y="3238500"/>
            <a:ext cx="4191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300">
                <a:solidFill>
                  <a:srgbClr val="536174"/>
                </a:solidFill>
                <a:latin typeface="Noto Sans SC"/>
                <a:ea typeface="Noto Sans SC"/>
                <a:cs typeface="Noto Sans SC"/>
                <a:sym typeface="Noto Sans SC"/>
              </a:rPr>
              <a:t>判断用户query是打招呼、需要补充信息，还是研究类请求需要交给Planner</a:t>
            </a:r>
            <a:endParaRPr lang="en-US" sz="1100"/>
          </a:p>
        </p:txBody>
      </p:sp>
      <p:cxnSp>
        <p:nvCxnSpPr>
          <p:cNvPr name="Connector 12" id="12"/>
          <p:cNvCxnSpPr/>
          <p:nvPr/>
        </p:nvCxnSpPr>
        <p:spPr>
          <a:xfrm rot="-10417" flipH="false" flipV="false">
            <a:off x="1333510" y="4057650"/>
            <a:ext cx="4191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E6EBF2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13" id="13"/>
          <p:cNvSpPr/>
          <p:nvPr/>
        </p:nvSpPr>
        <p:spPr>
          <a:xfrm rot="0" flipH="false" flipV="false">
            <a:off x="1333500" y="4254500"/>
            <a:ext cx="4191000" cy="317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绑定工具：handoff_to_planner</a:t>
            </a:r>
            <a:endParaRPr lang="en-US" sz="1100"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1333500" y="4597400"/>
            <a:ext cx="4191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536174"/>
                </a:solidFill>
                <a:latin typeface="Noto Sans SC"/>
                <a:ea typeface="Noto Sans SC"/>
                <a:cs typeface="Noto Sans SC"/>
                <a:sym typeface="Noto Sans SC"/>
              </a:rPr>
              <a:t>让模型结构化表达研究主题和语言</a:t>
            </a:r>
            <a:endParaRPr lang="en-US" sz="1100"/>
          </a:p>
        </p:txBody>
      </p:sp>
      <p:cxnSp>
        <p:nvCxnSpPr>
          <p:cNvPr name="Connector 15" id="15"/>
          <p:cNvCxnSpPr/>
          <p:nvPr/>
        </p:nvCxnSpPr>
        <p:spPr>
          <a:xfrm rot="-10417" flipH="false" flipV="false">
            <a:off x="1333510" y="5073650"/>
            <a:ext cx="4191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E6EBF2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16" id="16"/>
          <p:cNvSpPr/>
          <p:nvPr/>
        </p:nvSpPr>
        <p:spPr>
          <a:xfrm rot="0" flipH="false" flipV="false">
            <a:off x="1333500" y="5270500"/>
            <a:ext cx="4191000" cy="317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两类决策</a:t>
            </a:r>
            <a:endParaRPr lang="en-US" sz="1100"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1333500" y="5613400"/>
            <a:ext cx="4191000" cy="571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33333"/>
              </a:lnSpc>
              <a:defRPr/>
            </a:pPr>
            <a:r>
              <a:rPr lang="en-US" b="false" i="false" strike="noStrike" u="none" sz="1200">
                <a:solidFill>
                  <a:srgbClr val="536174"/>
                </a:solidFill>
                <a:latin typeface="Noto Sans SC"/>
                <a:ea typeface="Noto Sans SC"/>
                <a:cs typeface="Noto Sans SC"/>
                <a:sym typeface="Noto Sans SC"/>
              </a:rPr>
              <a:t>1. 直接生成文本（简单问题）</a:t>
            </a:r>
            <a:endParaRPr lang="en-US" sz="1100"/>
          </a:p>
          <a:p>
            <a:pPr algn="l" marL="0" indent="0">
              <a:lnSpc>
                <a:spcPct val="133333"/>
              </a:lnSpc>
            </a:pPr>
            <a:r>
              <a:rPr lang="en-US" b="false" i="false" strike="noStrike" u="none" sz="1200">
                <a:solidFill>
                  <a:srgbClr val="536174"/>
                </a:solidFill>
                <a:latin typeface="Noto Sans SC"/>
                <a:ea typeface="Noto Sans SC"/>
                <a:cs typeface="Noto Sans SC"/>
                <a:sym typeface="Noto Sans SC"/>
              </a:rPr>
              <a:t>2. 研究类请求且开启背景调查</a:t>
            </a:r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6350000" y="1968500"/>
            <a:ext cx="4826000" cy="4318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DCE2EB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6350000" y="1968500"/>
            <a:ext cx="4826000" cy="635000"/>
          </a:xfrm>
          <a:prstGeom prst="roundRect">
            <a:avLst>
              <a:gd name="adj" fmla="val 0"/>
            </a:avLst>
          </a:prstGeom>
          <a:solidFill>
            <a:srgbClr val="2563EB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20" id="20"/>
          <p:cNvPicPr>
            <a:picLocks noChangeAspect="true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0" flipH="false" flipV="false">
            <a:off x="6667500" y="2133600"/>
            <a:ext cx="304800" cy="304800"/>
          </a:xfrm>
          <a:prstGeom prst="rect">
            <a:avLst/>
          </a:prstGeom>
        </p:spPr>
      </p:pic>
      <p:sp>
        <p:nvSpPr>
          <p:cNvPr name="AutoShape 21" id="21"/>
          <p:cNvSpPr/>
          <p:nvPr/>
        </p:nvSpPr>
        <p:spPr>
          <a:xfrm rot="0" flipH="false" flipV="false">
            <a:off x="7112000" y="2095500"/>
            <a:ext cx="4064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Background Investigator · 行业判断</a:t>
            </a:r>
            <a:endParaRPr lang="en-US" sz="1100"/>
          </a:p>
        </p:txBody>
      </p:sp>
      <p:sp>
        <p:nvSpPr>
          <p:cNvPr name="AutoShape 22" id="22"/>
          <p:cNvSpPr/>
          <p:nvPr/>
        </p:nvSpPr>
        <p:spPr>
          <a:xfrm rot="0" flipH="false" flipV="false">
            <a:off x="6667500" y="2857500"/>
            <a:ext cx="4191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500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本质：LLM行业分类器</a:t>
            </a:r>
            <a:endParaRPr lang="en-US" sz="1100"/>
          </a:p>
        </p:txBody>
      </p:sp>
      <p:sp>
        <p:nvSpPr>
          <p:cNvPr name="AutoShape 23" id="23"/>
          <p:cNvSpPr/>
          <p:nvPr/>
        </p:nvSpPr>
        <p:spPr>
          <a:xfrm rot="0" flipH="false" flipV="false">
            <a:off x="6667500" y="3238500"/>
            <a:ext cx="4191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300">
                <a:solidFill>
                  <a:srgbClr val="536174"/>
                </a:solidFill>
                <a:latin typeface="Noto Sans SC"/>
                <a:ea typeface="Noto Sans SC"/>
                <a:cs typeface="Noto Sans SC"/>
                <a:sym typeface="Noto Sans SC"/>
              </a:rPr>
              <a:t>输入候选行业列表 + 用户需求，LLM输出最匹配的单一行业</a:t>
            </a:r>
            <a:endParaRPr lang="en-US" sz="1100"/>
          </a:p>
        </p:txBody>
      </p:sp>
      <p:cxnSp>
        <p:nvCxnSpPr>
          <p:cNvPr name="Connector 24" id="24"/>
          <p:cNvCxnSpPr/>
          <p:nvPr/>
        </p:nvCxnSpPr>
        <p:spPr>
          <a:xfrm rot="-10417" flipH="false" flipV="false">
            <a:off x="6667510" y="4057650"/>
            <a:ext cx="4191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E6EBF2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25" id="25"/>
          <p:cNvSpPr/>
          <p:nvPr/>
        </p:nvSpPr>
        <p:spPr>
          <a:xfrm rot="0" flipH="false" flipV="false">
            <a:off x="6667500" y="4254500"/>
            <a:ext cx="4191000" cy="317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行业规则表 → 呆滞阈值</a:t>
            </a:r>
            <a:endParaRPr lang="en-US" sz="1100"/>
          </a:p>
        </p:txBody>
      </p:sp>
      <p:sp>
        <p:nvSpPr>
          <p:cNvPr name="AutoShape 26" id="26"/>
          <p:cNvSpPr/>
          <p:nvPr/>
        </p:nvSpPr>
        <p:spPr>
          <a:xfrm rot="0" flipH="false" flipV="false">
            <a:off x="6667500" y="4635500"/>
            <a:ext cx="4191000" cy="952500"/>
          </a:xfrm>
          <a:prstGeom prst="roundRect">
            <a:avLst>
              <a:gd name="adj" fmla="val 0"/>
            </a:avLst>
          </a:prstGeom>
          <a:solidFill>
            <a:srgbClr val="2563EB">
              <a:alpha val="6000"/>
            </a:srgbClr>
          </a:solidFill>
          <a:ln w="12700" cmpd="sng" cap="flat">
            <a:solidFill>
              <a:srgbClr val="2563EB">
                <a:alpha val="2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7" id="27"/>
          <p:cNvSpPr/>
          <p:nvPr/>
        </p:nvSpPr>
        <p:spPr>
          <a:xfrm rot="0" flipH="false" flipV="false">
            <a:off x="6858000" y="4762500"/>
            <a:ext cx="3810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41666"/>
              </a:lnSpc>
              <a:defRPr/>
            </a:pPr>
            <a:r>
              <a:rPr lang="en-US" b="false" i="false" strike="noStrike" u="none" sz="1200">
                <a:solidFill>
                  <a:srgbClr val="0D132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raw_material_days: 180</a:t>
            </a:r>
            <a:endParaRPr lang="en-US" sz="1100"/>
          </a:p>
          <a:p>
            <a:pPr algn="l" marL="0" indent="0">
              <a:lnSpc>
                <a:spcPct val="141666"/>
              </a:lnSpc>
            </a:pPr>
            <a:r>
              <a:rPr lang="en-US" b="false" i="false" strike="noStrike" u="none" sz="1200">
                <a:solidFill>
                  <a:srgbClr val="0D132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semi_product_days: 60</a:t>
            </a:r>
          </a:p>
          <a:p>
            <a:pPr algn="l" marL="0" indent="0">
              <a:lnSpc>
                <a:spcPct val="141666"/>
              </a:lnSpc>
            </a:pPr>
            <a:r>
              <a:rPr lang="en-US" b="false" i="false" strike="noStrike" u="none" sz="1200">
                <a:solidFill>
                  <a:srgbClr val="0D132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finished_product_days: 90</a:t>
            </a:r>
          </a:p>
        </p:txBody>
      </p:sp>
      <p:cxnSp>
        <p:nvCxnSpPr>
          <p:cNvPr name="Connector 28" id="28"/>
          <p:cNvCxnSpPr/>
          <p:nvPr/>
        </p:nvCxnSpPr>
        <p:spPr>
          <a:xfrm rot="-10417" flipH="false" flipV="false">
            <a:off x="6667510" y="5772150"/>
            <a:ext cx="4191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E6EBF2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29" id="29"/>
          <p:cNvSpPr/>
          <p:nvPr/>
        </p:nvSpPr>
        <p:spPr>
          <a:xfrm rot="0" flipH="false" flipV="false">
            <a:off x="6667500" y="5943600"/>
            <a:ext cx="4191000" cy="317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536174"/>
                </a:solidFill>
                <a:latin typeface="Noto Sans SC"/>
                <a:ea typeface="Noto Sans SC"/>
                <a:cs typeface="Noto Sans SC"/>
                <a:sym typeface="Noto Sans SC"/>
              </a:rPr>
              <a:t>阈值写入State，供后续Inventory Analysis使用</a:t>
            </a:r>
            <a:endParaRPr lang="en-US" sz="1100"/>
          </a:p>
        </p:txBody>
      </p:sp>
      <p:cxnSp>
        <p:nvCxnSpPr>
          <p:cNvPr name="Connector 30" id="30"/>
          <p:cNvCxnSpPr/>
          <p:nvPr/>
        </p:nvCxnSpPr>
        <p:spPr>
          <a:xfrm rot="-85925" flipH="false" flipV="false">
            <a:off x="5842079" y="4057650"/>
            <a:ext cx="50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mpd="sng" cap="flat">
            <a:solidFill>
              <a:srgbClr val="2563EB">
                <a:alpha val="100000"/>
              </a:srgbClr>
            </a:solidFill>
            <a:prstDash val="solid"/>
            <a:round/>
            <a:headEnd type="none" w="lg" len="lg"/>
            <a:tailEnd type="arrow" w="lg" len="lg"/>
          </a:ln>
        </p:spPr>
      </p:cxn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>
  <p:cSld>
    <p:bg>
      <p:bgPr>
        <a:solidFill>
          <a:srgbClr val="F2F4F8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76200"/>
          </a:xfrm>
          <a:prstGeom prst="roundRect">
            <a:avLst>
              <a:gd name="adj" fmla="val 0"/>
            </a:avLst>
          </a:prstGeom>
          <a:solidFill>
            <a:srgbClr val="0D1326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1016000" y="508000"/>
            <a:ext cx="3556000" cy="317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300">
                <a:solidFill>
                  <a:srgbClr val="2563EB"/>
                </a:solidFill>
                <a:latin typeface="Noto Sans SC"/>
                <a:ea typeface="Noto Sans SC"/>
                <a:cs typeface="Noto Sans SC"/>
                <a:sym typeface="Noto Sans SC"/>
              </a:rPr>
              <a:t>PART 02 · STAGE 2 · CORE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1016000" y="825500"/>
            <a:ext cx="10160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000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Planner：以Plan状态为中枢的计划驱动</a:t>
            </a:r>
            <a:endParaRPr lang="en-US" sz="1100"/>
          </a:p>
        </p:txBody>
      </p:sp>
      <p:cxnSp>
        <p:nvCxnSpPr>
          <p:cNvPr name="Connector 5" id="5"/>
          <p:cNvCxnSpPr/>
          <p:nvPr/>
        </p:nvCxnSpPr>
        <p:spPr>
          <a:xfrm rot="-4297" flipH="false" flipV="false">
            <a:off x="1016004" y="1581150"/>
            <a:ext cx="1016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C8D0D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6" id="6"/>
          <p:cNvSpPr/>
          <p:nvPr/>
        </p:nvSpPr>
        <p:spPr>
          <a:xfrm rot="0" flipH="false" flipV="false">
            <a:off x="1016000" y="1778000"/>
            <a:ext cx="10160000" cy="317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536174"/>
                </a:solidFill>
                <a:latin typeface="Noto Sans SC"/>
                <a:ea typeface="Noto Sans SC"/>
                <a:cs typeface="Noto Sans SC"/>
                <a:sym typeface="Noto Sans SC"/>
              </a:rPr>
              <a:t>Plan状态是整个DeepResearch系统的关键，所有Agent的执行和回传都围绕Plan展开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1016000" y="2286000"/>
            <a:ext cx="5080000" cy="3937000"/>
          </a:xfrm>
          <a:prstGeom prst="roundRect">
            <a:avLst>
              <a:gd name="adj" fmla="val 0"/>
            </a:avLst>
          </a:prstGeom>
          <a:solidFill>
            <a:srgbClr val="0D1326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1333500" y="2476500"/>
            <a:ext cx="4445000" cy="317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200">
                <a:solidFill>
                  <a:srgbClr val="BFD7FF"/>
                </a:solidFill>
                <a:latin typeface="Noto Sans SC"/>
                <a:ea typeface="Noto Sans SC"/>
                <a:cs typeface="Noto Sans SC"/>
                <a:sym typeface="Noto Sans SC"/>
              </a:rPr>
              <a:t>DATA MODEL · Pydantic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1333500" y="2857500"/>
            <a:ext cx="4445000" cy="317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5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Plan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1333500" y="3200400"/>
            <a:ext cx="4445000" cy="1270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50000"/>
              </a:lnSpc>
              <a:defRPr/>
            </a:pPr>
            <a:r>
              <a:rPr lang="en-US" b="false" i="false" strike="noStrike" u="none" sz="1200">
                <a:solidFill>
                  <a:srgbClr val="B4C3E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locale 输出语言</a:t>
            </a:r>
            <a:endParaRPr lang="en-US" sz="1100"/>
          </a:p>
          <a:p>
            <a:pPr algn="l" marL="0" indent="0">
              <a:lnSpc>
                <a:spcPct val="150000"/>
              </a:lnSpc>
            </a:pPr>
            <a:r>
              <a:rPr lang="en-US" b="false" i="false" strike="noStrike" u="none" sz="1200">
                <a:solidFill>
                  <a:srgbClr val="B4C3E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has_enough_context 信息是否足够</a:t>
            </a:r>
          </a:p>
          <a:p>
            <a:pPr algn="l" marL="0" indent="0">
              <a:lnSpc>
                <a:spcPct val="150000"/>
              </a:lnSpc>
            </a:pPr>
            <a:r>
              <a:rPr lang="en-US" b="false" i="false" strike="noStrike" u="none" sz="1200">
                <a:solidFill>
                  <a:srgbClr val="B4C3E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thought 需求重述与规划理由</a:t>
            </a:r>
          </a:p>
          <a:p>
            <a:pPr algn="l" marL="0" indent="0">
              <a:lnSpc>
                <a:spcPct val="150000"/>
              </a:lnSpc>
            </a:pPr>
            <a:r>
              <a:rPr lang="en-US" b="false" i="false" strike="noStrike" u="none" sz="1200">
                <a:solidFill>
                  <a:srgbClr val="B4C3E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title 总任务标题</a:t>
            </a:r>
          </a:p>
          <a:p>
            <a:pPr algn="l" marL="0" indent="0">
              <a:lnSpc>
                <a:spcPct val="150000"/>
              </a:lnSpc>
            </a:pPr>
            <a:r>
              <a:rPr lang="en-US" b="false" i="false" strike="noStrike" u="none" sz="1200">
                <a:solidFill>
                  <a:srgbClr val="B4C3E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steps Step列表</a:t>
            </a:r>
          </a:p>
        </p:txBody>
      </p:sp>
      <p:cxnSp>
        <p:nvCxnSpPr>
          <p:cNvPr name="Connector 11" id="11"/>
          <p:cNvCxnSpPr/>
          <p:nvPr/>
        </p:nvCxnSpPr>
        <p:spPr>
          <a:xfrm rot="-9822" flipH="false" flipV="false">
            <a:off x="1333509" y="4629150"/>
            <a:ext cx="4445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2563EB">
                <a:alpha val="4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12" id="12"/>
          <p:cNvSpPr/>
          <p:nvPr/>
        </p:nvSpPr>
        <p:spPr>
          <a:xfrm rot="0" flipH="false" flipV="false">
            <a:off x="1333500" y="4800600"/>
            <a:ext cx="4445000" cy="317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5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Step</a:t>
            </a:r>
            <a:endParaRPr lang="en-US" sz="1100"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1333500" y="5143500"/>
            <a:ext cx="44450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50000"/>
              </a:lnSpc>
              <a:defRPr/>
            </a:pPr>
            <a:r>
              <a:rPr lang="en-US" b="false" i="false" strike="noStrike" u="none" sz="1200">
                <a:solidFill>
                  <a:srgbClr val="B4C3E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need_search 是否需要检索</a:t>
            </a:r>
            <a:endParaRPr lang="en-US" sz="1100"/>
          </a:p>
          <a:p>
            <a:pPr algn="l" marL="0" indent="0">
              <a:lnSpc>
                <a:spcPct val="150000"/>
              </a:lnSpc>
            </a:pPr>
            <a:r>
              <a:rPr lang="en-US" b="false" i="false" strike="noStrike" u="none" sz="1200">
                <a:solidFill>
                  <a:srgbClr val="B4C3E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step_type research/processing/inventory_analysis</a:t>
            </a:r>
          </a:p>
          <a:p>
            <a:pPr algn="l" marL="0" indent="0">
              <a:lnSpc>
                <a:spcPct val="150000"/>
              </a:lnSpc>
            </a:pPr>
            <a:r>
              <a:rPr lang="en-US" b="false" i="false" strike="noStrike" u="none" sz="1200">
                <a:solidFill>
                  <a:srgbClr val="B4C3E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execution_res 执行结果（初始为空）</a:t>
            </a:r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6477000" y="2286000"/>
            <a:ext cx="4699000" cy="19685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DCE2EB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6731000" y="2476500"/>
            <a:ext cx="4191000" cy="317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200">
                <a:solidFill>
                  <a:srgbClr val="2563EB"/>
                </a:solidFill>
                <a:latin typeface="Noto Sans SC"/>
                <a:ea typeface="Noto Sans SC"/>
                <a:cs typeface="Noto Sans SC"/>
                <a:sym typeface="Noto Sans SC"/>
              </a:rPr>
              <a:t>PLAN GENERATION</a:t>
            </a:r>
            <a:endParaRPr lang="en-US" sz="1100"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6731000" y="2857500"/>
            <a:ext cx="4191000" cy="1333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50000"/>
              </a:lnSpc>
              <a:defRPr/>
            </a:pPr>
            <a:r>
              <a:rPr lang="en-US" b="false" i="false" strike="noStrike" u="none" sz="1200">
                <a:solidFill>
                  <a:srgbClr val="53617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输入 = 用户主题 + 行业背景</a:t>
            </a:r>
            <a:endParaRPr lang="en-US" sz="1100"/>
          </a:p>
          <a:p>
            <a:pPr algn="l" marL="0" indent="0">
              <a:lnSpc>
                <a:spcPct val="150000"/>
              </a:lnSpc>
            </a:pPr>
            <a:r>
              <a:rPr lang="en-US" b="false" i="false" strike="noStrike" u="none" sz="1200">
                <a:solidFill>
                  <a:srgbClr val="53617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+ 现有observations + max_step_num</a:t>
            </a:r>
          </a:p>
          <a:p>
            <a:pPr algn="l" marL="0" indent="0">
              <a:lnSpc>
                <a:spcPct val="150000"/>
              </a:lnSpc>
            </a:pPr>
            <a:r>
              <a:rPr lang="en-US" b="false" i="false" strike="noStrike" u="none" sz="1200">
                <a:solidFill>
                  <a:srgbClr val="53617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→ PlannerLLM(特定组装的context)</a:t>
            </a:r>
          </a:p>
          <a:p>
            <a:pPr algn="l" marL="0" indent="0">
              <a:lnSpc>
                <a:spcPct val="150000"/>
              </a:lnSpc>
            </a:pPr>
            <a:r>
              <a:rPr lang="en-US" b="false" i="false" strike="noStrike" u="none" sz="1200">
                <a:solidFill>
                  <a:srgbClr val="53617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→ repair_json_output()</a:t>
            </a:r>
          </a:p>
          <a:p>
            <a:pPr algn="l" marL="0" indent="0">
              <a:lnSpc>
                <a:spcPct val="150000"/>
              </a:lnSpc>
            </a:pPr>
            <a:r>
              <a:rPr lang="en-US" b="false" i="false" strike="noStrike" u="none" sz="1200">
                <a:solidFill>
                  <a:srgbClr val="53617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→ Plan.model_validate(json.loads())</a:t>
            </a:r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6477000" y="4318000"/>
            <a:ext cx="4699000" cy="1905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DCE2EB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6731000" y="4508500"/>
            <a:ext cx="4191000" cy="317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200">
                <a:solidFill>
                  <a:srgbClr val="2563EB"/>
                </a:solidFill>
                <a:latin typeface="Noto Sans SC"/>
                <a:ea typeface="Noto Sans SC"/>
                <a:cs typeface="Noto Sans SC"/>
                <a:sym typeface="Noto Sans SC"/>
              </a:rPr>
              <a:t>PLANNER CONTEXT</a:t>
            </a:r>
            <a:endParaRPr lang="en-US" sz="1100"/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6731000" y="4889500"/>
            <a:ext cx="4191000" cy="317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300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1. 系统提示词</a:t>
            </a:r>
            <a:endParaRPr lang="en-US" sz="1100"/>
          </a:p>
        </p:txBody>
      </p:sp>
      <p:sp>
        <p:nvSpPr>
          <p:cNvPr name="AutoShape 20" id="20"/>
          <p:cNvSpPr/>
          <p:nvPr/>
        </p:nvSpPr>
        <p:spPr>
          <a:xfrm rot="0" flipH="false" flipV="false">
            <a:off x="6921500" y="5181600"/>
            <a:ext cx="40005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100">
                <a:solidFill>
                  <a:srgbClr val="536174"/>
                </a:solidFill>
                <a:latin typeface="Noto Sans SC"/>
                <a:ea typeface="Noto Sans SC"/>
                <a:cs typeface="Noto Sans SC"/>
                <a:sym typeface="Noto Sans SC"/>
              </a:rPr>
              <a:t>规划规则 + Plan/Step JSON格式 + 配置</a:t>
            </a:r>
            <a:endParaRPr lang="en-US" sz="1100"/>
          </a:p>
        </p:txBody>
      </p:sp>
      <p:sp>
        <p:nvSpPr>
          <p:cNvPr name="AutoShape 21" id="21"/>
          <p:cNvSpPr/>
          <p:nvPr/>
        </p:nvSpPr>
        <p:spPr>
          <a:xfrm rot="0" flipH="false" flipV="false">
            <a:off x="6731000" y="5461000"/>
            <a:ext cx="4191000" cy="317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300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2. state历史消息</a:t>
            </a:r>
            <a:endParaRPr lang="en-US" sz="1100"/>
          </a:p>
        </p:txBody>
      </p:sp>
      <p:sp>
        <p:nvSpPr>
          <p:cNvPr name="AutoShape 22" id="22"/>
          <p:cNvSpPr/>
          <p:nvPr/>
        </p:nvSpPr>
        <p:spPr>
          <a:xfrm rot="0" flipH="false" flipV="false">
            <a:off x="6921500" y="5753100"/>
            <a:ext cx="40005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100">
                <a:solidFill>
                  <a:srgbClr val="536174"/>
                </a:solidFill>
                <a:latin typeface="Noto Sans SC"/>
                <a:ea typeface="Noto Sans SC"/>
                <a:cs typeface="Noto Sans SC"/>
                <a:sym typeface="Noto Sans SC"/>
              </a:rPr>
              <a:t>用户问题 + 各Agent阶段性结果</a:t>
            </a:r>
            <a:endParaRPr lang="en-US" sz="1100"/>
          </a:p>
        </p:txBody>
      </p:sp>
      <p:sp>
        <p:nvSpPr>
          <p:cNvPr name="AutoShape 23" id="23"/>
          <p:cNvSpPr/>
          <p:nvPr/>
        </p:nvSpPr>
        <p:spPr>
          <a:xfrm rot="0" flipH="false" flipV="false">
            <a:off x="6731000" y="5969000"/>
            <a:ext cx="41910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300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3. 背景调查结果（行业+呆滞标准）</a:t>
            </a:r>
            <a:endParaRPr lang="en-US" sz="1100"/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2F4F8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76200"/>
          </a:xfrm>
          <a:prstGeom prst="roundRect">
            <a:avLst>
              <a:gd name="adj" fmla="val 0"/>
            </a:avLst>
          </a:prstGeom>
          <a:solidFill>
            <a:srgbClr val="0D1326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1016000" y="508000"/>
            <a:ext cx="2540000" cy="317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300">
                <a:solidFill>
                  <a:srgbClr val="2563EB"/>
                </a:solidFill>
                <a:latin typeface="Noto Sans SC"/>
                <a:ea typeface="Noto Sans SC"/>
                <a:cs typeface="Noto Sans SC"/>
                <a:sym typeface="Noto Sans SC"/>
              </a:rPr>
              <a:t>PART 02 · STAGE 3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1016000" y="825500"/>
            <a:ext cx="10160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000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Research Team：按step_type路由的三Agent调度</a:t>
            </a:r>
            <a:endParaRPr lang="en-US" sz="1100"/>
          </a:p>
        </p:txBody>
      </p:sp>
      <p:cxnSp>
        <p:nvCxnSpPr>
          <p:cNvPr name="Connector 5" id="5"/>
          <p:cNvCxnSpPr/>
          <p:nvPr/>
        </p:nvCxnSpPr>
        <p:spPr>
          <a:xfrm rot="-4297" flipH="false" flipV="false">
            <a:off x="1016004" y="1581150"/>
            <a:ext cx="1016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C8D0D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6" id="6"/>
          <p:cNvSpPr/>
          <p:nvPr/>
        </p:nvSpPr>
        <p:spPr>
          <a:xfrm rot="0" flipH="false" flipV="false">
            <a:off x="1016000" y="1841500"/>
            <a:ext cx="10160000" cy="889000"/>
          </a:xfrm>
          <a:prstGeom prst="roundRect">
            <a:avLst>
              <a:gd name="adj" fmla="val 0"/>
            </a:avLst>
          </a:prstGeom>
          <a:solidFill>
            <a:srgbClr val="2563EB">
              <a:alpha val="6000"/>
            </a:srgbClr>
          </a:solidFill>
          <a:ln w="12700" cmpd="sng" cap="flat">
            <a:solidFill>
              <a:srgbClr val="2563EB">
                <a:alpha val="2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1270000" y="1968500"/>
            <a:ext cx="2540000" cy="279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100">
                <a:solidFill>
                  <a:srgbClr val="2563EB"/>
                </a:solidFill>
                <a:latin typeface="Noto Sans SC"/>
                <a:ea typeface="Noto Sans SC"/>
                <a:cs typeface="Noto Sans SC"/>
                <a:sym typeface="Noto Sans SC"/>
              </a:rPr>
              <a:t>SCHEDULING ALGORITHM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1270000" y="2260600"/>
            <a:ext cx="9652000" cy="444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300">
                <a:solidFill>
                  <a:srgbClr val="0D132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找到steps中第一个execution_res为空的步骤 → step_type==research路由Researcher → processing路由Coder → inventory_analysis路由Inventory Analysis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1016000" y="2984500"/>
            <a:ext cx="3175000" cy="32385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DCE2EB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1016000" y="2984500"/>
            <a:ext cx="3175000" cy="571500"/>
          </a:xfrm>
          <a:prstGeom prst="roundRect">
            <a:avLst>
              <a:gd name="adj" fmla="val 0"/>
            </a:avLst>
          </a:prstGeom>
          <a:solidFill>
            <a:srgbClr val="0D1326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1" id="11"/>
          <p:cNvPicPr>
            <a:picLocks noChangeAspect="true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0" flipH="false" flipV="false">
            <a:off x="1270000" y="3124200"/>
            <a:ext cx="279400" cy="279400"/>
          </a:xfrm>
          <a:prstGeom prst="rect">
            <a:avLst/>
          </a:prstGeom>
        </p:spPr>
      </p:pic>
      <p:sp>
        <p:nvSpPr>
          <p:cNvPr name="AutoShape 12" id="12"/>
          <p:cNvSpPr/>
          <p:nvPr/>
        </p:nvSpPr>
        <p:spPr>
          <a:xfrm rot="0" flipH="false" flipV="false">
            <a:off x="1676400" y="3111500"/>
            <a:ext cx="2286000" cy="355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Researcher</a:t>
            </a:r>
            <a:endParaRPr lang="en-US" sz="1100"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1270000" y="3746500"/>
            <a:ext cx="2667000" cy="317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300">
                <a:solidFill>
                  <a:srgbClr val="2563EB"/>
                </a:solidFill>
                <a:latin typeface="Noto Sans SC"/>
                <a:ea typeface="Noto Sans SC"/>
                <a:cs typeface="Noto Sans SC"/>
                <a:sym typeface="Noto Sans SC"/>
              </a:rPr>
              <a:t>step_type: research</a:t>
            </a:r>
            <a:endParaRPr lang="en-US" sz="1100"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1270000" y="4089400"/>
            <a:ext cx="2667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33333"/>
              </a:lnSpc>
              <a:defRPr/>
            </a:pPr>
            <a:r>
              <a:rPr lang="en-US" b="false" i="false" strike="noStrike" u="none" sz="1200">
                <a:solidFill>
                  <a:srgbClr val="536174"/>
                </a:solidFill>
                <a:latin typeface="Noto Sans SC"/>
                <a:ea typeface="Noto Sans SC"/>
                <a:cs typeface="Noto Sans SC"/>
                <a:sym typeface="Noto Sans SC"/>
              </a:rPr>
              <a:t>根据已确定的企业和行业，收集库存定义、行业背景和分析口径，输出背景信息</a:t>
            </a:r>
            <a:endParaRPr lang="en-US" sz="1100"/>
          </a:p>
        </p:txBody>
      </p:sp>
      <p:cxnSp>
        <p:nvCxnSpPr>
          <p:cNvPr name="Connector 15" id="15"/>
          <p:cNvCxnSpPr/>
          <p:nvPr/>
        </p:nvCxnSpPr>
        <p:spPr>
          <a:xfrm rot="-16370" flipH="false" flipV="false">
            <a:off x="1270015" y="5010150"/>
            <a:ext cx="2667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E6EBF2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16" id="16"/>
          <p:cNvSpPr/>
          <p:nvPr/>
        </p:nvSpPr>
        <p:spPr>
          <a:xfrm rot="0" flipH="false" flipV="false">
            <a:off x="1270000" y="5181600"/>
            <a:ext cx="2667000" cy="279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100">
                <a:solidFill>
                  <a:srgbClr val="788496"/>
                </a:solidFill>
                <a:latin typeface="Noto Sans SC"/>
                <a:ea typeface="Noto Sans SC"/>
                <a:cs typeface="Noto Sans SC"/>
                <a:sym typeface="Noto Sans SC"/>
              </a:rPr>
              <a:t>绑定工具</a:t>
            </a:r>
            <a:endParaRPr lang="en-US" sz="1100"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1270000" y="5461000"/>
            <a:ext cx="2667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100">
                <a:solidFill>
                  <a:srgbClr val="53617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get_inventory_data_tool()</a:t>
            </a:r>
            <a:endParaRPr lang="en-US" sz="1100"/>
          </a:p>
          <a:p>
            <a:pPr algn="l" marL="0" indent="0">
              <a:lnSpc>
                <a:spcPct val="125000"/>
              </a:lnSpc>
            </a:pPr>
            <a:r>
              <a:rPr lang="en-US" b="false" i="false" strike="noStrike" u="none" sz="1100">
                <a:solidFill>
                  <a:srgbClr val="53617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（可配置搜索/RAG工具）</a:t>
            </a:r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4508500" y="2984500"/>
            <a:ext cx="3175000" cy="32385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DCE2EB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4508500" y="2984500"/>
            <a:ext cx="3175000" cy="571500"/>
          </a:xfrm>
          <a:prstGeom prst="roundRect">
            <a:avLst>
              <a:gd name="adj" fmla="val 0"/>
            </a:avLst>
          </a:prstGeom>
          <a:solidFill>
            <a:srgbClr val="2563EB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20" id="20"/>
          <p:cNvPicPr>
            <a:picLocks noChangeAspect="true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0" flipH="false" flipV="false">
            <a:off x="4762500" y="3124200"/>
            <a:ext cx="279400" cy="279400"/>
          </a:xfrm>
          <a:prstGeom prst="rect">
            <a:avLst/>
          </a:prstGeom>
        </p:spPr>
      </p:pic>
      <p:sp>
        <p:nvSpPr>
          <p:cNvPr name="AutoShape 21" id="21"/>
          <p:cNvSpPr/>
          <p:nvPr/>
        </p:nvSpPr>
        <p:spPr>
          <a:xfrm rot="0" flipH="false" flipV="false">
            <a:off x="5168900" y="3111500"/>
            <a:ext cx="2286000" cy="355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Coder</a:t>
            </a:r>
            <a:endParaRPr lang="en-US" sz="1100"/>
          </a:p>
        </p:txBody>
      </p:sp>
      <p:sp>
        <p:nvSpPr>
          <p:cNvPr name="AutoShape 22" id="22"/>
          <p:cNvSpPr/>
          <p:nvPr/>
        </p:nvSpPr>
        <p:spPr>
          <a:xfrm rot="0" flipH="false" flipV="false">
            <a:off x="4762500" y="3746500"/>
            <a:ext cx="2667000" cy="317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300">
                <a:solidFill>
                  <a:srgbClr val="2563EB"/>
                </a:solidFill>
                <a:latin typeface="Noto Sans SC"/>
                <a:ea typeface="Noto Sans SC"/>
                <a:cs typeface="Noto Sans SC"/>
                <a:sym typeface="Noto Sans SC"/>
              </a:rPr>
              <a:t>step_type: processing</a:t>
            </a:r>
            <a:endParaRPr lang="en-US" sz="1100"/>
          </a:p>
        </p:txBody>
      </p:sp>
      <p:sp>
        <p:nvSpPr>
          <p:cNvPr name="AutoShape 23" id="23"/>
          <p:cNvSpPr/>
          <p:nvPr/>
        </p:nvSpPr>
        <p:spPr>
          <a:xfrm rot="0" flipH="false" flipV="false">
            <a:off x="4762500" y="4089400"/>
            <a:ext cx="2667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33333"/>
              </a:lnSpc>
              <a:defRPr/>
            </a:pPr>
            <a:r>
              <a:rPr lang="en-US" b="false" i="false" strike="noStrike" u="none" sz="1200">
                <a:solidFill>
                  <a:srgbClr val="536174"/>
                </a:solidFill>
                <a:latin typeface="Noto Sans SC"/>
                <a:ea typeface="Noto Sans SC"/>
                <a:cs typeface="Noto Sans SC"/>
                <a:sym typeface="Noto Sans SC"/>
              </a:rPr>
              <a:t>数据访问Agent：表格取数、清洗、聚合、pandas处理、指标计算</a:t>
            </a:r>
            <a:endParaRPr lang="en-US" sz="1100"/>
          </a:p>
        </p:txBody>
      </p:sp>
      <p:cxnSp>
        <p:nvCxnSpPr>
          <p:cNvPr name="Connector 24" id="24"/>
          <p:cNvCxnSpPr/>
          <p:nvPr/>
        </p:nvCxnSpPr>
        <p:spPr>
          <a:xfrm rot="-16370" flipH="false" flipV="false">
            <a:off x="4762515" y="5010150"/>
            <a:ext cx="2667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E6EBF2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25" id="25"/>
          <p:cNvSpPr/>
          <p:nvPr/>
        </p:nvSpPr>
        <p:spPr>
          <a:xfrm rot="0" flipH="false" flipV="false">
            <a:off x="4762500" y="5181600"/>
            <a:ext cx="2667000" cy="279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100">
                <a:solidFill>
                  <a:srgbClr val="788496"/>
                </a:solidFill>
                <a:latin typeface="Noto Sans SC"/>
                <a:ea typeface="Noto Sans SC"/>
                <a:cs typeface="Noto Sans SC"/>
                <a:sym typeface="Noto Sans SC"/>
              </a:rPr>
              <a:t>绑定工具</a:t>
            </a:r>
            <a:endParaRPr lang="en-US" sz="1100"/>
          </a:p>
        </p:txBody>
      </p:sp>
      <p:sp>
        <p:nvSpPr>
          <p:cNvPr name="AutoShape 26" id="26"/>
          <p:cNvSpPr/>
          <p:nvPr/>
        </p:nvSpPr>
        <p:spPr>
          <a:xfrm rot="0" flipH="false" flipV="false">
            <a:off x="4762500" y="5461000"/>
            <a:ext cx="2667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100">
                <a:solidFill>
                  <a:srgbClr val="53617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get_inventory_data_tool()</a:t>
            </a:r>
            <a:endParaRPr lang="en-US" sz="1100"/>
          </a:p>
          <a:p>
            <a:pPr algn="l" marL="0" indent="0">
              <a:lnSpc>
                <a:spcPct val="125000"/>
              </a:lnSpc>
            </a:pPr>
            <a:r>
              <a:rPr lang="en-US" b="false" i="false" strike="noStrike" u="none" sz="1100">
                <a:solidFill>
                  <a:srgbClr val="53617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（数据取数与计算）</a:t>
            </a:r>
          </a:p>
        </p:txBody>
      </p:sp>
      <p:sp>
        <p:nvSpPr>
          <p:cNvPr name="AutoShape 27" id="27"/>
          <p:cNvSpPr/>
          <p:nvPr/>
        </p:nvSpPr>
        <p:spPr>
          <a:xfrm rot="0" flipH="false" flipV="false">
            <a:off x="8001000" y="2984500"/>
            <a:ext cx="3175000" cy="32385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DCE2EB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8" id="28"/>
          <p:cNvSpPr/>
          <p:nvPr/>
        </p:nvSpPr>
        <p:spPr>
          <a:xfrm rot="0" flipH="false" flipV="false">
            <a:off x="8001000" y="2984500"/>
            <a:ext cx="3175000" cy="571500"/>
          </a:xfrm>
          <a:prstGeom prst="roundRect">
            <a:avLst>
              <a:gd name="adj" fmla="val 0"/>
            </a:avLst>
          </a:prstGeom>
          <a:solidFill>
            <a:srgbClr val="0D1326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29" id="29"/>
          <p:cNvPicPr>
            <a:picLocks noChangeAspect="true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0" flipH="false" flipV="false">
            <a:off x="8255000" y="3124200"/>
            <a:ext cx="279400" cy="279400"/>
          </a:xfrm>
          <a:prstGeom prst="rect">
            <a:avLst/>
          </a:prstGeom>
        </p:spPr>
      </p:pic>
      <p:sp>
        <p:nvSpPr>
          <p:cNvPr name="AutoShape 30" id="30"/>
          <p:cNvSpPr/>
          <p:nvPr/>
        </p:nvSpPr>
        <p:spPr>
          <a:xfrm rot="0" flipH="false" flipV="false">
            <a:off x="8661400" y="3111500"/>
            <a:ext cx="2286000" cy="355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Inventory Analysis</a:t>
            </a:r>
            <a:endParaRPr lang="en-US" sz="1100"/>
          </a:p>
        </p:txBody>
      </p:sp>
      <p:sp>
        <p:nvSpPr>
          <p:cNvPr name="AutoShape 31" id="31"/>
          <p:cNvSpPr/>
          <p:nvPr/>
        </p:nvSpPr>
        <p:spPr>
          <a:xfrm rot="0" flipH="false" flipV="false">
            <a:off x="8255000" y="3746500"/>
            <a:ext cx="2667000" cy="317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300">
                <a:solidFill>
                  <a:srgbClr val="2563EB"/>
                </a:solidFill>
                <a:latin typeface="Noto Sans SC"/>
                <a:ea typeface="Noto Sans SC"/>
                <a:cs typeface="Noto Sans SC"/>
                <a:sym typeface="Noto Sans SC"/>
              </a:rPr>
              <a:t>step_type: inventory_analysis</a:t>
            </a:r>
            <a:endParaRPr lang="en-US" sz="1100"/>
          </a:p>
        </p:txBody>
      </p:sp>
      <p:sp>
        <p:nvSpPr>
          <p:cNvPr name="AutoShape 32" id="32"/>
          <p:cNvSpPr/>
          <p:nvPr/>
        </p:nvSpPr>
        <p:spPr>
          <a:xfrm rot="0" flipH="false" flipV="false">
            <a:off x="8255000" y="4089400"/>
            <a:ext cx="2667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33333"/>
              </a:lnSpc>
              <a:defRPr/>
            </a:pPr>
            <a:r>
              <a:rPr lang="en-US" b="false" i="false" strike="noStrike" u="none" sz="1200">
                <a:solidFill>
                  <a:srgbClr val="536174"/>
                </a:solidFill>
                <a:latin typeface="Noto Sans SC"/>
                <a:ea typeface="Noto Sans SC"/>
                <a:cs typeface="Noto Sans SC"/>
                <a:sym typeface="Noto Sans SC"/>
              </a:rPr>
              <a:t>调用封装好的呆滞分析Workflow，根据Coder取数得到的指标进行呆滞分析</a:t>
            </a:r>
            <a:endParaRPr lang="en-US" sz="1100"/>
          </a:p>
        </p:txBody>
      </p:sp>
      <p:cxnSp>
        <p:nvCxnSpPr>
          <p:cNvPr name="Connector 33" id="33"/>
          <p:cNvCxnSpPr/>
          <p:nvPr/>
        </p:nvCxnSpPr>
        <p:spPr>
          <a:xfrm rot="-16370" flipH="false" flipV="false">
            <a:off x="8255015" y="5010150"/>
            <a:ext cx="2667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E6EBF2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34" id="34"/>
          <p:cNvSpPr/>
          <p:nvPr/>
        </p:nvSpPr>
        <p:spPr>
          <a:xfrm rot="0" flipH="false" flipV="false">
            <a:off x="8255000" y="5181600"/>
            <a:ext cx="2667000" cy="279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100">
                <a:solidFill>
                  <a:srgbClr val="788496"/>
                </a:solidFill>
                <a:latin typeface="Noto Sans SC"/>
                <a:ea typeface="Noto Sans SC"/>
                <a:cs typeface="Noto Sans SC"/>
                <a:sym typeface="Noto Sans SC"/>
              </a:rPr>
              <a:t>绑定工具</a:t>
            </a:r>
            <a:endParaRPr lang="en-US" sz="1100"/>
          </a:p>
        </p:txBody>
      </p:sp>
      <p:sp>
        <p:nvSpPr>
          <p:cNvPr name="AutoShape 35" id="35"/>
          <p:cNvSpPr/>
          <p:nvPr/>
        </p:nvSpPr>
        <p:spPr>
          <a:xfrm rot="0" flipH="false" flipV="false">
            <a:off x="8255000" y="5461000"/>
            <a:ext cx="2667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100">
                <a:solidFill>
                  <a:srgbClr val="53617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inventory_workflow_tool</a:t>
            </a:r>
            <a:endParaRPr lang="en-US" sz="1100"/>
          </a:p>
          <a:p>
            <a:pPr algn="l" marL="0" indent="0">
              <a:lnSpc>
                <a:spcPct val="125000"/>
              </a:lnSpc>
            </a:pPr>
            <a:r>
              <a:rPr lang="en-US" b="false" i="false" strike="noStrike" u="none" sz="1100">
                <a:solidFill>
                  <a:srgbClr val="53617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（呆滞分析工作流）</a:t>
            </a:r>
          </a:p>
        </p:txBody>
      </p:sp>
      <p:sp>
        <p:nvSpPr>
          <p:cNvPr name="AutoShape 36" id="36"/>
          <p:cNvSpPr/>
          <p:nvPr/>
        </p:nvSpPr>
        <p:spPr>
          <a:xfrm rot="0" flipH="false" flipV="false">
            <a:off x="1016000" y="6388100"/>
            <a:ext cx="10160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100">
                <a:solidFill>
                  <a:srgbClr val="788496"/>
                </a:solidFill>
                <a:latin typeface="Noto Sans SC"/>
                <a:ea typeface="Noto Sans SC"/>
                <a:cs typeface="Noto Sans SC"/>
                <a:sym typeface="Noto Sans SC"/>
              </a:rPr>
              <a:t>每个Agent本质是ReAct Agent：组装计划标题+已完成结果+当前step描述+专属提示 → 多次LLM调用 → 输出不含tool_calls时终止 → 结果写入execution_res和observations</a:t>
            </a:r>
            <a:endParaRPr lang="en-US" sz="1100"/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2F4F8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76200"/>
          </a:xfrm>
          <a:prstGeom prst="roundRect">
            <a:avLst>
              <a:gd name="adj" fmla="val 0"/>
            </a:avLst>
          </a:prstGeom>
          <a:solidFill>
            <a:srgbClr val="0D1326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1016000" y="508000"/>
            <a:ext cx="2540000" cy="317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300">
                <a:solidFill>
                  <a:srgbClr val="2563EB"/>
                </a:solidFill>
                <a:latin typeface="Noto Sans SC"/>
                <a:ea typeface="Noto Sans SC"/>
                <a:cs typeface="Noto Sans SC"/>
                <a:sym typeface="Noto Sans SC"/>
              </a:rPr>
              <a:t>PART 02 · STAGE 4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1016000" y="825500"/>
            <a:ext cx="10160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000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交付阶段：从证据整理到可视化报告</a:t>
            </a:r>
            <a:endParaRPr lang="en-US" sz="1100"/>
          </a:p>
        </p:txBody>
      </p:sp>
      <p:cxnSp>
        <p:nvCxnSpPr>
          <p:cNvPr name="Connector 5" id="5"/>
          <p:cNvCxnSpPr/>
          <p:nvPr/>
        </p:nvCxnSpPr>
        <p:spPr>
          <a:xfrm rot="-4297" flipH="false" flipV="false">
            <a:off x="1016004" y="1581150"/>
            <a:ext cx="1016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C8D0D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6" id="6"/>
          <p:cNvSpPr/>
          <p:nvPr/>
        </p:nvSpPr>
        <p:spPr>
          <a:xfrm rot="0" flipH="false" flipV="false">
            <a:off x="1016000" y="1905000"/>
            <a:ext cx="4826000" cy="24765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DCE2EB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1016000" y="1905000"/>
            <a:ext cx="4826000" cy="533400"/>
          </a:xfrm>
          <a:prstGeom prst="roundRect">
            <a:avLst>
              <a:gd name="adj" fmla="val 0"/>
            </a:avLst>
          </a:prstGeom>
          <a:solidFill>
            <a:srgbClr val="0D1326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8" id="8"/>
          <p:cNvPicPr>
            <a:picLocks noChangeAspect="true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0" flipH="false" flipV="false">
            <a:off x="1270000" y="2032000"/>
            <a:ext cx="279400" cy="279400"/>
          </a:xfrm>
          <a:prstGeom prst="rect">
            <a:avLst/>
          </a:prstGeom>
        </p:spPr>
      </p:pic>
      <p:sp>
        <p:nvSpPr>
          <p:cNvPr name="AutoShape 9" id="9"/>
          <p:cNvSpPr/>
          <p:nvPr/>
        </p:nvSpPr>
        <p:spPr>
          <a:xfrm rot="0" flipH="false" flipV="false">
            <a:off x="1676400" y="2006600"/>
            <a:ext cx="3810000" cy="355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7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Reporter · 证据整理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1270000" y="2603500"/>
            <a:ext cx="4318000" cy="317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300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输入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1270000" y="2895600"/>
            <a:ext cx="4318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33333"/>
              </a:lnSpc>
              <a:defRPr/>
            </a:pPr>
            <a:r>
              <a:rPr lang="en-US" b="false" i="false" strike="noStrike" u="none" sz="1100">
                <a:solidFill>
                  <a:srgbClr val="53617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plan.title + plan.thought</a:t>
            </a:r>
            <a:endParaRPr lang="en-US" sz="1100"/>
          </a:p>
          <a:p>
            <a:pPr algn="l" marL="0" indent="0">
              <a:lnSpc>
                <a:spcPct val="133333"/>
              </a:lnSpc>
            </a:pPr>
            <a:r>
              <a:rPr lang="en-US" b="false" i="false" strike="noStrike" u="none" sz="1100">
                <a:solidFill>
                  <a:srgbClr val="53617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+ observations中各Agent结果</a:t>
            </a:r>
          </a:p>
          <a:p>
            <a:pPr algn="l" marL="0" indent="0">
              <a:lnSpc>
                <a:spcPct val="133333"/>
              </a:lnSpc>
            </a:pPr>
            <a:r>
              <a:rPr lang="en-US" b="false" i="false" strike="noStrike" u="none" sz="1100">
                <a:solidFill>
                  <a:srgbClr val="53617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+ reporter.md格式要求</a:t>
            </a:r>
          </a:p>
        </p:txBody>
      </p:sp>
      <p:cxnSp>
        <p:nvCxnSpPr>
          <p:cNvPr name="Connector 12" id="12"/>
          <p:cNvCxnSpPr/>
          <p:nvPr/>
        </p:nvCxnSpPr>
        <p:spPr>
          <a:xfrm rot="-10110" flipH="false" flipV="false">
            <a:off x="1270009" y="3613150"/>
            <a:ext cx="431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E6EBF2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13" id="13"/>
          <p:cNvSpPr/>
          <p:nvPr/>
        </p:nvSpPr>
        <p:spPr>
          <a:xfrm rot="0" flipH="false" flipV="false">
            <a:off x="1270000" y="3746500"/>
            <a:ext cx="4318000" cy="317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300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输出</a:t>
            </a:r>
            <a:endParaRPr lang="en-US" sz="1100"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1270000" y="4038600"/>
            <a:ext cx="4318000" cy="317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100">
                <a:solidFill>
                  <a:srgbClr val="53617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final_report → markdown_result/{thread_id}.md</a:t>
            </a:r>
            <a:endParaRPr lang="en-US" sz="1100"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6350000" y="1905000"/>
            <a:ext cx="4826000" cy="24765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DCE2EB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6350000" y="1905000"/>
            <a:ext cx="4826000" cy="533400"/>
          </a:xfrm>
          <a:prstGeom prst="roundRect">
            <a:avLst>
              <a:gd name="adj" fmla="val 0"/>
            </a:avLst>
          </a:prstGeom>
          <a:solidFill>
            <a:srgbClr val="2563EB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7" id="17"/>
          <p:cNvPicPr>
            <a:picLocks noChangeAspect="true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0" flipH="false" flipV="false">
            <a:off x="6604000" y="2032000"/>
            <a:ext cx="279400" cy="279400"/>
          </a:xfrm>
          <a:prstGeom prst="rect">
            <a:avLst/>
          </a:prstGeom>
        </p:spPr>
      </p:pic>
      <p:sp>
        <p:nvSpPr>
          <p:cNvPr name="AutoShape 18" id="18"/>
          <p:cNvSpPr/>
          <p:nvPr/>
        </p:nvSpPr>
        <p:spPr>
          <a:xfrm rot="0" flipH="false" flipV="false">
            <a:off x="7010400" y="2006600"/>
            <a:ext cx="3810000" cy="355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7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Insight Reporter · 洞察与HTML</a:t>
            </a:r>
            <a:endParaRPr lang="en-US" sz="1100"/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6604000" y="2603500"/>
            <a:ext cx="4318000" cy="317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300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两步处理</a:t>
            </a:r>
            <a:endParaRPr lang="en-US" sz="1100"/>
          </a:p>
        </p:txBody>
      </p:sp>
      <p:sp>
        <p:nvSpPr>
          <p:cNvPr name="AutoShape 20" id="20"/>
          <p:cNvSpPr/>
          <p:nvPr/>
        </p:nvSpPr>
        <p:spPr>
          <a:xfrm rot="0" flipH="false" flipV="false">
            <a:off x="6604000" y="2921000"/>
            <a:ext cx="4318000" cy="571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33333"/>
              </a:lnSpc>
              <a:defRPr/>
            </a:pPr>
            <a:r>
              <a:rPr lang="en-US" b="false" i="false" strike="noStrike" u="none" sz="1200">
                <a:solidFill>
                  <a:srgbClr val="536174"/>
                </a:solidFill>
                <a:latin typeface="Noto Sans SC"/>
                <a:ea typeface="Noto Sans SC"/>
                <a:cs typeface="Noto Sans SC"/>
                <a:sym typeface="Noto Sans SC"/>
              </a:rPr>
              <a:t>1. 读取final_report，LLM生成短版洞察</a:t>
            </a:r>
            <a:endParaRPr lang="en-US" sz="1100"/>
          </a:p>
          <a:p>
            <a:pPr algn="l" marL="0" indent="0">
              <a:lnSpc>
                <a:spcPct val="133333"/>
              </a:lnSpc>
            </a:pPr>
            <a:r>
              <a:rPr lang="en-US" b="false" i="false" strike="noStrike" u="none" sz="1200">
                <a:solidFill>
                  <a:srgbClr val="536174"/>
                </a:solidFill>
                <a:latin typeface="Noto Sans SC"/>
                <a:ea typeface="Noto Sans SC"/>
                <a:cs typeface="Noto Sans SC"/>
                <a:sym typeface="Noto Sans SC"/>
              </a:rPr>
              <a:t>2. 读取Markdown文件，ConvertToHtmlFunc转HTML</a:t>
            </a:r>
          </a:p>
        </p:txBody>
      </p:sp>
      <p:cxnSp>
        <p:nvCxnSpPr>
          <p:cNvPr name="Connector 21" id="21"/>
          <p:cNvCxnSpPr/>
          <p:nvPr/>
        </p:nvCxnSpPr>
        <p:spPr>
          <a:xfrm rot="-10110" flipH="false" flipV="false">
            <a:off x="6604009" y="3613150"/>
            <a:ext cx="431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E6EBF2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22" id="22"/>
          <p:cNvSpPr/>
          <p:nvPr/>
        </p:nvSpPr>
        <p:spPr>
          <a:xfrm rot="0" flipH="false" flipV="false">
            <a:off x="6604000" y="3746500"/>
            <a:ext cx="4318000" cy="317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300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输出</a:t>
            </a:r>
            <a:endParaRPr lang="en-US" sz="1100"/>
          </a:p>
        </p:txBody>
      </p:sp>
      <p:sp>
        <p:nvSpPr>
          <p:cNvPr name="AutoShape 23" id="23"/>
          <p:cNvSpPr/>
          <p:nvPr/>
        </p:nvSpPr>
        <p:spPr>
          <a:xfrm rot="0" flipH="false" flipV="false">
            <a:off x="6604000" y="4038600"/>
            <a:ext cx="4318000" cy="317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100">
                <a:solidFill>
                  <a:srgbClr val="53617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insight_report_result + final.html（含ECharts图表）</a:t>
            </a:r>
            <a:endParaRPr lang="en-US" sz="1100"/>
          </a:p>
        </p:txBody>
      </p:sp>
      <p:cxnSp>
        <p:nvCxnSpPr>
          <p:cNvPr name="Connector 24" id="24"/>
          <p:cNvCxnSpPr/>
          <p:nvPr/>
        </p:nvCxnSpPr>
        <p:spPr>
          <a:xfrm rot="-85925" flipH="false" flipV="false">
            <a:off x="5842079" y="3041650"/>
            <a:ext cx="50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mpd="sng" cap="flat">
            <a:solidFill>
              <a:srgbClr val="2563EB">
                <a:alpha val="100000"/>
              </a:srgbClr>
            </a:solidFill>
            <a:prstDash val="solid"/>
            <a:round/>
            <a:headEnd type="none" w="lg" len="lg"/>
            <a:tailEnd type="arrow" w="lg" len="lg"/>
          </a:ln>
        </p:spPr>
      </p:cxnSp>
      <p:sp>
        <p:nvSpPr>
          <p:cNvPr name="AutoShape 25" id="25"/>
          <p:cNvSpPr/>
          <p:nvPr/>
        </p:nvSpPr>
        <p:spPr>
          <a:xfrm rot="0" flipH="false" flipV="false">
            <a:off x="1016000" y="4508500"/>
            <a:ext cx="10160000" cy="1778000"/>
          </a:xfrm>
          <a:prstGeom prst="roundRect">
            <a:avLst>
              <a:gd name="adj" fmla="val 0"/>
            </a:avLst>
          </a:prstGeom>
          <a:solidFill>
            <a:srgbClr val="0D1326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6" id="26"/>
          <p:cNvSpPr/>
          <p:nvPr/>
        </p:nvSpPr>
        <p:spPr>
          <a:xfrm rot="0" flipH="false" flipV="false">
            <a:off x="1333500" y="4699000"/>
            <a:ext cx="6350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200">
                <a:solidFill>
                  <a:srgbClr val="BFD7FF"/>
                </a:solidFill>
                <a:latin typeface="Noto Sans SC"/>
                <a:ea typeface="Noto Sans SC"/>
                <a:cs typeface="Noto Sans SC"/>
                <a:sym typeface="Noto Sans SC"/>
              </a:rPr>
              <a:t>HTML GENERATION PIPELINE · 图表生成在此阶段完成</a:t>
            </a:r>
            <a:endParaRPr lang="en-US" sz="1100"/>
          </a:p>
        </p:txBody>
      </p:sp>
      <p:sp>
        <p:nvSpPr>
          <p:cNvPr name="AutoShape 27" id="27"/>
          <p:cNvSpPr/>
          <p:nvPr/>
        </p:nvSpPr>
        <p:spPr>
          <a:xfrm rot="0" flipH="false" flipV="false">
            <a:off x="1333500" y="5143500"/>
            <a:ext cx="1270000" cy="825500"/>
          </a:xfrm>
          <a:prstGeom prst="roundRect">
            <a:avLst>
              <a:gd name="adj" fmla="val 0"/>
            </a:avLst>
          </a:prstGeom>
          <a:solidFill>
            <a:srgbClr val="2563EB">
              <a:alpha val="20000"/>
            </a:srgbClr>
          </a:solidFill>
          <a:ln w="12700" cmpd="sng" cap="flat">
            <a:solidFill>
              <a:srgbClr val="2563EB">
                <a:alpha val="5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8" id="28"/>
          <p:cNvSpPr/>
          <p:nvPr/>
        </p:nvSpPr>
        <p:spPr>
          <a:xfrm rot="0" flipH="false" flipV="false">
            <a:off x="1333500" y="5270500"/>
            <a:ext cx="1270000" cy="571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16666"/>
              </a:lnSpc>
              <a:defRPr/>
            </a:pPr>
            <a:r>
              <a:rPr lang="en-US" b="false" i="false" strike="noStrike" u="none" sz="11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读取</a:t>
            </a:r>
            <a:endParaRPr lang="en-US" sz="1100"/>
          </a:p>
          <a:p>
            <a:pPr algn="ctr" marL="0" indent="0">
              <a:lnSpc>
                <a:spcPct val="116666"/>
              </a:lnSpc>
            </a:pPr>
            <a:r>
              <a:rPr lang="en-US" b="false" i="false" strike="noStrike" u="none" sz="11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Markdown</a:t>
            </a:r>
          </a:p>
        </p:txBody>
      </p:sp>
      <p:cxnSp>
        <p:nvCxnSpPr>
          <p:cNvPr name="Connector 29" id="29"/>
          <p:cNvCxnSpPr/>
          <p:nvPr/>
        </p:nvCxnSpPr>
        <p:spPr>
          <a:xfrm rot="-171744" flipH="false" flipV="false">
            <a:off x="2603659" y="5543550"/>
            <a:ext cx="254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BFD7FF">
                <a:alpha val="100000"/>
              </a:srgbClr>
            </a:solidFill>
            <a:prstDash val="solid"/>
            <a:round/>
            <a:headEnd type="none" w="med" len="med"/>
            <a:tailEnd type="arrow" w="med" len="med"/>
          </a:ln>
        </p:spPr>
      </p:cxnSp>
      <p:sp>
        <p:nvSpPr>
          <p:cNvPr name="AutoShape 30" id="30"/>
          <p:cNvSpPr/>
          <p:nvPr/>
        </p:nvSpPr>
        <p:spPr>
          <a:xfrm rot="0" flipH="false" flipV="false">
            <a:off x="2857500" y="5143500"/>
            <a:ext cx="1270000" cy="825500"/>
          </a:xfrm>
          <a:prstGeom prst="roundRect">
            <a:avLst>
              <a:gd name="adj" fmla="val 0"/>
            </a:avLst>
          </a:prstGeom>
          <a:solidFill>
            <a:srgbClr val="2563EB">
              <a:alpha val="20000"/>
            </a:srgbClr>
          </a:solidFill>
          <a:ln w="12700" cmpd="sng" cap="flat">
            <a:solidFill>
              <a:srgbClr val="2563EB">
                <a:alpha val="5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1" id="31"/>
          <p:cNvSpPr/>
          <p:nvPr/>
        </p:nvSpPr>
        <p:spPr>
          <a:xfrm rot="0" flipH="false" flipV="false">
            <a:off x="2857500" y="5270500"/>
            <a:ext cx="1270000" cy="571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16666"/>
              </a:lnSpc>
              <a:defRPr/>
            </a:pPr>
            <a:r>
              <a:rPr lang="en-US" b="false" i="false" strike="noStrike" u="none" sz="11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识别标题</a:t>
            </a:r>
            <a:endParaRPr lang="en-US" sz="1100"/>
          </a:p>
          <a:p>
            <a:pPr algn="ctr" marL="0" indent="0">
              <a:lnSpc>
                <a:spcPct val="116666"/>
              </a:lnSpc>
            </a:pPr>
            <a:r>
              <a:rPr lang="en-US" b="false" i="false" strike="noStrike" u="none" sz="11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和章节</a:t>
            </a:r>
          </a:p>
        </p:txBody>
      </p:sp>
      <p:cxnSp>
        <p:nvCxnSpPr>
          <p:cNvPr name="Connector 32" id="32"/>
          <p:cNvCxnSpPr/>
          <p:nvPr/>
        </p:nvCxnSpPr>
        <p:spPr>
          <a:xfrm rot="-171744" flipH="false" flipV="false">
            <a:off x="4127659" y="5543550"/>
            <a:ext cx="254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BFD7FF">
                <a:alpha val="100000"/>
              </a:srgbClr>
            </a:solidFill>
            <a:prstDash val="solid"/>
            <a:round/>
            <a:headEnd type="none" w="med" len="med"/>
            <a:tailEnd type="arrow" w="med" len="med"/>
          </a:ln>
        </p:spPr>
      </p:cxnSp>
      <p:sp>
        <p:nvSpPr>
          <p:cNvPr name="AutoShape 33" id="33"/>
          <p:cNvSpPr/>
          <p:nvPr/>
        </p:nvSpPr>
        <p:spPr>
          <a:xfrm rot="0" flipH="false" flipV="false">
            <a:off x="4381500" y="5143500"/>
            <a:ext cx="1270000" cy="825500"/>
          </a:xfrm>
          <a:prstGeom prst="roundRect">
            <a:avLst>
              <a:gd name="adj" fmla="val 0"/>
            </a:avLst>
          </a:prstGeom>
          <a:solidFill>
            <a:srgbClr val="2563EB">
              <a:alpha val="20000"/>
            </a:srgbClr>
          </a:solidFill>
          <a:ln w="12700" cmpd="sng" cap="flat">
            <a:solidFill>
              <a:srgbClr val="2563EB">
                <a:alpha val="5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4" id="34"/>
          <p:cNvSpPr/>
          <p:nvPr/>
        </p:nvSpPr>
        <p:spPr>
          <a:xfrm rot="0" flipH="false" flipV="false">
            <a:off x="4381500" y="5270500"/>
            <a:ext cx="1270000" cy="571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16666"/>
              </a:lnSpc>
              <a:defRPr/>
            </a:pPr>
            <a:r>
              <a:rPr lang="en-US" b="false" i="false" strike="noStrike" u="none" sz="11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LLM生成</a:t>
            </a:r>
            <a:endParaRPr lang="en-US" sz="1100"/>
          </a:p>
          <a:p>
            <a:pPr algn="ctr" marL="0" indent="0">
              <a:lnSpc>
                <a:spcPct val="116666"/>
              </a:lnSpc>
            </a:pPr>
            <a:r>
              <a:rPr lang="en-US" b="false" i="false" strike="noStrike" u="none" sz="11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页面框架</a:t>
            </a:r>
          </a:p>
        </p:txBody>
      </p:sp>
      <p:cxnSp>
        <p:nvCxnSpPr>
          <p:cNvPr name="Connector 35" id="35"/>
          <p:cNvCxnSpPr/>
          <p:nvPr/>
        </p:nvCxnSpPr>
        <p:spPr>
          <a:xfrm rot="-171744" flipH="false" flipV="false">
            <a:off x="5651659" y="5543550"/>
            <a:ext cx="254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BFD7FF">
                <a:alpha val="100000"/>
              </a:srgbClr>
            </a:solidFill>
            <a:prstDash val="solid"/>
            <a:round/>
            <a:headEnd type="none" w="med" len="med"/>
            <a:tailEnd type="arrow" w="med" len="med"/>
          </a:ln>
        </p:spPr>
      </p:cxnSp>
      <p:sp>
        <p:nvSpPr>
          <p:cNvPr name="AutoShape 36" id="36"/>
          <p:cNvSpPr/>
          <p:nvPr/>
        </p:nvSpPr>
        <p:spPr>
          <a:xfrm rot="0" flipH="false" flipV="false">
            <a:off x="5905500" y="5143500"/>
            <a:ext cx="1270000" cy="825500"/>
          </a:xfrm>
          <a:prstGeom prst="roundRect">
            <a:avLst>
              <a:gd name="adj" fmla="val 0"/>
            </a:avLst>
          </a:prstGeom>
          <a:solidFill>
            <a:srgbClr val="2563EB">
              <a:alpha val="20000"/>
            </a:srgbClr>
          </a:solidFill>
          <a:ln w="12700" cmpd="sng" cap="flat">
            <a:solidFill>
              <a:srgbClr val="2563EB">
                <a:alpha val="5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7" id="37"/>
          <p:cNvSpPr/>
          <p:nvPr/>
        </p:nvSpPr>
        <p:spPr>
          <a:xfrm rot="0" flipH="false" flipV="false">
            <a:off x="5905500" y="5270500"/>
            <a:ext cx="1270000" cy="571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16666"/>
              </a:lnSpc>
              <a:defRPr/>
            </a:pPr>
            <a:r>
              <a:rPr lang="en-US" b="false" i="false" strike="noStrike" u="none" sz="11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逐章节生成</a:t>
            </a:r>
            <a:endParaRPr lang="en-US" sz="1100"/>
          </a:p>
          <a:p>
            <a:pPr algn="ctr" marL="0" indent="0">
              <a:lnSpc>
                <a:spcPct val="116666"/>
              </a:lnSpc>
            </a:pPr>
            <a:r>
              <a:rPr lang="en-US" b="false" i="false" strike="noStrike" u="none" sz="11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HTML内容</a:t>
            </a:r>
          </a:p>
        </p:txBody>
      </p:sp>
      <p:cxnSp>
        <p:nvCxnSpPr>
          <p:cNvPr name="Connector 38" id="38"/>
          <p:cNvCxnSpPr/>
          <p:nvPr/>
        </p:nvCxnSpPr>
        <p:spPr>
          <a:xfrm rot="-171744" flipH="false" flipV="false">
            <a:off x="7175659" y="5543550"/>
            <a:ext cx="254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BFD7FF">
                <a:alpha val="100000"/>
              </a:srgbClr>
            </a:solidFill>
            <a:prstDash val="solid"/>
            <a:round/>
            <a:headEnd type="none" w="med" len="med"/>
            <a:tailEnd type="arrow" w="med" len="med"/>
          </a:ln>
        </p:spPr>
      </p:cxnSp>
      <p:sp>
        <p:nvSpPr>
          <p:cNvPr name="AutoShape 39" id="39"/>
          <p:cNvSpPr/>
          <p:nvPr/>
        </p:nvSpPr>
        <p:spPr>
          <a:xfrm rot="0" flipH="false" flipV="false">
            <a:off x="7429500" y="5143500"/>
            <a:ext cx="1270000" cy="825500"/>
          </a:xfrm>
          <a:prstGeom prst="roundRect">
            <a:avLst>
              <a:gd name="adj" fmla="val 0"/>
            </a:avLst>
          </a:prstGeom>
          <a:solidFill>
            <a:srgbClr val="2563EB">
              <a:alpha val="30000"/>
            </a:srgbClr>
          </a:solidFill>
          <a:ln w="12700" cmpd="sng" cap="flat">
            <a:solidFill>
              <a:srgbClr val="2563EB">
                <a:alpha val="7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0" id="40"/>
          <p:cNvSpPr/>
          <p:nvPr/>
        </p:nvSpPr>
        <p:spPr>
          <a:xfrm rot="0" flipH="false" flipV="false">
            <a:off x="7429500" y="5270500"/>
            <a:ext cx="1270000" cy="571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16666"/>
              </a:lnSpc>
              <a:defRPr/>
            </a:pPr>
            <a:r>
              <a:rPr lang="en-US" b="true" i="false" strike="noStrike" u="none" sz="11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生成图表容器</a:t>
            </a:r>
            <a:endParaRPr lang="en-US" sz="1100"/>
          </a:p>
          <a:p>
            <a:pPr algn="ctr" marL="0" indent="0">
              <a:lnSpc>
                <a:spcPct val="116666"/>
              </a:lnSpc>
            </a:pPr>
            <a:r>
              <a:rPr lang="en-US" b="true" i="false" strike="noStrike" u="none" sz="11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+ ECharts JS</a:t>
            </a:r>
          </a:p>
        </p:txBody>
      </p:sp>
      <p:cxnSp>
        <p:nvCxnSpPr>
          <p:cNvPr name="Connector 41" id="41"/>
          <p:cNvCxnSpPr/>
          <p:nvPr/>
        </p:nvCxnSpPr>
        <p:spPr>
          <a:xfrm rot="-171744" flipH="false" flipV="false">
            <a:off x="8699659" y="5543550"/>
            <a:ext cx="254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BFD7FF">
                <a:alpha val="100000"/>
              </a:srgbClr>
            </a:solidFill>
            <a:prstDash val="solid"/>
            <a:round/>
            <a:headEnd type="none" w="med" len="med"/>
            <a:tailEnd type="arrow" w="med" len="med"/>
          </a:ln>
        </p:spPr>
      </p:cxnSp>
      <p:sp>
        <p:nvSpPr>
          <p:cNvPr name="AutoShape 42" id="42"/>
          <p:cNvSpPr/>
          <p:nvPr/>
        </p:nvSpPr>
        <p:spPr>
          <a:xfrm rot="0" flipH="false" flipV="false">
            <a:off x="8953500" y="5143500"/>
            <a:ext cx="1270000" cy="825500"/>
          </a:xfrm>
          <a:prstGeom prst="roundRect">
            <a:avLst>
              <a:gd name="adj" fmla="val 0"/>
            </a:avLst>
          </a:prstGeom>
          <a:solidFill>
            <a:srgbClr val="2563EB">
              <a:alpha val="20000"/>
            </a:srgbClr>
          </a:solidFill>
          <a:ln w="12700" cmpd="sng" cap="flat">
            <a:solidFill>
              <a:srgbClr val="2563EB">
                <a:alpha val="5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3" id="43"/>
          <p:cNvSpPr/>
          <p:nvPr/>
        </p:nvSpPr>
        <p:spPr>
          <a:xfrm rot="0" flipH="false" flipV="false">
            <a:off x="8953500" y="5270500"/>
            <a:ext cx="1270000" cy="571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16666"/>
              </a:lnSpc>
              <a:defRPr/>
            </a:pPr>
            <a:r>
              <a:rPr lang="en-US" b="false" i="false" strike="noStrike" u="none" sz="11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合并章节</a:t>
            </a:r>
            <a:endParaRPr lang="en-US" sz="1100"/>
          </a:p>
          <a:p>
            <a:pPr algn="ctr" marL="0" indent="0">
              <a:lnSpc>
                <a:spcPct val="116666"/>
              </a:lnSpc>
            </a:pPr>
            <a:r>
              <a:rPr lang="en-US" b="false" i="false" strike="noStrike" u="none" sz="11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保存final.html</a:t>
            </a:r>
          </a:p>
        </p:txBody>
      </p:sp>
      <p:sp>
        <p:nvSpPr>
          <p:cNvPr name="AutoShape 44" id="44"/>
          <p:cNvSpPr/>
          <p:nvPr/>
        </p:nvSpPr>
        <p:spPr>
          <a:xfrm rot="0" flipH="false" flipV="false">
            <a:off x="1016000" y="6477000"/>
            <a:ext cx="10160000" cy="279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100">
                <a:solidFill>
                  <a:srgbClr val="788496"/>
                </a:solidFill>
                <a:latin typeface="Noto Sans SC"/>
                <a:ea typeface="Noto Sans SC"/>
                <a:cs typeface="Noto Sans SC"/>
                <a:sym typeface="Noto Sans SC"/>
              </a:rPr>
              <a:t>Reporter是"证据整理和文档写作"节点，不重新查询数据库、不决定计划；数据缺失时标注信息不足，绝不凭空补数据</a:t>
            </a:r>
            <a:endParaRPr lang="en-US" sz="1100"/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>
  <p:cSld>
    <p:bg>
      <p:bgPr>
        <a:solidFill>
          <a:srgbClr val="F2F4F8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76200"/>
          </a:xfrm>
          <a:prstGeom prst="roundRect">
            <a:avLst>
              <a:gd name="adj" fmla="val 0"/>
            </a:avLst>
          </a:prstGeom>
          <a:solidFill>
            <a:srgbClr val="0D1326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1016000" y="508000"/>
            <a:ext cx="3556000" cy="317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300">
                <a:solidFill>
                  <a:srgbClr val="2563EB"/>
                </a:solidFill>
                <a:latin typeface="Noto Sans SC"/>
                <a:ea typeface="Noto Sans SC"/>
                <a:cs typeface="Noto Sans SC"/>
                <a:sym typeface="Noto Sans SC"/>
              </a:rPr>
              <a:t>PART 02 · BUSINESS LOGIC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1016000" y="825500"/>
            <a:ext cx="10160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000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呆滞分析业务逻辑：规则驱动的确定性分析</a:t>
            </a:r>
            <a:endParaRPr lang="en-US" sz="1100"/>
          </a:p>
        </p:txBody>
      </p:sp>
      <p:cxnSp>
        <p:nvCxnSpPr>
          <p:cNvPr name="Connector 5" id="5"/>
          <p:cNvCxnSpPr/>
          <p:nvPr/>
        </p:nvCxnSpPr>
        <p:spPr>
          <a:xfrm rot="-4297" flipH="false" flipV="false">
            <a:off x="1016004" y="1581150"/>
            <a:ext cx="1016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C8D0D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6" id="6"/>
          <p:cNvSpPr/>
          <p:nvPr/>
        </p:nvSpPr>
        <p:spPr>
          <a:xfrm rot="0" flipH="false" flipV="false">
            <a:off x="1016000" y="1841500"/>
            <a:ext cx="6350000" cy="317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200">
                <a:solidFill>
                  <a:srgbClr val="2563EB"/>
                </a:solidFill>
                <a:latin typeface="Noto Sans SC"/>
                <a:ea typeface="Noto Sans SC"/>
                <a:cs typeface="Noto Sans SC"/>
                <a:sym typeface="Noto Sans SC"/>
              </a:rPr>
              <a:t>ANALYSIS PIPELINE · 七步分析流程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1016000" y="2222500"/>
            <a:ext cx="6350000" cy="508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DCE2EB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1016000" y="2222500"/>
            <a:ext cx="508000" cy="508000"/>
          </a:xfrm>
          <a:prstGeom prst="roundRect">
            <a:avLst>
              <a:gd name="adj" fmla="val 0"/>
            </a:avLst>
          </a:prstGeom>
          <a:solidFill>
            <a:srgbClr val="0D1326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1016000" y="2222500"/>
            <a:ext cx="508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1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1714500" y="2286000"/>
            <a:ext cx="5461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读取State中的企业、行业和分析标准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1016000" y="2857500"/>
            <a:ext cx="6350000" cy="508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DCE2EB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1016000" y="2857500"/>
            <a:ext cx="508000" cy="508000"/>
          </a:xfrm>
          <a:prstGeom prst="roundRect">
            <a:avLst>
              <a:gd name="adj" fmla="val 0"/>
            </a:avLst>
          </a:prstGeom>
          <a:solidFill>
            <a:srgbClr val="0D1326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1016000" y="2857500"/>
            <a:ext cx="508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2</a:t>
            </a:r>
            <a:endParaRPr lang="en-US" sz="1100"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1714500" y="2921000"/>
            <a:ext cx="5461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从Nebula取数，查库存明细和历史数据</a:t>
            </a:r>
            <a:endParaRPr lang="en-US" sz="1100"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1016000" y="3492500"/>
            <a:ext cx="6350000" cy="508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DCE2EB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1016000" y="3492500"/>
            <a:ext cx="508000" cy="508000"/>
          </a:xfrm>
          <a:prstGeom prst="roundRect">
            <a:avLst>
              <a:gd name="adj" fmla="val 0"/>
            </a:avLst>
          </a:prstGeom>
          <a:solidFill>
            <a:srgbClr val="0D1326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1016000" y="3492500"/>
            <a:ext cx="508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3</a:t>
            </a:r>
            <a:endParaRPr lang="en-US" sz="1100"/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1714500" y="3556000"/>
            <a:ext cx="5461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按行业标准判断哪些属于呆滞库存</a:t>
            </a:r>
            <a:endParaRPr lang="en-US" sz="1100"/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1016000" y="4127500"/>
            <a:ext cx="6350000" cy="508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DCE2EB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0" id="20"/>
          <p:cNvSpPr/>
          <p:nvPr/>
        </p:nvSpPr>
        <p:spPr>
          <a:xfrm rot="0" flipH="false" flipV="false">
            <a:off x="1016000" y="4127500"/>
            <a:ext cx="508000" cy="508000"/>
          </a:xfrm>
          <a:prstGeom prst="roundRect">
            <a:avLst>
              <a:gd name="adj" fmla="val 0"/>
            </a:avLst>
          </a:prstGeom>
          <a:solidFill>
            <a:srgbClr val="2563EB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1" id="21"/>
          <p:cNvSpPr/>
          <p:nvPr/>
        </p:nvSpPr>
        <p:spPr>
          <a:xfrm rot="0" flipH="false" flipV="false">
            <a:off x="1016000" y="4127500"/>
            <a:ext cx="508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4</a:t>
            </a:r>
            <a:endParaRPr lang="en-US" sz="1100"/>
          </a:p>
        </p:txBody>
      </p:sp>
      <p:sp>
        <p:nvSpPr>
          <p:cNvPr name="AutoShape 22" id="22"/>
          <p:cNvSpPr/>
          <p:nvPr/>
        </p:nvSpPr>
        <p:spPr>
          <a:xfrm rot="0" flipH="false" flipV="false">
            <a:off x="1714500" y="4191000"/>
            <a:ext cx="5461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计算指标：呆滞金额、占比、趋势、周转率</a:t>
            </a:r>
            <a:endParaRPr lang="en-US" sz="1100"/>
          </a:p>
        </p:txBody>
      </p:sp>
      <p:sp>
        <p:nvSpPr>
          <p:cNvPr name="AutoShape 23" id="23"/>
          <p:cNvSpPr/>
          <p:nvPr/>
        </p:nvSpPr>
        <p:spPr>
          <a:xfrm rot="0" flipH="false" flipV="false">
            <a:off x="1016000" y="4762500"/>
            <a:ext cx="6350000" cy="508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DCE2EB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4" id="24"/>
          <p:cNvSpPr/>
          <p:nvPr/>
        </p:nvSpPr>
        <p:spPr>
          <a:xfrm rot="0" flipH="false" flipV="false">
            <a:off x="1016000" y="4762500"/>
            <a:ext cx="508000" cy="508000"/>
          </a:xfrm>
          <a:prstGeom prst="roundRect">
            <a:avLst>
              <a:gd name="adj" fmla="val 0"/>
            </a:avLst>
          </a:prstGeom>
          <a:solidFill>
            <a:srgbClr val="2563EB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5" id="25"/>
          <p:cNvSpPr/>
          <p:nvPr/>
        </p:nvSpPr>
        <p:spPr>
          <a:xfrm rot="0" flipH="false" flipV="false">
            <a:off x="1016000" y="4762500"/>
            <a:ext cx="508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5</a:t>
            </a:r>
            <a:endParaRPr lang="en-US" sz="1100"/>
          </a:p>
        </p:txBody>
      </p:sp>
      <p:sp>
        <p:nvSpPr>
          <p:cNvPr name="AutoShape 26" id="26"/>
          <p:cNvSpPr/>
          <p:nvPr/>
        </p:nvSpPr>
        <p:spPr>
          <a:xfrm rot="0" flipH="false" flipV="false">
            <a:off x="1714500" y="4826000"/>
            <a:ext cx="5461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并发检测多种可能的根因</a:t>
            </a:r>
            <a:endParaRPr lang="en-US" sz="1100"/>
          </a:p>
        </p:txBody>
      </p:sp>
      <p:sp>
        <p:nvSpPr>
          <p:cNvPr name="AutoShape 27" id="27"/>
          <p:cNvSpPr/>
          <p:nvPr/>
        </p:nvSpPr>
        <p:spPr>
          <a:xfrm rot="0" flipH="false" flipV="false">
            <a:off x="1016000" y="5397500"/>
            <a:ext cx="6350000" cy="508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DCE2EB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8" id="28"/>
          <p:cNvSpPr/>
          <p:nvPr/>
        </p:nvSpPr>
        <p:spPr>
          <a:xfrm rot="0" flipH="false" flipV="false">
            <a:off x="1016000" y="5397500"/>
            <a:ext cx="508000" cy="508000"/>
          </a:xfrm>
          <a:prstGeom prst="roundRect">
            <a:avLst>
              <a:gd name="adj" fmla="val 0"/>
            </a:avLst>
          </a:prstGeom>
          <a:solidFill>
            <a:srgbClr val="0D1326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9" id="29"/>
          <p:cNvSpPr/>
          <p:nvPr/>
        </p:nvSpPr>
        <p:spPr>
          <a:xfrm rot="0" flipH="false" flipV="false">
            <a:off x="1016000" y="5397500"/>
            <a:ext cx="508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6</a:t>
            </a:r>
            <a:endParaRPr lang="en-US" sz="1100"/>
          </a:p>
        </p:txBody>
      </p:sp>
      <p:sp>
        <p:nvSpPr>
          <p:cNvPr name="AutoShape 30" id="30"/>
          <p:cNvSpPr/>
          <p:nvPr/>
        </p:nvSpPr>
        <p:spPr>
          <a:xfrm rot="0" flipH="false" flipV="false">
            <a:off x="1714500" y="5461000"/>
            <a:ext cx="5461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根据根因生成处理建议（规则引擎，非LLM）</a:t>
            </a:r>
            <a:endParaRPr lang="en-US" sz="1100"/>
          </a:p>
        </p:txBody>
      </p:sp>
      <p:sp>
        <p:nvSpPr>
          <p:cNvPr name="AutoShape 31" id="31"/>
          <p:cNvSpPr/>
          <p:nvPr/>
        </p:nvSpPr>
        <p:spPr>
          <a:xfrm rot="0" flipH="false" flipV="false">
            <a:off x="1016000" y="6032500"/>
            <a:ext cx="6350000" cy="508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DCE2EB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2" id="32"/>
          <p:cNvSpPr/>
          <p:nvPr/>
        </p:nvSpPr>
        <p:spPr>
          <a:xfrm rot="0" flipH="false" flipV="false">
            <a:off x="1016000" y="6032500"/>
            <a:ext cx="508000" cy="508000"/>
          </a:xfrm>
          <a:prstGeom prst="roundRect">
            <a:avLst>
              <a:gd name="adj" fmla="val 0"/>
            </a:avLst>
          </a:prstGeom>
          <a:solidFill>
            <a:srgbClr val="0D1326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3" id="33"/>
          <p:cNvSpPr/>
          <p:nvPr/>
        </p:nvSpPr>
        <p:spPr>
          <a:xfrm rot="0" flipH="false" flipV="false">
            <a:off x="1016000" y="6032500"/>
            <a:ext cx="508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7</a:t>
            </a:r>
            <a:endParaRPr lang="en-US" sz="1100"/>
          </a:p>
        </p:txBody>
      </p:sp>
      <p:sp>
        <p:nvSpPr>
          <p:cNvPr name="AutoShape 34" id="34"/>
          <p:cNvSpPr/>
          <p:nvPr/>
        </p:nvSpPr>
        <p:spPr>
          <a:xfrm rot="0" flipH="false" flipV="false">
            <a:off x="1714500" y="6096000"/>
            <a:ext cx="5461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汇总结果（直接拼接，非LLM）</a:t>
            </a:r>
            <a:endParaRPr lang="en-US" sz="1100"/>
          </a:p>
        </p:txBody>
      </p:sp>
      <p:sp>
        <p:nvSpPr>
          <p:cNvPr name="AutoShape 35" id="35"/>
          <p:cNvSpPr/>
          <p:nvPr/>
        </p:nvSpPr>
        <p:spPr>
          <a:xfrm rot="0" flipH="false" flipV="false">
            <a:off x="7747000" y="2222500"/>
            <a:ext cx="3429000" cy="4318000"/>
          </a:xfrm>
          <a:prstGeom prst="roundRect">
            <a:avLst>
              <a:gd name="adj" fmla="val 0"/>
            </a:avLst>
          </a:prstGeom>
          <a:solidFill>
            <a:srgbClr val="0D1326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6" id="36"/>
          <p:cNvSpPr/>
          <p:nvPr/>
        </p:nvSpPr>
        <p:spPr>
          <a:xfrm rot="0" flipH="false" flipV="false">
            <a:off x="8001000" y="2476500"/>
            <a:ext cx="2921000" cy="317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200">
                <a:solidFill>
                  <a:srgbClr val="BFD7FF"/>
                </a:solidFill>
                <a:latin typeface="Noto Sans SC"/>
                <a:ea typeface="Noto Sans SC"/>
                <a:cs typeface="Noto Sans SC"/>
                <a:sym typeface="Noto Sans SC"/>
              </a:rPr>
              <a:t>KEY DESIGN DECISION</a:t>
            </a:r>
            <a:endParaRPr lang="en-US" sz="1100"/>
          </a:p>
        </p:txBody>
      </p:sp>
      <p:sp>
        <p:nvSpPr>
          <p:cNvPr name="AutoShape 37" id="37"/>
          <p:cNvSpPr/>
          <p:nvPr/>
        </p:nvSpPr>
        <p:spPr>
          <a:xfrm rot="0" flipH="false" flipV="false">
            <a:off x="8001000" y="2857500"/>
            <a:ext cx="2921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true" i="false" strike="noStrike" u="none" sz="20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规则引擎</a:t>
            </a:r>
            <a:endParaRPr lang="en-US" sz="1100"/>
          </a:p>
          <a:p>
            <a:pPr algn="l" marL="0" indent="0">
              <a:lnSpc>
                <a:spcPct val="116666"/>
              </a:lnSpc>
            </a:pPr>
            <a:r>
              <a:rPr lang="en-US" b="true" i="false" strike="noStrike" u="none" sz="20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而非LLM生成</a:t>
            </a:r>
          </a:p>
        </p:txBody>
      </p:sp>
      <p:cxnSp>
        <p:nvCxnSpPr>
          <p:cNvPr name="Connector 38" id="38"/>
          <p:cNvCxnSpPr/>
          <p:nvPr/>
        </p:nvCxnSpPr>
        <p:spPr>
          <a:xfrm rot="-57290" flipH="false" flipV="false">
            <a:off x="8001053" y="3803650"/>
            <a:ext cx="762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mpd="sng" cap="flat">
            <a:solidFill>
              <a:srgbClr val="2563EB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name="AutoShape 39" id="39"/>
          <p:cNvSpPr/>
          <p:nvPr/>
        </p:nvSpPr>
        <p:spPr>
          <a:xfrm rot="0" flipH="false" flipV="false">
            <a:off x="8001000" y="4064000"/>
            <a:ext cx="2921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处理建议</a:t>
            </a:r>
            <a:endParaRPr lang="en-US" sz="1100"/>
          </a:p>
        </p:txBody>
      </p:sp>
      <p:sp>
        <p:nvSpPr>
          <p:cNvPr name="AutoShape 40" id="40"/>
          <p:cNvSpPr/>
          <p:nvPr/>
        </p:nvSpPr>
        <p:spPr>
          <a:xfrm rot="0" flipH="false" flipV="false">
            <a:off x="8001000" y="4419600"/>
            <a:ext cx="2921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33333"/>
              </a:lnSpc>
              <a:defRPr/>
            </a:pPr>
            <a:r>
              <a:rPr lang="en-US" b="false" i="false" strike="noStrike" u="none" sz="1200">
                <a:solidFill>
                  <a:srgbClr val="B4C3E1"/>
                </a:solidFill>
                <a:latin typeface="Noto Sans SC"/>
                <a:ea typeface="Noto Sans SC"/>
                <a:cs typeface="Noto Sans SC"/>
                <a:sym typeface="Noto Sans SC"/>
              </a:rPr>
              <a:t>根据根因结果，用人为定义好的if-else规则直接给出处理建议</a:t>
            </a:r>
            <a:endParaRPr lang="en-US" sz="1100"/>
          </a:p>
        </p:txBody>
      </p:sp>
      <p:cxnSp>
        <p:nvCxnSpPr>
          <p:cNvPr name="Connector 41" id="41"/>
          <p:cNvCxnSpPr/>
          <p:nvPr/>
        </p:nvCxnSpPr>
        <p:spPr>
          <a:xfrm rot="-15626" flipH="false" flipV="false">
            <a:off x="8001014" y="5200650"/>
            <a:ext cx="2794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2563EB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42" id="42"/>
          <p:cNvSpPr/>
          <p:nvPr/>
        </p:nvSpPr>
        <p:spPr>
          <a:xfrm rot="0" flipH="false" flipV="false">
            <a:off x="8001000" y="5397500"/>
            <a:ext cx="2921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结果汇总</a:t>
            </a:r>
            <a:endParaRPr lang="en-US" sz="1100"/>
          </a:p>
        </p:txBody>
      </p:sp>
      <p:sp>
        <p:nvSpPr>
          <p:cNvPr name="AutoShape 43" id="43"/>
          <p:cNvSpPr/>
          <p:nvPr/>
        </p:nvSpPr>
        <p:spPr>
          <a:xfrm rot="0" flipH="false" flipV="false">
            <a:off x="8001000" y="5753100"/>
            <a:ext cx="2921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33333"/>
              </a:lnSpc>
              <a:defRPr/>
            </a:pPr>
            <a:r>
              <a:rPr lang="en-US" b="false" i="false" strike="noStrike" u="none" sz="1200">
                <a:solidFill>
                  <a:srgbClr val="B4C3E1"/>
                </a:solidFill>
                <a:latin typeface="Noto Sans SC"/>
                <a:ea typeface="Noto Sans SC"/>
                <a:cs typeface="Noto Sans SC"/>
                <a:sym typeface="Noto Sans SC"/>
              </a:rPr>
              <a:t>不调用LLM，就是直接拼接各环节输出，保证结果确定性和可复现</a:t>
            </a:r>
            <a:endParaRPr lang="en-US" sz="1100"/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D1326">
                <a:alpha val="100000"/>
              </a:srgbClr>
            </a:gs>
            <a:gs pos="60000">
              <a:srgbClr val="141E3C">
                <a:alpha val="100000"/>
              </a:srgbClr>
            </a:gs>
            <a:gs pos="100000">
              <a:srgbClr val="2563EB">
                <a:alpha val="100000"/>
              </a:srgbClr>
            </a:gs>
          </a:gsLst>
          <a:lin ang="27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76200" cy="6858000"/>
          </a:xfrm>
          <a:prstGeom prst="roundRect">
            <a:avLst>
              <a:gd name="adj" fmla="val 0"/>
            </a:avLst>
          </a:prstGeom>
          <a:solidFill>
            <a:srgbClr val="2563EB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1016000" y="762000"/>
            <a:ext cx="2540000" cy="317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BFD7FF"/>
                </a:solidFill>
                <a:latin typeface="Noto Sans SC"/>
                <a:ea typeface="Noto Sans SC"/>
                <a:cs typeface="Noto Sans SC"/>
                <a:sym typeface="Noto Sans SC"/>
              </a:rPr>
              <a:t>SUMMARY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1016000" y="1206500"/>
            <a:ext cx="10160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40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计划驱动，多Agent协作</a:t>
            </a:r>
            <a:endParaRPr lang="en-US" sz="1100"/>
          </a:p>
        </p:txBody>
      </p:sp>
      <p:cxnSp>
        <p:nvCxnSpPr>
          <p:cNvPr name="Connector 5" id="5"/>
          <p:cNvCxnSpPr/>
          <p:nvPr/>
        </p:nvCxnSpPr>
        <p:spPr>
          <a:xfrm rot="-28647" flipH="false" flipV="false">
            <a:off x="1016026" y="2152650"/>
            <a:ext cx="1524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38100" cmpd="sng" cap="flat">
            <a:solidFill>
              <a:srgbClr val="2563EB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name="AutoShape 6" id="6"/>
          <p:cNvSpPr/>
          <p:nvPr/>
        </p:nvSpPr>
        <p:spPr>
          <a:xfrm rot="0" flipH="false" flipV="false">
            <a:off x="1016000" y="2413000"/>
            <a:ext cx="9652000" cy="444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BFD7FF"/>
                </a:solidFill>
                <a:latin typeface="Noto Sans SC"/>
                <a:ea typeface="Noto Sans SC"/>
                <a:cs typeface="Noto Sans SC"/>
                <a:sym typeface="Noto Sans SC"/>
              </a:rPr>
              <a:t>从行业判断到报告交付，呆滞库存分析全链路自动化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1016000" y="3238500"/>
            <a:ext cx="4826000" cy="2921000"/>
          </a:xfrm>
          <a:prstGeom prst="roundRect">
            <a:avLst>
              <a:gd name="adj" fmla="val 0"/>
            </a:avLst>
          </a:prstGeom>
          <a:solidFill>
            <a:srgbClr val="FFFFFF">
              <a:alpha val="6000"/>
            </a:srgbClr>
          </a:solidFill>
          <a:ln w="12700" cmpd="sng" cap="flat">
            <a:solidFill>
              <a:srgbClr val="FFFFFF">
                <a:alpha val="15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1333500" y="3492500"/>
            <a:ext cx="4191000" cy="317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200">
                <a:solidFill>
                  <a:srgbClr val="BFD7FF"/>
                </a:solidFill>
                <a:latin typeface="Noto Sans SC"/>
                <a:ea typeface="Noto Sans SC"/>
                <a:cs typeface="Noto Sans SC"/>
                <a:sym typeface="Noto Sans SC"/>
              </a:rPr>
              <a:t>CORE VALUE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1333500" y="3937000"/>
            <a:ext cx="4191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分析周期从数天压缩到分钟级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1333500" y="4381500"/>
            <a:ext cx="4191000" cy="571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33333"/>
              </a:lnSpc>
              <a:defRPr/>
            </a:pPr>
            <a:r>
              <a:rPr lang="en-US" b="false" i="false" strike="noStrike" u="none" sz="1300">
                <a:solidFill>
                  <a:srgbClr val="B4C3E1"/>
                </a:solidFill>
                <a:latin typeface="Noto Sans SC"/>
                <a:ea typeface="Noto Sans SC"/>
                <a:cs typeface="Noto Sans SC"/>
                <a:sym typeface="Noto Sans SC"/>
              </a:rPr>
              <a:t>自动串联行业判断、取数、计算、根因分析和报告交付，消除人工串联瓶颈</a:t>
            </a:r>
            <a:endParaRPr lang="en-US" sz="1100"/>
          </a:p>
        </p:txBody>
      </p:sp>
      <p:cxnSp>
        <p:nvCxnSpPr>
          <p:cNvPr name="Connector 11" id="11"/>
          <p:cNvCxnSpPr/>
          <p:nvPr/>
        </p:nvCxnSpPr>
        <p:spPr>
          <a:xfrm rot="-10417" flipH="false" flipV="false">
            <a:off x="1333510" y="5137150"/>
            <a:ext cx="4191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FFFFFF">
                <a:alpha val="1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12" id="12"/>
          <p:cNvSpPr/>
          <p:nvPr/>
        </p:nvSpPr>
        <p:spPr>
          <a:xfrm rot="0" flipH="false" flipV="false">
            <a:off x="1333500" y="5334000"/>
            <a:ext cx="4191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分析质量标准化、可复现</a:t>
            </a:r>
            <a:endParaRPr lang="en-US" sz="1100"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1333500" y="5715000"/>
            <a:ext cx="4191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300">
                <a:solidFill>
                  <a:srgbClr val="B4C3E1"/>
                </a:solidFill>
                <a:latin typeface="Noto Sans SC"/>
                <a:ea typeface="Noto Sans SC"/>
                <a:cs typeface="Noto Sans SC"/>
                <a:sym typeface="Noto Sans SC"/>
              </a:rPr>
              <a:t>规则引擎替代经验判断，结果确定可追溯</a:t>
            </a:r>
            <a:endParaRPr lang="en-US" sz="1100"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6350000" y="3238500"/>
            <a:ext cx="4826000" cy="3175000"/>
          </a:xfrm>
          <a:prstGeom prst="roundRect">
            <a:avLst>
              <a:gd name="adj" fmla="val 0"/>
            </a:avLst>
          </a:prstGeom>
          <a:solidFill>
            <a:srgbClr val="FFFFFF">
              <a:alpha val="6000"/>
            </a:srgbClr>
          </a:solidFill>
          <a:ln w="12700" cmpd="sng" cap="flat">
            <a:solidFill>
              <a:srgbClr val="FFFFFF">
                <a:alpha val="15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6667500" y="3492500"/>
            <a:ext cx="4191000" cy="317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200">
                <a:solidFill>
                  <a:srgbClr val="BFD7FF"/>
                </a:solidFill>
                <a:latin typeface="Noto Sans SC"/>
                <a:ea typeface="Noto Sans SC"/>
                <a:cs typeface="Noto Sans SC"/>
                <a:sym typeface="Noto Sans SC"/>
              </a:rPr>
              <a:t>KEY DESIGN HIGHLIGHTS</a:t>
            </a:r>
            <a:endParaRPr lang="en-US" sz="1100"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6667500" y="3937000"/>
            <a:ext cx="4191000" cy="317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Plan状态为中枢的闭环调度</a:t>
            </a:r>
            <a:endParaRPr lang="en-US" sz="1100"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6667500" y="4254500"/>
            <a:ext cx="4191000" cy="317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B4C3E1"/>
                </a:solidFill>
                <a:latin typeface="Noto Sans SC"/>
                <a:ea typeface="Noto Sans SC"/>
                <a:cs typeface="Noto Sans SC"/>
                <a:sym typeface="Noto Sans SC"/>
              </a:rPr>
              <a:t>Planner生成计划 → Agent执行 → 回传判断 → 迭代或交付</a:t>
            </a:r>
            <a:endParaRPr lang="en-US" sz="1100"/>
          </a:p>
        </p:txBody>
      </p:sp>
      <p:cxnSp>
        <p:nvCxnSpPr>
          <p:cNvPr name="Connector 18" id="18"/>
          <p:cNvCxnSpPr/>
          <p:nvPr/>
        </p:nvCxnSpPr>
        <p:spPr>
          <a:xfrm rot="-10417" flipH="false" flipV="false">
            <a:off x="6667510" y="4692650"/>
            <a:ext cx="4191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FFFFFF">
                <a:alpha val="1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19" id="19"/>
          <p:cNvSpPr/>
          <p:nvPr/>
        </p:nvSpPr>
        <p:spPr>
          <a:xfrm rot="0" flipH="false" flipV="false">
            <a:off x="6667500" y="4889500"/>
            <a:ext cx="4191000" cy="317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LLM与规则引擎分层协作</a:t>
            </a:r>
            <a:endParaRPr lang="en-US" sz="1100"/>
          </a:p>
        </p:txBody>
      </p:sp>
      <p:sp>
        <p:nvSpPr>
          <p:cNvPr name="AutoShape 20" id="20"/>
          <p:cNvSpPr/>
          <p:nvPr/>
        </p:nvSpPr>
        <p:spPr>
          <a:xfrm rot="0" flipH="false" flipV="false">
            <a:off x="6667500" y="5207000"/>
            <a:ext cx="4191000" cy="317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B4C3E1"/>
                </a:solidFill>
                <a:latin typeface="Noto Sans SC"/>
                <a:ea typeface="Noto Sans SC"/>
                <a:cs typeface="Noto Sans SC"/>
                <a:sym typeface="Noto Sans SC"/>
              </a:rPr>
              <a:t>LLM负责规划与写作，规则引擎负责计算与建议</a:t>
            </a:r>
            <a:endParaRPr lang="en-US" sz="1100"/>
          </a:p>
        </p:txBody>
      </p:sp>
      <p:cxnSp>
        <p:nvCxnSpPr>
          <p:cNvPr name="Connector 21" id="21"/>
          <p:cNvCxnSpPr/>
          <p:nvPr/>
        </p:nvCxnSpPr>
        <p:spPr>
          <a:xfrm rot="-10417" flipH="false" flipV="false">
            <a:off x="6667510" y="5581650"/>
            <a:ext cx="4191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FFFFFF">
                <a:alpha val="1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22" id="22"/>
          <p:cNvSpPr/>
          <p:nvPr/>
        </p:nvSpPr>
        <p:spPr>
          <a:xfrm rot="0" flipH="false" flipV="false">
            <a:off x="6667500" y="5715000"/>
            <a:ext cx="4191000" cy="317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ReAct Agent按step_type路由</a:t>
            </a:r>
            <a:endParaRPr lang="en-US" sz="1100"/>
          </a:p>
        </p:txBody>
      </p:sp>
      <p:sp>
        <p:nvSpPr>
          <p:cNvPr name="AutoShape 23" id="23"/>
          <p:cNvSpPr/>
          <p:nvPr/>
        </p:nvSpPr>
        <p:spPr>
          <a:xfrm rot="0" flipH="false" flipV="false">
            <a:off x="6667500" y="6032500"/>
            <a:ext cx="4191000" cy="317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B4C3E1"/>
                </a:solidFill>
                <a:latin typeface="Noto Sans SC"/>
                <a:ea typeface="Noto Sans SC"/>
                <a:cs typeface="Noto Sans SC"/>
                <a:sym typeface="Noto Sans SC"/>
              </a:rPr>
              <a:t>Researcher / Coder / Inventory Analysis各司其职</a:t>
            </a:r>
            <a:endParaRPr lang="en-US" sz="1100"/>
          </a:p>
        </p:txBody>
      </p:sp>
      <p:pic>
        <p:nvPicPr>
          <p:cNvPr name="Picture 24" id="24"/>
          <p:cNvPicPr>
            <a:picLocks noChangeAspect="true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0" flipH="false" flipV="false">
            <a:off x="9906000" y="889000"/>
            <a:ext cx="1016000" cy="1016000"/>
          </a:xfrm>
          <a:prstGeom prst="rect">
            <a:avLst/>
          </a:prstGeom>
        </p:spPr>
      </p:pic>
      <p:pic>
        <p:nvPicPr>
          <p:cNvPr name="Picture 25" id="2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>
            <a:off x="10668000" y="6190112"/>
            <a:ext cx="1524000" cy="66788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{"Label":"1","ContentProducer":"001191110102MACQD9K64010000","ProduceID":"7682705568729353401","ReservedCode1":"","ContentPropagator":"","PropagateID":"","ReservedCode2":""}</vt:lpwstr>
  </property>
</Properties>
</file>