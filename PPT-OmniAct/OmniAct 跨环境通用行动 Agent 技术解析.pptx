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1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大家好，今天我来分享 OmniAct 项目的技术架构。OmniAct 是一个轻量的跨环境通用行动 Agent，核心思路是用 TeamLeader 协调 Browser、Desktop、CLI 三类专业 Worker，通过任务目录中的文件进行交接，而不是复杂的全局通信系统。接下来我会从项目定位、总体架构、TeamLeader、Browser Worker、Desktop Worker 到完整端到端链路逐层展开。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本次分享分为六个部分。首先介绍 OmniAct 是什么、为什么要做这个项目；然后看总体架构和任务目录协议；接着深入 TeamLeader 的 React 循环和 Plan 机制；之后分别拆解 Browser Worker 和 Desktop Worker 的实现细节，包括它们的观测、动作、记忆压缩；最后通过一个完整的端到端示例把所有环节串起来，并总结关键设计取舍。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OmniAct 的定位是轻量的跨环境通用行动 Agent。用户只需要提出目标，TeamLeader 会根据任务性质协调不同的专业 Worker。它解决的不是再做一个聊天机器人，而是单一 Agent 很难稳定完成的跨环境任务。比如从网页收集信息整理成文件，再让 Codex 写代码；或者先在浏览器登录收集资料，再在桌面应用编辑文件，最后交给 CLI 做代码加工。Claude Code 和 Codex 擅长代码终端但不能直接理解浏览器和桌面 GUI，Browser Agent 擅长网页但不应该承担所有代码工作，OmniAct 的核心价值就是把这些能力放到一个简单的协作闭环中。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 OmniAct 的四个核心设计取舍。第一，Worker 之间通过任务目录文件交接，而不是复杂的全局通信系统，这样人可以直接查看、失败容易恢复、Worker 解耦，后续替换 Harness 时 TeamLeader 契约不变。第二，Plan 放在内存而不是每轮追加到 system prompt，避免破坏上下文缓存。第三，每轮只调用一个工具，让状态变化清晰，并发通过专门的并行派发工具表达。第四，保留上游 Browser Use 和 UFO2 的完整 Harness 能力，包括观察、Prompt、失败恢复、历史管理等，而不是重新发明简化版。这些取舍共同定义了 OmniAct 的架构边界和可维护性。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 OmniAct 的总体架构图。最上层是用户请求和附件，进入 TeamLeader。TeamLeader 是一个 React Agent，通过 Plan 和原生 Tool Call 做决策，每轮只调用一个工具。它向下分发给三类专业 Worker：Browser Worker 负责网页，内部是 Browser Agent 通过 CDP 操作浏览器；Desktop Worker 负责桌面 GUI，内部是 HostAgent/AppAgent 两层结构通过 UIA/MCP 操作；CLI Worker 负责代码，通过 CodexRunner 管理 Codex CLI session。每个 Worker 都在自己的任务目录下工作，通过 request.md 接收任务，执行后输出 result.md、artifacts 和 trace.jsonl。TeamLeader 读取 result.md 判断结果，然后决定继续派发还是调用 finish_task 结束。这里有两个重要边界：TeamLeader 不直接操作底层环境，Worker 不负责派发和修改 Plan。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这一页讲任务目录和交接协议。OmniAct 用文件系统作为协作总线，而不是全局消息总线。标准目录结构包括 task.md、trace.jsonl、trajectory.md、inputs、workers 和 final。核心交接文件有三个：task.md 记录用户请求、附件和验收标准，验收标准由 TeamLeader 生成；request.md 是 TeamLeader 发给 Worker 的自然语言任务说明，写清目标、读取哪些产物、生成什么、放哪里；result.md 是 Worker 返回的交接文件，包含 Status、Handoff 和 Artifacts 路径，根据真实执行状态直接生成，不是额外的模型判断。轨迹文件 trace.jsonl 和 trajectory.md 是可观测性记录，不是记忆系统，真正影响下一轮上下文的是各 Agent 自己维护的历史状态和交接时读取的文件。Worker 之间不直接传递 Python 对象，后一个 Worker 通过任务目录中的文件读取前一个的产物。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TeamLeader 的核心是 React 循环。初始化 task.md 和消息上下文后，请求模型并附带当前可用的 tool schema，然后解析响应。如果是普通文本，就要求模型继续调用工具；如果是 tool call，就执行工具并把结果作为 tool message 注入上下文，进入下一轮。关键设计是每轮最多处理一个工具调用，这样状态变化清晰，一个动作执行完返回观察后模型再决定下一步。原生 tool call 解析由 parse_native_response 负责，把 OpenAI 兼容返回转成统一的 ModelTurn：没有 choices 或 message 是 invalid，多个 tool call 也是 invalid 因为每轮只接受一个，没有 tool call 是 text，有一个 tool call 就解析函数名和 JSON 参数，参数不合法是 invalid。模型的 content 保留为可见文本，但动作判断以 tool_calls 为准。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TeamLeader 的工具分为三类。任务初始化工具：set_task_criteria 保存整体验收标准写入 task.md，set_task_plan 在内存中创建或替换 Plan 并返回快照。第一轮要求先设置验收标准再设置 Plan。派发工具：dispatch_worker 派发单个顺序子任务，dispatch_parallel_worker 同时派发多个互不依赖的子任务，这两个语义特意区分，前者表示顺序步骤后者表示明确的并行组，并行组内步骤不能互相依赖且必须都处于 ready 状态；dispatch_cli_worker 启动新的 Codex 会话，resume_cli_worker 在已有 session 中继续。结束工具只有 finish_task，普通文本不会结束任务，只有 finish_task 能结束，这避免模型说自己完成了但没有真正写入最终交付。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 Plan 的状态机和依赖管理。每个 Plan step 有六个字段：id 是稳定标识，goal 是子任务目标，depends_on 是依赖的其他 step，handoff 是交接要求，status 是 pending/completed/failed，worker_type 是实际派发后记录的，不在创建 Plan 时预设。PlanState 做三类校验：id 不重复且不含路径分隔符、依赖必须指向存在的 step、依赖图不能有环。派发前 ensure_ready 确认目标 step 仍是 pending 且所有依赖都已 completed，并行派发还会确认组内没有依赖关系。Worker 返回后，TeamLeader 直接根据 DispatchResult.success 更新状态，成功变 completed 失败变 failed，模型不需要额外调用更新 Plan 的工具。关键设计是 Plan 只描述做什么和依赖谁，不提前规定 Worker 类型，由 TeamLeader 在真正派发时选择。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这一页讲派发和并行机制。dispatch_worker 做四件事：创建 workers 目录、写入 request.md、等待 Worker 执行、读取 result.md 解析 Status 返回 DispatchResult。dispatch_parallel_worker 使用 asyncio.gather 并发执行多个独立 Worker，关键容错设计是一个 Worker 的异常会被转成自己的失败结果，不会因为一个兄弟任务失败而取消整个并行组。Worker 之间的交接是通过文件而不是 Python 对象或全局消息总线，后一个 Worker 通过自己的 available_file_paths 或任务目录中的文件读取前一个 Worker 的产物。这种方式的优点是直观、人可直接检查、失败容易恢复复盘、Worker 解耦，后续替换 Browser 或 Desktop Harness 时 TeamLeader 契约不变，也不会引入复杂的跨 Worker 协议。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Browser Worker 是 TeamLeader 调用的网页执行单元，输入是 request.md 中的自然语言任务和任务目录中可读取的附件或其他 Worker 产物，输出是网页操作结果、下载文件、截图、提取内容和 result.md。重点要强调它不是简单的打开浏览器发送一次 prompt，内部保留了 Browser Use 的核心 Browser Agent Harness，包括浏览器会话、页面状态、DOM 观察、截图、工具注册、动作执行、历史、失败恢复、循环检测和人工接管。当前项目把 Browser Use 核心代码迁移到 src/omniact_browser，BrowserWorker 只负责项目边界：创建独立 profile、创建 Session 和 Agent、把请求和可用文件交给 Agent、保存截图轨迹结果、控制后台运行接管恢复取消。工具定义在 tools/views.py，注册执行在 tools/service.py，使用 use_vision=True 每轮带截图，视觉输入和 DOM 是互补关系不是替代。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 Browser Worker 的会话管理和登录态继承。默认使用 session_mode=inherited，四步流程：找到用户 Edge 的可用 profile，尝试刷新本地登录态快照，Edge 正在运行时就用最近一次成功的快照，把快照复制到本次 Worker 的临时目录，在复制出来的目录中启动 Worker 浏览器。快照保存在 %LOCALAPPDATA%\OmniAct\browser-snapshots，首次使用需要暂时退出 Edge 建立快照，关闭 Edge 后再次运行会自动刷新。关键设计有三点：第一，继承登录态但不操作原浏览器，Worker 用复制出来的 profile 工作；第二，支持并行，每个 Worker 有自己的临时 profile；第三，不静默降级，Edge 运行中且没有可用快照时会明确提示退出 Edge 而不是静默降为 clean 模式。clean 模式则启动不继承登录态的独立 profile，适合 Benchmark。Worker 启动后默认隐藏窗口，触发人工接管时才显示独立窗口。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 Browser Agent 的一步循环和动作工具集。一步循环有七个步骤：观察浏览器状态包括 URL、标题、标签页、DOM 可交互元素、截图和可选最近事件；更新当前页面的工具 schema 和 prompt 描述；组装模型上下文包括 system prompt、当前任务、近期历史、上一步结果、页面观察和文件信息；调用视觉或文本模型得到结构化动作；执行动作生成 ActionResult；把结果写入短期历史、长期记忆或下一轮 read state；最后判断 done、失败、暂停、循环或继续。动作工具定义在 tools/views.py，分为五类：页面导航包括 search、navigate、scroll、switch 等；元素交互包括 click、input、send_keys、upload_file 等；内容提取包括 extract、search_page、write_file、read_file、screenshot、save_as_pdf 等；结束和人工接管包括 done 和 request_user_takeover；还有 execute_javascript 等脚本执行。设计原则是工具参数大多是平面字符串、数字和布尔值，嵌套结构只保留必要一层，降低弱模型遵守 schema 的难度。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 Browser Worker 非常核心的一页，上下文观测不是单一的聊天历史，而是四种信息的组合。第一是固定 system prompt，包含角色、动作规则、完成规则、页面交互原则和工具使用说明，长期稳定适合复用上下文缓存。第二是当前浏览器观察，由 BrowserStateSummary 提供，包括 URL 和标题、标签页列表、DOM 的 LLM 表示、可交互元素的 selector map 和索引、当前截图、按配置选择的最近浏览器事件，DOM 序列化会保留对动作有用的标签文本和属性，并限制可点击元素文本长度防止一页过长挤占上下文。第三是上一步动作结果 ActionResult，包括 extracted_content、long_term_memory、error、images、is_done/success、attachments 等字段。第四是任务文件和可用文件，Worker 把自己的 artifacts 作为文件系统根目录，同时把输入附件和其他 Worker 产物列入 available_file_paths。关键机制是 include_extracted_content_only_once，某些结果用这个标记写入 read_state 只在下一轮出现一次，避免大段内容永久重复放入历史。视觉输入和 DOM 是互补关系，不是替代。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 Browser 的记忆压缩和失败恢复，也是面试高频追问点。运行状态主要保存在 AgentState 和 MessageManagerState 中，不是数据库，包括 agent_history_items 按 step 保存模型评价、memory、next goal 和动作结果；read_state_description 是只注入一次的提取结果或临时观察；compacted_memory 是较早历史的摘要；还有 last_model_output、last_result、loop_detector 和 FileSystemState。消息压缩由 MessageManager.maybe_compact_messages 触发，参数由 MessageCompactionSettings 描述，默认在达到 step 间隔并且历史字符数超过阈值后，使用压缩模型总结任务要求、关键事实、错误和下一步，然后保留首条初始化记录以及最近若干条历史。非常关键的一点是压缩摘要是未完全验证的上下文，done prompt 明确要求不能仅凭压缩记忆声称某一步已经完成，必须重新观察确认，这是为了避免上下文压缩后把推测当成事实。失败恢复区分五类：模型响应无法解析就把错误放回上下文让模型修正，工具参数或动作失败就让 ActionResult.error 进入下一轮，连续失败达到阈值就停止普通循环并做一次最终恢复尝试，CDP 或 WebSocket 暂时断开就等待重连，浏览器确实关闭就停止 Agent。循环检测是软提示不是把 Agent 锁死，记录规范化动作键和页面指纹，重复达到阈值时注入 nudge 提醒换策略，这样既能减少无意义循环又不阻止确实需要多次滚动或分页的任务。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Desktop Worker 负责 Windows 桌面应用和系统 GUI，当前实现迁移并保留了 UFO2 的核心 HostAgent/AppAgent 链路，项目自己的 DesktopWorker 是它的任务目录和生命周期外壳。输入是 request.md 和当前桌面环境，输出是桌面应用中生成或修改的真实文件、截图、UI 树、执行日志和 result.md。最重要的特点是它不是单个视觉模型直接点击屏幕，而是 HostAgent 管理 AppAgent 的两层 Agent 结构。HostAgent 负责全局层面的任务理解：分析当前桌面和窗口、决定目标应用、将用户任务拆成当前 subtask、创建或切换 AppAgent、接收 AppAgent 结果、判断继续询问失败或完成。AppAgent 负责某一个具体应用：读取该应用的截图和控件信息、理解当前 subtask、选择应用动作、通过 UIA、pyautogui、应用 API 或本地 MCP 执行动作、返回动作结果和状态。两者的关系可以理解为任务管理者加当前应用操作者，HostAgent 不需要知道每个控件的底层对象，AppAgent 也不负责整个跨应用任务。项目包名使用 omniact_desktop，第三方声明保留上游 UFO2 版权和 MIT 许可。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 Desktop Worker 的状态机循环和观测体系。DesktopWorker.run 以状态机为骨架：先创建 Context 和本地 CommandDispatcher，然后 HostAgent.handle(context)，接着走 Processor pipeline 包括数据收集、LLM 交互、动作执行、Memory 更新四个阶段，最后根据 agent.status 和当前 state 选择下一个 Agent 或 State。HostAgent 的状态包括 CONTINUE 继续处理、ASSIGN 选择或创建 AppAgent、PENDING 需要用户回答问题、CONFIRM 需要用户确认或人工操作、FINISH 任务完成、ERROR/FAIL 无法继续。只有进入终止 Host state 并且最终 status 是 FINISH，Worker 才写入 completed，异常、空状态、超步数或 FAIL 都写入 failed。观测使用视觉和结构化 UI 信息的组合：当前应用窗口截图、清晰截图和带控件编号的 annotated screenshot、UI Automation 控件树、控件名称类型 automation id 坐标等属性、当前前台窗口应用进程和系统信息、上一步动作结果、当前 plan subtask 和历史交接信息。视觉截图帮助理解布局和 UIA 没有完整表达的内容，UIA 控件树帮助稳定找到可操作对象，找不到合适控件时保留坐标点击和键盘输入等后备动作。HostAgentProcessor 和 AppAgentProcessor 都采用处理阶段划分，模型调用、观察采集、动作执行、记忆更新的边界清晰，轨迹也可以按阶段记录。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 Desktop 的输出 schema 和命令执行链路。HostAgent 的响应模型是 HostAgentResponse，主要字段包括 observation 对当前桌面和应用状态的观察、thought 当前决策理由、status 包括 CONTINUE/ASSIGN/PENDING/FINISH/FAIL 等、current_subtask 当前子任务、plan HostAgent 当前理解的步骤、function 要调用的桌面或 MCP 命令、arguments 命令参数、result 该轮结果、questions 需要用户补充的信息。AppAgent 的响应模型是 AppAgentResponse，包括 observation、thought、plan、action 一个动作或动作序列、save_screenshot、result。单个动作由 ActionCommandInfo 表示，包含 function 命令名称、arguments 扁平的参数字典、target 控件定位信息、status 动作级状态、result SUCCESS 或 FAILURE、action_representation 用于历史和日志的可读表示。工具参数尽量保持平面结构，比如点击是 x、y、button 而不是多层 target 到 coordinate 到 value。典型动作包括鼠标 click_input 和 click_on_coordinates、拖拽 drag_on_coordinates、文本 set_edit_text 和 keyboard_input、观察 annotation 和 summary、Office/MCP 的 Excel Word PowerPoint 读写保存导出、Shell 执行命令。命令执行链路是 Agent response 产生 Command，交给 LocalCommandDispatcher，再由 CommandRouter 和 ComputerManager 选择具体的应用接收器，包括 UIA/pyautogui、Word/Excel/PowerPoint COM、Web receiver、Shell receiver、本地 MCP server，最后返回 Result。命令执行有明确的 timeout 和失败结果，Agent 不需要知道 COM 对象或 UIA 控件的具体实现，只需要处理命令结果。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Desktop 的记忆系统有三种需要区分的记忆。第一是 Agent 自身 Memory，BasicAgent 持有一个 Memory，可以保存结构化的历史条目，主要用于单个 Agent 的历史记录和 prompt 构造，范围仅限于当前 Agent 内部。第二是 HostAgent 的 Blackboard，这是更重要的跨 Agent 共享机制，包含 questions 问题和用户回答、requests 请求历史、trajectories 已完成步骤的轨迹、screenshots 带元数据的截图记忆。AppAgent 可以通过 HostAgent 访问 Blackboard，从而获得跨应用、跨 Agent 的共享上下文。这里必须强调 Blackboard 是 UFO2 内部 Agent 协作机制，不是 OmniAct 跨 Worker 的全局消息总线，OmniAct 的 Browser、Desktop、CLI Worker 之间仍然主要通过文件交接。第三是 Context，保存一次 Desktop Worker 会话的运行字段，例如请求、当前应用、当前 subtask、当前 round、Host message、日志器和 CommandDispatcher，它是本地会话上下文，不是跨任务数据库。这三种记忆的范围和用途不同，面试时要能清晰区分。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这一页用一个贯穿示例把完整端到端链路串起来。任务是收集两个网页中的资料分别保存，再让 Codex 根据这些资料生成一份 Markdown 报告。TeamLeader 的典型决策分六步：第一步调用 set_task_criteria 把用户目标转成整体验收标准；第二步调用 set_task_plan 创建三个子任务 collect_A、collect_B、gen_report，其中 A 和 B 互不依赖，报告依赖 A 和 B；第三步 A 和 B 并行，调用 dispatch_parallel_worker 同时派发两个 Browser Worker；第四步两个 Worker 返回后，TeamLeader 根据 result.md 判断资料是否真实存在；第五步报告任务依赖 A、B 都已完成，TeamLeader 调用 dispatch_cli_worker 让 Codex 在当前任务目录中读取两个产物并生成报告；第六步 TeamLeader 检查各 Worker 的真实结果，调用 finish_task 写入 final/result.md。文件交接路径是 Browser A 把资料写到 workers/A/artifacts/data_A.md，Browser B 写到 workers/B/artifacts/data_B.md，CLI Worker 读取这两个产物生成 report.md，TeamLeader 检查真实文件后写 final/result.md。核心闭环是 TeamLeader 决定接下来谁做什么，Worker 在自己环境中真实完成，任务目录把结果交接出来，TeamLeader 读取 result.md 验证后继续派发或 finish_task。注意 Plan 中只描述做什么和依赖谁，不提前规定某个步骤一定由 Browser 还是 CLI 完成，Worker 类型由 TeamLeader 在真正派发该步骤时选择。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最后总结一下。OmniAct 的核心闭环可以用一句话记住：TeamLeader 负责决定接下来谁做什么，Worker 负责在自己的环境中真实完成，任务目录负责把结果交接出来，Benchmark 负责证明结果是否真的成立。当前已经打通并验证的能力包括 TeamLeader 的原生 tool call React 循环、单 Worker 和并行 Worker 派发、Plan 依赖和状态更新、Browser Worker 的视觉浏览器循环和独立 profile 登录态继承、Desktop Worker 的 UFO2 Host/App 循环和命令执行状态机、CLI Worker 的 Codex JSONL 捕获和失败续作、任务目录和 Worker 交接文件、以及 Local-35 Benchmark 的完整运行面。仍然需要通过第二版 Benchmark 持续优化的方向包括 Browser 的工具选择和 DOM 观察裁剪、Desktop 的动作后确认和控件定位、跨 Worker 的复杂任务拆解、用户示教和可复用语义工作流。整个项目的设计哲学是克制和可验证，不引入复杂的全局通信系统，不重新发明能力缩水的简化 Agent，而是把上游成熟的 Harness 迁移进来，在外层用统一的 Worker 目录和交接协议把它们协同起来。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326">
                <a:alpha val="100000"/>
              </a:srgbClr>
            </a:gs>
            <a:gs pos="100000">
              <a:srgbClr val="141E3C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03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CROSS-ENVIRONMENT UNIVERSAL ACTION AGENT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667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OmniAct 技术架构解析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191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TeamLeader 协同 · Browser / Desktop / CLI Worker · 任务目录交接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28647">
            <a:off x="1016026" y="5200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546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A0C8"/>
                </a:solidFill>
                <a:latin typeface="Noto Sans SC"/>
                <a:ea typeface="Noto Sans SC"/>
                <a:cs typeface="Noto Sans SC"/>
                <a:sym typeface="Noto Sans SC"/>
              </a:rPr>
              <a:t>面试技术分享 · 2026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0" y="5461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CA0C8"/>
                </a:solidFill>
                <a:latin typeface="Noto Sans SC"/>
                <a:ea typeface="Noto Sans SC"/>
                <a:cs typeface="Noto Sans SC"/>
                <a:sym typeface="Noto Sans SC"/>
              </a:rPr>
              <a:t>src/collab_agent · src/omniact_browser · src/omniact_desktop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3335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77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2222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05000" y="2222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 OmniAct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05000" y="26035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项目定位、解决的问题与核心价值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046">
            <a:off x="1016008" y="3105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429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905000" y="3429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项目总体架构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905000" y="38100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三层协作模型与任务目录交接协议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046">
            <a:off x="1016008" y="4311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4635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905000" y="4635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TeamLeader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905000" y="50165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React 循环、原生 tool call 与 Plan 状态机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046">
            <a:off x="1016008" y="5518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604000" y="2222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493000" y="2222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Browser Worker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493000" y="26035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视觉观察、动作工具、上下文与记忆压缩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549">
            <a:off x="6604009" y="3105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604000" y="3429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493000" y="3429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Desktop Worker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493000" y="38100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HostAgent / AppAgent 双层结构与状态机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9549">
            <a:off x="6604009" y="4311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604000" y="4635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493000" y="4635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完整端到端链路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493000" y="50165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贯穿示例走查与关键设计取舍总结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9549">
            <a:off x="6604009" y="5518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508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 OmniAct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041400"/>
            <a:ext cx="762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轻量跨环境通用行动 Agent — 用 TeamLeader 协调专业 Worker 完成真实任务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841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项目定位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用户只提出目标，TeamLeader</a:t>
            </a:r>
            <a:r>
              <a:rPr lang="en-US" sz="14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根据任务性质协调</a:t>
            </a:r>
            <a:r>
              <a:rPr lang="en-US" sz="14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Browser、Desktop、CLI</a:t>
            </a:r>
            <a:r>
              <a:rPr lang="en-US" sz="14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等专业</a:t>
            </a:r>
            <a:r>
              <a:rPr lang="en-US" sz="14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Worker，让它们像人一样使用不同数字环境完成任务并交付真实产物</a:t>
            </a:r>
            <a:r>
              <a:rPr lang="en-US" sz="14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016000" y="3937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能力边界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381500"/>
            <a:ext cx="4826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33333"/>
              </a:lnSpc>
              <a:buClr>
                <a:srgbClr val="2B2F36"/>
              </a:buClr>
              <a:buChar char="•"/>
              <a:defRPr/>
            </a:pPr>
            <a:r>
              <a:rPr lang="en-US" sz="13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Claude Code / Codex 擅长代码和终端，但不能直接理解浏览器页面和桌面 GUI</a:t>
            </a:r>
            <a:endParaRPr lang="en-US" sz="1100"/>
          </a:p>
          <a:p>
            <a:pPr marL="165100" indent="-165100" algn="l">
              <a:lnSpc>
                <a:spcPct val="133333"/>
              </a:lnSpc>
              <a:buClr>
                <a:srgbClr val="2B2F36"/>
              </a:buClr>
              <a:buChar char="•"/>
            </a:pPr>
            <a:r>
              <a:rPr lang="en-US" sz="13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Browser Agent 擅长网页，Desktop Agent 擅长桌面应用，但不应承担所有代码工作</a:t>
            </a:r>
          </a:p>
          <a:p>
            <a:pPr marL="165100" indent="-165100" algn="l">
              <a:lnSpc>
                <a:spcPct val="133333"/>
              </a:lnSpc>
              <a:buClr>
                <a:srgbClr val="2B2F36"/>
              </a:buClr>
              <a:buChar char="•"/>
            </a:pPr>
            <a:r>
              <a:rPr lang="en-US" sz="13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OmniAct 把这些能力放入简单协作闭环，各取所长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350000" y="1841500"/>
            <a:ext cx="4826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604000" y="2032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典型任务场景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0110">
            <a:off x="6604009" y="2470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604000" y="26670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场景一：</a:t>
            </a:r>
            <a:r>
              <a:rPr lang="en-US" sz="13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从网页收集信息，整理成文件，再让 Codex 基于这些文件写代码或生成报告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0110">
            <a:off x="6604009" y="3930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04000" y="41275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场景二：</a:t>
            </a:r>
            <a:r>
              <a:rPr lang="en-US" sz="13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先在浏览器完成登录和资料收集，再在桌面应用中编辑文件，最后交给 CLI Worker 做代码加工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4000" y="5461000"/>
            <a:ext cx="431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这类任务涉及多种数字环境，单一 Agent 难以稳定完成，需要专业分工与协同。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508000"/>
            <a:ext cx="889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为什么选择 OmniAct — 核心设计取舍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041400"/>
            <a:ext cx="889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四个关键设计决策，定义了项目的架构边界和可维护性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841500"/>
            <a:ext cx="4826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70000" y="2032000"/>
            <a:ext cx="50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05000" y="2032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文件交接替代全局通信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25400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Worker 之间通过任务目录中的 request.md、result.md 和 artifacts 交接，不传递 Python 对象，不依赖全局消息总线。优点：人可直接查看、失败易恢复、Worker 解耦、替换 Harness 时 TeamLeader 契约不变。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1841500"/>
            <a:ext cx="4826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604000" y="2032000"/>
            <a:ext cx="50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239000" y="2032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Plan 放在内存而非 Prompt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0" y="25400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Plan 是轻量内存状态，不是每轮追加到 system prompt 的长文档。工具返回的 [CURRENT_PLAN] 快照只注入必要状态，避免频繁更新 Plan 破坏模型上下文缓存，也避免无意义地改变固定 system prompt。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127500"/>
            <a:ext cx="4826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270000" y="4318000"/>
            <a:ext cx="50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905000" y="4318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每轮只调用一个工具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270000" y="48260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一个工具执行结束并返回观察结果后，模型再决定下一步。明确区分模型决策、工具执行、Worker 观察、下一轮决策。并发需求通过专门的 dispatch_parallel_worker 表达，而非允许一轮生成多个易互相依赖的 tool call。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4445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项目总体架构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914400"/>
            <a:ext cx="889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TeamLeader 协同层 + 三类专业 Worker 执行层 + 任务目录交接层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826000" y="1333500"/>
            <a:ext cx="2540000" cy="635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826000" y="13335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用户请求 + 附件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228255">
            <a:off x="5969000" y="20893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8" name="AutoShape 8"/>
          <p:cNvSpPr/>
          <p:nvPr/>
        </p:nvSpPr>
        <p:spPr>
          <a:xfrm>
            <a:off x="4318000" y="2222500"/>
            <a:ext cx="3556000" cy="825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318000" y="22860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TeamLeader (React Agent)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18000" y="2641600"/>
            <a:ext cx="355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Plan + 原生 Tool Call · 每轮一个工具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10187493">
            <a:off x="2266684" y="3263903"/>
            <a:ext cx="257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2" name="Connector 12"/>
          <p:cNvCxnSpPr/>
          <p:nvPr/>
        </p:nvCxnSpPr>
        <p:spPr>
          <a:xfrm rot="5301805">
            <a:off x="5873750" y="3263991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3" name="Connector 13"/>
          <p:cNvCxnSpPr/>
          <p:nvPr/>
        </p:nvCxnSpPr>
        <p:spPr>
          <a:xfrm rot="578643">
            <a:off x="7346715" y="3263903"/>
            <a:ext cx="257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1016000" y="3492500"/>
            <a:ext cx="2540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3556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Browser Worker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38735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Browser Agent → Browser / CDP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826000" y="3492500"/>
            <a:ext cx="2540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826000" y="3556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Desktop Worker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826000" y="38735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HostAgent / AppAgent → GUI / MCP / UIA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636000" y="3492500"/>
            <a:ext cx="2540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636000" y="3556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CLI Worker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636000" y="38735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CodexRunner → Codex CLI session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262563">
            <a:off x="2127250" y="4343527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24" name="Connector 24"/>
          <p:cNvCxnSpPr/>
          <p:nvPr/>
        </p:nvCxnSpPr>
        <p:spPr>
          <a:xfrm rot="5262563">
            <a:off x="5937250" y="4343527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25" name="Connector 25"/>
          <p:cNvCxnSpPr/>
          <p:nvPr/>
        </p:nvCxnSpPr>
        <p:spPr>
          <a:xfrm rot="5262563">
            <a:off x="9747250" y="4343527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26" name="AutoShape 26"/>
          <p:cNvSpPr/>
          <p:nvPr/>
        </p:nvSpPr>
        <p:spPr>
          <a:xfrm>
            <a:off x="1016000" y="4508500"/>
            <a:ext cx="10160000" cy="8890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270000" y="4635500"/>
            <a:ext cx="965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任务目录交接层 — task/workers/&lt;worker-name&gt;/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270000" y="4978400"/>
            <a:ext cx="965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request.md（输入） → Worker 执行 → result.md（Status + Handoff） + artifacts/（真实产物） + trace.jsonl（轨迹）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5262563">
            <a:off x="5937250" y="5550027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0" name="AutoShape 30"/>
          <p:cNvSpPr/>
          <p:nvPr/>
        </p:nvSpPr>
        <p:spPr>
          <a:xfrm>
            <a:off x="4318000" y="5715000"/>
            <a:ext cx="3556000" cy="5715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4318000" y="5715000"/>
            <a:ext cx="355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TeamLeader 读取 result.md → 继续派发或 finish_task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016000" y="64770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边界：TeamLeader 负责任务级决策和协同，不直接操作浏览器/桌面/Codex；Worker 负责专业环境，不派发其他 Worker，不修改全局 Plan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4445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任务目录与交接协议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914400"/>
            <a:ext cx="889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文件系统作为协作总线 — 直观、可检查、易恢复、Worker 解耦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27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587500"/>
            <a:ext cx="4318000" cy="4699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70000" y="17780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DIRECTORY STRUCTURE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2159000"/>
            <a:ext cx="3810000" cy="393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2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task/&lt;task-id&gt;/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├─ task.md</a:t>
            </a:r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├─ trace.jsonl</a:t>
            </a:r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├─ trajectory.md</a:t>
            </a:r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├─ inputs/</a:t>
            </a:r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├─ workers/</a:t>
            </a:r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│ └─ &lt;worker-name&gt;/</a:t>
            </a:r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│ ├─ request.md</a:t>
            </a:r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│ ├─ result.md</a:t>
            </a:r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│ ├─ trace.jsonl</a:t>
            </a:r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│ ├─ trajectory.md</a:t>
            </a:r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│ └─ artifacts/</a:t>
            </a:r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└─ final/</a:t>
            </a:r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└─ result.md</a:t>
            </a:r>
          </a:p>
        </p:txBody>
      </p:sp>
      <p:sp>
        <p:nvSpPr>
          <p:cNvPr id="9" name="AutoShape 9"/>
          <p:cNvSpPr/>
          <p:nvPr/>
        </p:nvSpPr>
        <p:spPr>
          <a:xfrm>
            <a:off x="5842000" y="15875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核心交接文件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842000" y="2032000"/>
            <a:ext cx="533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task.md — 任务级上下文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842000" y="23114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用户原始请求 + 附件列表 + TeamLeader 生成的验收标准。验收标准由 TeamLeader 定义，不由 Worker 自己定义。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42000" y="2895600"/>
            <a:ext cx="533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request.md — TeamLeader → Worker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842000" y="3175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自然语言任务说明：目标、应读取的已有产物、要生成的结果、产物位置、交接方式。不要求模型输出复杂嵌套协议。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842000" y="3759200"/>
            <a:ext cx="533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result.md — Worker → TeamLeader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842000" y="4038600"/>
            <a:ext cx="533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Status: completed / failed / cancelled + Handoff（实际完成内容）+ Artifacts（产物相对路径）。Worker 根据真实执行状态直接生成，不是额外的模型判断。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8185">
            <a:off x="5842008" y="48831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4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5842000" y="5016500"/>
            <a:ext cx="533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轨迹文件（可观测性，非记忆系统）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842000" y="5359400"/>
            <a:ext cx="533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39700" indent="-139700" algn="l">
              <a:lnSpc>
                <a:spcPct val="133333"/>
              </a:lnSpc>
              <a:buClr>
                <a:srgbClr val="2B2F36"/>
              </a:buClr>
              <a:buChar char="•"/>
              <a:defRPr/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trace.jsonl：机器可读，每行一个带时间戳的事件</a:t>
            </a:r>
            <a:endParaRPr lang="en-US" sz="1100"/>
          </a:p>
          <a:p>
            <a:pPr marL="139700" indent="-139700" algn="l">
              <a:lnSpc>
                <a:spcPct val="133333"/>
              </a:lnSpc>
              <a:buClr>
                <a:srgbClr val="2B2F36"/>
              </a:buClr>
              <a:buChar char="•"/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trajectory.md：人可读，按 turn/step 展示输入、输出、动作、观察</a:t>
            </a:r>
          </a:p>
          <a:p>
            <a:pPr marL="139700" indent="-139700" algn="l">
              <a:lnSpc>
                <a:spcPct val="133333"/>
              </a:lnSpc>
              <a:buClr>
                <a:srgbClr val="2B2F36"/>
              </a:buClr>
              <a:buChar char="•"/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TeamLeader 与各 Worker 轨迹分开保存，可总览也可深入单个 Worker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444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· TEAMLEADER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React 循环与原生 Tool Call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9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714500"/>
            <a:ext cx="4826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70000" y="19050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核心循环 (TeamLeader.run())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349500"/>
            <a:ext cx="3810000" cy="444500"/>
          </a:xfrm>
          <a:prstGeom prst="roundRect">
            <a:avLst>
              <a:gd name="adj" fmla="val 0"/>
            </a:avLst>
          </a:prstGeom>
          <a:solidFill>
            <a:srgbClr val="2563EB">
              <a:alpha val="1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524000" y="23495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 task.md 和消息上下文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171155">
            <a:off x="3333750" y="28831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/>
        </p:nvSpPr>
        <p:spPr>
          <a:xfrm>
            <a:off x="1524000" y="2984500"/>
            <a:ext cx="3810000" cy="444500"/>
          </a:xfrm>
          <a:prstGeom prst="roundRect">
            <a:avLst>
              <a:gd name="adj" fmla="val 0"/>
            </a:avLst>
          </a:prstGeom>
          <a:solidFill>
            <a:srgbClr val="2563EB">
              <a:alpha val="1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524000" y="29845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请求模型，附带当前 tool schema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171155">
            <a:off x="3333750" y="35181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1524000" y="3619500"/>
            <a:ext cx="3810000" cy="444500"/>
          </a:xfrm>
          <a:prstGeom prst="roundRect">
            <a:avLst>
              <a:gd name="adj" fmla="val 0"/>
            </a:avLst>
          </a:prstGeom>
          <a:solidFill>
            <a:srgbClr val="2563EB">
              <a:alpha val="1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524000" y="36195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解析模型响应 → 文本 or tool call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171155">
            <a:off x="3333750" y="41531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7" name="AutoShape 17"/>
          <p:cNvSpPr/>
          <p:nvPr/>
        </p:nvSpPr>
        <p:spPr>
          <a:xfrm>
            <a:off x="1524000" y="4254500"/>
            <a:ext cx="3810000" cy="444500"/>
          </a:xfrm>
          <a:prstGeom prst="roundRect">
            <a:avLst>
              <a:gd name="adj" fmla="val 0"/>
            </a:avLst>
          </a:prstGeom>
          <a:solidFill>
            <a:srgbClr val="2563EB">
              <a:alpha val="15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524000" y="42545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执行工具 → 结果注入上下文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171155">
            <a:off x="3333750" y="47881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1524000" y="49530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下一轮模型决策（循环）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270000" y="5778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每轮最多处理一个工具调用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17145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原生 Tool Call 解析 (parse_native_response)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2159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发送给服务商的请求包含：messages（system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/user/assistant/tool）、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tools（JSON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Schema）、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model。兼容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OpenAI Chat Completions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形式的原生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tool call。</a:t>
            </a:r>
            <a:endParaRPr lang="en-US" sz="1100" dirty="0"/>
          </a:p>
        </p:txBody>
      </p:sp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6350000" y="3302000"/>
          <a:ext cx="4826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响应情况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解析结果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 choices / message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9302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invalid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多个 tool call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9302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invalid（每轮只接受一个）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 tool call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563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text → 要求继续调用工具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一个 tool call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tool_call → 解析函数名+参数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参数非合法 JSON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9302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invalid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AutoShape 25"/>
          <p:cNvSpPr/>
          <p:nvPr/>
        </p:nvSpPr>
        <p:spPr>
          <a:xfrm>
            <a:off x="6350000" y="6032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模型 content 保留为可见文本，但动作判断以 tool_calls 为准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444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· TEAMLEADER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工具体系：初始化 / 派发 / 结束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9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5875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任务初始化工具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16000" y="1968500"/>
          <a:ext cx="10160000" cy="10845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作用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关键参数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set_task_criteria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保存用户任务的整体验收标准，写入 task.md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content: string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set_task_plan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在内存中创建或替换 Plan，返回快照注入上下文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steps: [{id, goal, depends_on, handoff}]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1016000" y="32385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派发工具</a:t>
            </a:r>
            <a:endParaRPr lang="en-US" sz="1100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1016000" y="3619500"/>
          <a:ext cx="10160000" cy="18516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作用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关键参数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dispatch_worker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派发单个顺序子任务并等待结果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subtask_id, worker_type, request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dispatch_parallel_worker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同时派发两个以上互不依赖的子任务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tasks: [{subtask_id, worker_type, request}]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dispatch_cli_worker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启动新的 Codex CLI 会话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subtask_id, request, acceptance_criteria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resume_cli_worker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在已有 Codex session 中继续执行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subtask_id, session_id, follow_up_request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AutoShape 10"/>
          <p:cNvSpPr/>
          <p:nvPr/>
        </p:nvSpPr>
        <p:spPr>
          <a:xfrm>
            <a:off x="1016000" y="56515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结束工具</a:t>
            </a:r>
            <a:endParaRPr lang="en-US" sz="1100"/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016000" y="6032500"/>
          <a:ext cx="10160000" cy="70104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作用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关键参数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finish_task</a:t>
                      </a:r>
                      <a:endParaRPr lang="en-US" sz="1100"/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写入 final/result.md 并结束 TeamLeader</a:t>
                      </a:r>
                      <a:endParaRPr lang="en-US" sz="1100"/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content: string</a:t>
                      </a:r>
                      <a:endParaRPr lang="en-US" sz="1100"/>
                    </a:p>
                  </a:txBody>
                  <a:tcPr marL="101600" marR="101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444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· TEAMLEADER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Plan 状态机与依赖管理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9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587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Plan Step 结构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1968500"/>
            <a:ext cx="4826000" cy="2286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70000" y="2159000"/>
            <a:ext cx="43180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 dirty="0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id </a:t>
            </a:r>
            <a:r>
              <a:rPr lang="en-US" sz="12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稳定子任务标识</a:t>
            </a:r>
            <a:endParaRPr lang="en-US" sz="1100" dirty="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 dirty="0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goal </a:t>
            </a:r>
            <a:r>
              <a:rPr lang="en-US" sz="12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子任务目标</a:t>
            </a:r>
            <a:endParaRPr lang="en-US" sz="1200" b="0" i="0" u="none" strike="noStrike" dirty="0">
              <a:solidFill>
                <a:srgbClr val="DCE6F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depends_on</a:t>
            </a:r>
            <a:r>
              <a:rPr lang="en-US" sz="1200" b="0" i="0" u="none" strike="noStrike" dirty="0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依赖的</a:t>
            </a:r>
            <a:r>
              <a:rPr lang="en-US" sz="1200" b="0" i="0" u="none" strike="noStrike" dirty="0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 step id</a:t>
            </a: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 dirty="0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handoff </a:t>
            </a:r>
            <a:r>
              <a:rPr lang="en-US" sz="12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交接要求</a:t>
            </a:r>
            <a:endParaRPr lang="en-US" sz="1200" b="0" i="0" u="none" strike="noStrike" dirty="0">
              <a:solidFill>
                <a:srgbClr val="DCE6F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 dirty="0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status pending/completed/failed</a:t>
            </a: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worker_type</a:t>
            </a:r>
            <a:r>
              <a:rPr lang="en-US" sz="1200" b="0" i="0" u="none" strike="noStrike" dirty="0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派发后记录，创建时不预设</a:t>
            </a:r>
            <a:endParaRPr lang="en-US" sz="1200" b="0" i="0" u="none" strike="noStrike" dirty="0">
              <a:solidFill>
                <a:srgbClr val="DCE6F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4445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PlanState 三类校验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8260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41666"/>
              </a:lnSpc>
              <a:buClr>
                <a:srgbClr val="2B2F36"/>
              </a:buClr>
              <a:buFont typeface="+mj-lt"/>
              <a:buAutoNum type="arabicPeriod"/>
              <a:defRPr/>
            </a:pP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step id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不重复，且不能包含路径分隔符</a:t>
            </a:r>
            <a:endParaRPr lang="en-US" sz="1100" dirty="0"/>
          </a:p>
          <a:p>
            <a:pPr marL="152400" indent="-152400" algn="l">
              <a:lnSpc>
                <a:spcPct val="141666"/>
              </a:lnSpc>
              <a:buClr>
                <a:srgbClr val="2B2F36"/>
              </a:buClr>
              <a:buFont typeface="+mj-lt"/>
              <a:buAutoNum type="arabicPeriod"/>
            </a:pP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依赖必须指向当前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Plan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中存在的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step</a:t>
            </a:r>
          </a:p>
          <a:p>
            <a:pPr marL="152400" indent="-152400" algn="l">
              <a:lnSpc>
                <a:spcPct val="141666"/>
              </a:lnSpc>
              <a:buClr>
                <a:srgbClr val="2B2F36"/>
              </a:buClr>
              <a:buFont typeface="+mj-lt"/>
              <a:buAutoNum type="arabicPeriod"/>
            </a:pP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依赖图不能有环</a:t>
            </a:r>
            <a:endParaRPr lang="en-US" sz="12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0" y="1587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派发前检查 ensure_ready()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1968500"/>
            <a:ext cx="4826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604000" y="21590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确认目标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step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仍是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pending，且所有依赖都已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completed。并行派发额外确认同一组内没有依赖关系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6350000" y="3429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状态自动更新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3810000"/>
            <a:ext cx="4826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604000" y="40005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Worker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返回后，TeamLeader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直接根据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DispatchResult.success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更新对应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step：成功变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completed，失败变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failed。模型不需要额外调用"更新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Plan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状态"工具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6350000" y="5270500"/>
            <a:ext cx="4826000" cy="9525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604000" y="53975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1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设计要点：</a:t>
            </a:r>
            <a:r>
              <a:rPr lang="en-US" sz="11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Plan 只描述"做什么"和"依赖谁"，不提前规定由 Browser 还是 CLI 完成。Worker 类型由 TeamLeader 在真正派发时选择。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444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· TEAMLEADER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派发与并行执行机制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9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587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dispatch_worker() 四步流程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1968500"/>
            <a:ext cx="4826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70000" y="2159000"/>
            <a:ext cx="431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66666"/>
              </a:lnSpc>
              <a:buClr>
                <a:srgbClr val="2B2F36"/>
              </a:buClr>
              <a:buFont typeface="+mj-lt"/>
              <a:buAutoNum type="arabicPeriod"/>
              <a:defRPr/>
            </a:pPr>
            <a:r>
              <a:rPr lang="en-US" sz="13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创建 workers/&lt;worker-name&gt;/ 目录</a:t>
            </a:r>
            <a:endParaRPr lang="en-US" sz="1100"/>
          </a:p>
          <a:p>
            <a:pPr marL="165100" indent="-165100" algn="l">
              <a:lnSpc>
                <a:spcPct val="166666"/>
              </a:lnSpc>
              <a:buClr>
                <a:srgbClr val="2B2F36"/>
              </a:buClr>
              <a:buFont typeface="+mj-lt"/>
              <a:buAutoNum type="arabicPeriod"/>
            </a:pPr>
            <a:r>
              <a:rPr lang="en-US" sz="13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写入 request.md 任务说明</a:t>
            </a:r>
          </a:p>
          <a:p>
            <a:pPr marL="165100" indent="-165100" algn="l">
              <a:lnSpc>
                <a:spcPct val="166666"/>
              </a:lnSpc>
              <a:buClr>
                <a:srgbClr val="2B2F36"/>
              </a:buClr>
              <a:buFont typeface="+mj-lt"/>
              <a:buAutoNum type="arabicPeriod"/>
            </a:pPr>
            <a:r>
              <a:rPr lang="en-US" sz="13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等待 Worker 执行完成</a:t>
            </a:r>
          </a:p>
          <a:p>
            <a:pPr marL="165100" indent="-165100" algn="l">
              <a:lnSpc>
                <a:spcPct val="166666"/>
              </a:lnSpc>
              <a:buClr>
                <a:srgbClr val="2B2F36"/>
              </a:buClr>
              <a:buFont typeface="+mj-lt"/>
              <a:buAutoNum type="arabicPeriod"/>
            </a:pPr>
            <a:r>
              <a:rPr lang="en-US" sz="13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读取 result.md，解析 Status 返回 DispatchResult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4699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并行派发的容错设计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5080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dispatch_parallel_worker 使用 asyncio.gather() 并发执行多个独立 Worker。一个 Worker 的异常会被转成自己的失败结果，</a:t>
            </a:r>
            <a:r>
              <a:rPr lang="en-US" sz="12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不会因为一个兄弟任务失败而取消整个并行组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1587500"/>
            <a:ext cx="4826000" cy="46355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604000" y="18415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Worker 间交接：文件而非对象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0110">
            <a:off x="6604009" y="2279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604000" y="2476500"/>
            <a:ext cx="431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Worker 之间：</a:t>
            </a:r>
            <a:endParaRPr lang="en-US" sz="1100"/>
          </a:p>
          <a:p>
            <a:pPr marL="152400" indent="-152400" algn="l">
              <a:lnSpc>
                <a:spcPct val="150000"/>
              </a:lnSpc>
              <a:buClr>
                <a:srgbClr val="DCE6F5"/>
              </a:buClr>
              <a:buChar char="•"/>
            </a:pPr>
            <a:r>
              <a:rPr lang="en-US" sz="1200" b="0" i="0" u="none" strike="noStrike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不直接传递 Python 对象</a:t>
            </a:r>
          </a:p>
          <a:p>
            <a:pPr marL="152400" indent="-152400" algn="l">
              <a:lnSpc>
                <a:spcPct val="150000"/>
              </a:lnSpc>
              <a:buClr>
                <a:srgbClr val="DCE6F5"/>
              </a:buClr>
              <a:buChar char="•"/>
            </a:pPr>
            <a:r>
              <a:rPr lang="en-US" sz="1200" b="0" i="0" u="none" strike="noStrike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不依赖全局消息总线</a:t>
            </a:r>
          </a:p>
          <a:p>
            <a:pPr marL="152400" indent="-152400" algn="l">
              <a:lnSpc>
                <a:spcPct val="150000"/>
              </a:lnSpc>
              <a:buClr>
                <a:srgbClr val="DCE6F5"/>
              </a:buClr>
              <a:buChar char="•"/>
            </a:pPr>
            <a:r>
              <a:rPr lang="en-US" sz="1200" b="0" i="0" u="none" strike="noStrike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后一个 Worker 通过 available_file_paths 或任务目录文件读取前一个的产物</a:t>
            </a:r>
          </a:p>
        </p:txBody>
      </p:sp>
      <p:cxnSp>
        <p:nvCxnSpPr>
          <p:cNvPr id="15" name="Connector 15"/>
          <p:cNvCxnSpPr/>
          <p:nvPr/>
        </p:nvCxnSpPr>
        <p:spPr>
          <a:xfrm rot="-10110">
            <a:off x="6604009" y="4184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604000" y="4381500"/>
            <a:ext cx="431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优点：</a:t>
            </a:r>
            <a:endParaRPr lang="en-US" sz="1100"/>
          </a:p>
          <a:p>
            <a:pPr marL="152400" indent="-152400" algn="l">
              <a:lnSpc>
                <a:spcPct val="150000"/>
              </a:lnSpc>
              <a:buClr>
                <a:srgbClr val="BFD7FF"/>
              </a:buClr>
              <a:buChar char="•"/>
            </a:pPr>
            <a:r>
              <a:rPr lang="en-US" sz="1200" b="0" i="0" u="none" strike="noStrike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直观、人可直接检查</a:t>
            </a:r>
          </a:p>
          <a:p>
            <a:pPr marL="152400" indent="-152400" algn="l">
              <a:lnSpc>
                <a:spcPct val="150000"/>
              </a:lnSpc>
              <a:buClr>
                <a:srgbClr val="BFD7FF"/>
              </a:buClr>
              <a:buChar char="•"/>
            </a:pPr>
            <a:r>
              <a:rPr lang="en-US" sz="1200" b="0" i="0" u="none" strike="noStrike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失败后容易恢复和复盘</a:t>
            </a:r>
          </a:p>
          <a:p>
            <a:pPr marL="152400" indent="-152400" algn="l">
              <a:lnSpc>
                <a:spcPct val="150000"/>
              </a:lnSpc>
              <a:buClr>
                <a:srgbClr val="BFD7FF"/>
              </a:buClr>
              <a:buChar char="•"/>
            </a:pPr>
            <a:r>
              <a:rPr lang="en-US" sz="1200" b="0" i="0" u="none" strike="noStrike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Worker 解耦，替换 Harness 时 TeamLeader 契约不变</a:t>
            </a:r>
          </a:p>
          <a:p>
            <a:pPr marL="152400" indent="-152400" algn="l">
              <a:lnSpc>
                <a:spcPct val="150000"/>
              </a:lnSpc>
              <a:buClr>
                <a:srgbClr val="BFD7FF"/>
              </a:buClr>
              <a:buChar char="•"/>
            </a:pPr>
            <a:r>
              <a:rPr lang="en-US" sz="1200" b="0" i="0" u="none" strike="noStrike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不引入复杂的跨 Worker 协议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444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 · BROWSER WORKER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Browser Worker 职责与外层运行器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9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587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Browser Worker 是 TeamLeader 调用的网页执行单元。输入是 request.md 中的自然语言任务 + 任务目录中可读取的附件/其他 Worker 产物；输出是网页操作结果、下载文件、截图、提取内容和 result.md。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10160000" cy="698500"/>
          </a:xfrm>
          <a:prstGeom prst="roundRect">
            <a:avLst>
              <a:gd name="adj" fmla="val 0"/>
            </a:avLst>
          </a:prstGeom>
          <a:solidFill>
            <a:srgbClr val="C9302C">
              <a:alpha val="8000"/>
            </a:srgbClr>
          </a:solidFill>
          <a:ln w="12700" cap="flat" cmpd="sng">
            <a:solidFill>
              <a:srgbClr val="C9302C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70000" y="2667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1" i="0" u="none" strike="noStrike" dirty="0" err="1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不是简单的"打开浏览器并发送一次</a:t>
            </a:r>
            <a:r>
              <a:rPr lang="en-US" sz="1300" b="1" i="0" u="none" strike="noStrike" dirty="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 prompt"</a:t>
            </a:r>
            <a:r>
              <a:rPr lang="en-US" sz="13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— </a:t>
            </a:r>
            <a:r>
              <a:rPr lang="en-US" sz="13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</a:t>
            </a:r>
            <a:r>
              <a:rPr lang="en-US" sz="13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Browser Agent </a:t>
            </a:r>
            <a:r>
              <a:rPr lang="en-US" sz="13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Harness：浏览器会话、页面状态、DOM</a:t>
            </a:r>
            <a:r>
              <a:rPr lang="en-US" sz="13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观察、截图、工具注册、动作执行、历史、失败恢复、循环检测和人工接管</a:t>
            </a:r>
            <a:r>
              <a:rPr lang="en-US" sz="13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3906486" y="3492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项目边界：BrowserWorker 负责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906486" y="3873500"/>
            <a:ext cx="4826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160486" y="4064000"/>
            <a:ext cx="431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  <a:defRPr/>
            </a:pP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创建独立的浏览器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profile</a:t>
            </a:r>
            <a:endParaRPr lang="en-US" sz="1100" dirty="0"/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创建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Browser Session 和 Browser Agent</a:t>
            </a: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将 Worker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请求和可用文件交给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Agent</a:t>
            </a: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保存截图、轨迹和结果</a:t>
            </a:r>
            <a:endParaRPr lang="en-US" sz="12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控制后台运行、接管、恢复和取消</a:t>
            </a:r>
            <a:endParaRPr lang="en-US" sz="12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444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 · BROWSER WORKER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浏览器会话与登录态继承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9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587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inherited </a:t>
            </a:r>
            <a:r>
              <a:rPr lang="en-US" sz="16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模式四步流程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016000" y="1968500"/>
            <a:ext cx="4826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70000" y="2159000"/>
            <a:ext cx="4318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66666"/>
              </a:lnSpc>
              <a:buClr>
                <a:srgbClr val="2B2F36"/>
              </a:buClr>
              <a:buFont typeface="+mj-lt"/>
              <a:buAutoNum type="arabicPeriod"/>
              <a:defRPr/>
            </a:pP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找到用户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Edge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的可用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profile</a:t>
            </a:r>
            <a:endParaRPr lang="en-US" sz="1100" dirty="0"/>
          </a:p>
          <a:p>
            <a:pPr marL="152400" indent="-152400" algn="l">
              <a:lnSpc>
                <a:spcPct val="166666"/>
              </a:lnSpc>
              <a:buClr>
                <a:srgbClr val="2B2F36"/>
              </a:buClr>
              <a:buFont typeface="+mj-lt"/>
              <a:buAutoNum type="arabicPeriod"/>
            </a:pP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尝试刷新本地登录态快照；Edge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运行中则用最近一次成功快照</a:t>
            </a:r>
            <a:endParaRPr lang="en-US" sz="12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66666"/>
              </a:lnSpc>
              <a:buClr>
                <a:srgbClr val="2B2F36"/>
              </a:buClr>
              <a:buFont typeface="+mj-lt"/>
              <a:buAutoNum type="arabicPeriod"/>
            </a:pP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将快照复制到本次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Worker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的临时目录</a:t>
            </a:r>
            <a:endParaRPr lang="en-US" sz="12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66666"/>
              </a:lnSpc>
              <a:buClr>
                <a:srgbClr val="2B2F36"/>
              </a:buClr>
              <a:buFont typeface="+mj-lt"/>
              <a:buAutoNum type="arabicPeriod"/>
            </a:pP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在复制出来的目录中启动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Worker 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浏览器</a:t>
            </a:r>
            <a:endParaRPr lang="en-US" sz="12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5080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快照位置：</a:t>
            </a:r>
            <a:r>
              <a:rPr lang="en-US" sz="1200" b="0" i="0" u="none" strike="noStrike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%LOCALAPPDATA%\OmniAct\browser-snapshots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首次使用需暂时退出 Edge 建立快照，关闭后再次运行自动刷新。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350000" y="1587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关键设计要点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1968500"/>
            <a:ext cx="48260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604000" y="20955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继承登录态但不操作原浏览器：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Worker 继承用户日常 Edge 登录态，同时不会操作用户正在使用的原始浏览器窗口。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3302000"/>
            <a:ext cx="4826000" cy="1143000"/>
          </a:xfrm>
          <a:prstGeom prst="roundRect">
            <a:avLst>
              <a:gd name="adj" fmla="val 0"/>
            </a:avLst>
          </a:prstGeom>
          <a:solidFill>
            <a:srgbClr val="4C7A5A">
              <a:alpha val="8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604000" y="34290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200" b="1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支持并行：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多个 Browser Worker 各自拥有独立临时 profile，可并行运行，互不干扰。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4635500"/>
            <a:ext cx="4826000" cy="825500"/>
          </a:xfrm>
          <a:prstGeom prst="roundRect">
            <a:avLst>
              <a:gd name="adj" fmla="val 0"/>
            </a:avLst>
          </a:prstGeom>
          <a:solidFill>
            <a:srgbClr val="C9302C">
              <a:alpha val="8000"/>
            </a:srgbClr>
          </a:solidFill>
          <a:ln w="12700" cap="flat" cmpd="sng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604000" y="4762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2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不静默降级：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Edge 运行中且无可用快照时，明确提示退出 Edge，不会静默降为 clean 模式。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5651500"/>
            <a:ext cx="482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clean 模式：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启动不继承登录态的独立 profile，适合 Benchmark 或需完全隔离登录状态的任务。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444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 · BROWSER WORKER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一步循环与动作工具集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9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5875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Browser Agent 一步循环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1968500"/>
            <a:ext cx="4318000" cy="4318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70000" y="2159000"/>
            <a:ext cx="3810000" cy="393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333"/>
              </a:lnSpc>
              <a:defRPr/>
            </a:pPr>
            <a:r>
              <a:rPr lang="en-US" sz="1100" b="1" i="0" u="none" strike="noStrike" dirty="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sz="11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观察浏览器状态：URL、标题、标签页、DOM</a:t>
            </a:r>
            <a:r>
              <a:rPr lang="en-US" sz="11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可交互元素、截图、可选最近事件</a:t>
            </a:r>
            <a:endParaRPr lang="en-US" sz="1100" dirty="0"/>
          </a:p>
          <a:p>
            <a:pPr marL="0" indent="0" algn="l">
              <a:lnSpc>
                <a:spcPct val="158333"/>
              </a:lnSpc>
            </a:pPr>
            <a:r>
              <a:rPr lang="en-US" sz="1100" b="1" i="0" u="none" strike="noStrike" dirty="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sz="11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更新当前页面的工具</a:t>
            </a:r>
            <a:r>
              <a:rPr lang="en-US" sz="11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schema 和 prompt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描述</a:t>
            </a:r>
            <a:endParaRPr lang="en-US" sz="1100" b="0" i="0" u="none" strike="noStrike" dirty="0">
              <a:solidFill>
                <a:srgbClr val="DCE6F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8333"/>
              </a:lnSpc>
            </a:pPr>
            <a:r>
              <a:rPr lang="en-US" sz="1100" b="1" i="0" u="none" strike="noStrike" dirty="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sz="11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组装模型上下文：system</a:t>
            </a:r>
            <a:r>
              <a:rPr lang="en-US" sz="11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任务</a:t>
            </a:r>
            <a:r>
              <a:rPr lang="en-US" sz="11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近期历史</a:t>
            </a:r>
            <a:r>
              <a:rPr lang="en-US" sz="11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上一步结果</a:t>
            </a:r>
            <a:r>
              <a:rPr lang="en-US" sz="11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页面观察</a:t>
            </a:r>
            <a:r>
              <a:rPr lang="en-US" sz="11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文件信息</a:t>
            </a:r>
            <a:endParaRPr lang="en-US" sz="1100" b="0" i="0" u="none" strike="noStrike" dirty="0">
              <a:solidFill>
                <a:srgbClr val="DCE6F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8333"/>
              </a:lnSpc>
            </a:pPr>
            <a:r>
              <a:rPr lang="en-US" sz="1100" b="1" i="0" u="none" strike="noStrike" dirty="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4.</a:t>
            </a:r>
            <a:r>
              <a:rPr lang="en-US" sz="11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调用视觉</a:t>
            </a:r>
            <a:r>
              <a:rPr lang="en-US" sz="11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文本模型，得到结构化动作</a:t>
            </a:r>
            <a:endParaRPr lang="en-US" sz="1100" b="0" i="0" u="none" strike="noStrike" dirty="0">
              <a:solidFill>
                <a:srgbClr val="DCE6F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8333"/>
              </a:lnSpc>
            </a:pPr>
            <a:r>
              <a:rPr lang="en-US" sz="1100" b="1" i="0" u="none" strike="noStrike" dirty="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5.</a:t>
            </a:r>
            <a:r>
              <a:rPr lang="en-US" sz="11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执行动作并生成</a:t>
            </a:r>
            <a:r>
              <a:rPr lang="en-US" sz="11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ActionResult</a:t>
            </a:r>
            <a:endParaRPr lang="en-US" sz="1100" b="0" i="0" u="none" strike="noStrike" dirty="0">
              <a:solidFill>
                <a:srgbClr val="DCE6F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8333"/>
              </a:lnSpc>
            </a:pPr>
            <a:r>
              <a:rPr lang="en-US" sz="1100" b="1" i="0" u="none" strike="noStrike" dirty="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6.</a:t>
            </a:r>
            <a:r>
              <a:rPr lang="en-US" sz="11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结果写入短期历史、长期记忆或下一轮</a:t>
            </a:r>
            <a:r>
              <a:rPr lang="en-US" sz="11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read state</a:t>
            </a:r>
          </a:p>
          <a:p>
            <a:pPr marL="0" indent="0" algn="l">
              <a:lnSpc>
                <a:spcPct val="158333"/>
              </a:lnSpc>
            </a:pPr>
            <a:r>
              <a:rPr lang="en-US" sz="1100" b="1" i="0" u="none" strike="noStrike" dirty="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7.</a:t>
            </a:r>
            <a:r>
              <a:rPr lang="en-US" sz="11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判断</a:t>
            </a:r>
            <a:r>
              <a:rPr lang="en-US" sz="11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done、失败、暂停、循环或继续</a:t>
            </a:r>
            <a:endParaRPr lang="en-US" sz="1100" b="0" i="0" u="none" strike="noStrike" dirty="0">
              <a:solidFill>
                <a:srgbClr val="DCE6F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842000" y="1587500"/>
            <a:ext cx="533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动作工具分类（tools/views.py）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5842000" y="1968500"/>
          <a:ext cx="5334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类别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主要工具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页面导航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search, navigate, go_back, wait, scroll, switch, close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元素交互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click, input, send_keys, upload_file, select_dropdown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内容提取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extract, search_page, find_elements, write_file, read_file, screenshot, save_as_pdf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结束/接管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done(text, success, files_to_display), request_user_takeover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脚本执行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execute_javascript, replace_file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AutoShape 11"/>
          <p:cNvSpPr/>
          <p:nvPr/>
        </p:nvSpPr>
        <p:spPr>
          <a:xfrm>
            <a:off x="5842000" y="5715000"/>
            <a:ext cx="5334000" cy="5715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032500" y="5803900"/>
            <a:ext cx="495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设计原则：</a:t>
            </a:r>
            <a:r>
              <a:rPr lang="en-US" sz="10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工具参数大多是平面字符串、数字和布尔值，嵌套结构只保留必要一层，降低弱模型遵守 schema 的难度。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444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 · BROWSER WORKER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上下文观测组成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2065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不是单一的"聊天历史"，而是四种信息的组合 — 固定 system + 当前观察 + 上一步结果 + 文件系统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1714500"/>
            <a:ext cx="4953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06500" y="18415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1. 固定 system prompt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06500" y="2159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角色、动作规则、完成规则、页面交互原则、工具使用说明。长期稳定，适合复用上下文缓存。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714500"/>
            <a:ext cx="4953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13500" y="18415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2. 当前浏览器观察 (BrowserStateSummary)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13500" y="2159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URL + 标题 + 标签页列表 + DOM 的 LLM 表示 + 可交互元素 selector map/索引 + 当前截图 + 最近浏览器事件。DOM 序列化保留有用标签文本属性，限制可点击元素文本长度防溢出。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3365500"/>
            <a:ext cx="4953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206500" y="34925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3. 上一步动作结果 (ActionResult)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06500" y="3810000"/>
            <a:ext cx="457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39700" indent="-139700" algn="l">
              <a:lnSpc>
                <a:spcPct val="125000"/>
              </a:lnSpc>
              <a:buClr>
                <a:srgbClr val="2B2F36"/>
              </a:buClr>
              <a:buChar char="•"/>
              <a:defRPr/>
            </a:pPr>
            <a:r>
              <a:rPr lang="en-US" sz="11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extracted_content</a:t>
            </a: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：本轮直接可读短结果</a:t>
            </a:r>
            <a:endParaRPr lang="en-US" sz="1100"/>
          </a:p>
          <a:p>
            <a:pPr marL="139700" indent="-139700" algn="l">
              <a:lnSpc>
                <a:spcPct val="125000"/>
              </a:lnSpc>
              <a:buClr>
                <a:srgbClr val="2B2F36"/>
              </a:buClr>
              <a:buChar char="•"/>
            </a:pPr>
            <a:r>
              <a:rPr lang="en-US" sz="11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long_term_memory</a:t>
            </a: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：适合保留的简短事实</a:t>
            </a:r>
          </a:p>
          <a:p>
            <a:pPr marL="139700" indent="-139700" algn="l">
              <a:lnSpc>
                <a:spcPct val="125000"/>
              </a:lnSpc>
              <a:buClr>
                <a:srgbClr val="2B2F36"/>
              </a:buClr>
              <a:buChar char="•"/>
            </a:pPr>
            <a:r>
              <a:rPr lang="en-US" sz="11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：动作失败原因</a:t>
            </a:r>
          </a:p>
          <a:p>
            <a:pPr marL="139700" indent="-139700" algn="l">
              <a:lnSpc>
                <a:spcPct val="125000"/>
              </a:lnSpc>
              <a:buClr>
                <a:srgbClr val="2B2F36"/>
              </a:buClr>
              <a:buChar char="•"/>
            </a:pPr>
            <a:r>
              <a:rPr lang="en-US" sz="11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images / attachments</a:t>
            </a: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：临时图片和下载文件</a:t>
            </a:r>
          </a:p>
          <a:p>
            <a:pPr marL="139700" indent="-139700" algn="l">
              <a:lnSpc>
                <a:spcPct val="125000"/>
              </a:lnSpc>
              <a:buClr>
                <a:srgbClr val="2B2F36"/>
              </a:buClr>
              <a:buChar char="•"/>
            </a:pPr>
            <a:r>
              <a:rPr lang="en-US" sz="11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is_done / success</a:t>
            </a: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：结束状态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3365500"/>
            <a:ext cx="4953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13500" y="34925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4. 任务文件与可用文件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3810000"/>
            <a:ext cx="457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Browser Worker 将自己的 </a:t>
            </a:r>
            <a:r>
              <a:rPr lang="en-US" sz="11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artifacts/</a:t>
            </a: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作为文件系统根目录，同时把输入附件和其他 Worker 产物列入 </a:t>
            </a:r>
            <a:r>
              <a:rPr lang="en-US" sz="11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available_file_paths</a:t>
            </a: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</a:t>
            </a:r>
            <a:r>
              <a:rPr lang="en-US" sz="11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read_file</a:t>
            </a: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读取交接文件，通过 </a:t>
            </a:r>
            <a:r>
              <a:rPr lang="en-US" sz="11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write_file</a:t>
            </a: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沉淀 Markdown/JSON/CSV 产物。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1016000" y="5207000"/>
            <a:ext cx="10160000" cy="10795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270000" y="5334000"/>
            <a:ext cx="965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关键机制：include_extracted_content_only_once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270000" y="56896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100" b="0" i="0" u="none" strike="noStrike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某些 ActionResult 使用此标记写入 read_state，只在下一轮出现一次，避免把同一大段内容永久重复放入历史。视觉输入与 DOM 互补：DOM 稳定定位元素，截图理解布局/弹窗/DOM 难表达的视觉信息。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444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 · BROWSER WORKER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记忆压缩与失败恢复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9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587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运行状态（内存，非数据库</a:t>
            </a:r>
            <a:r>
              <a:rPr lang="en-US" sz="15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016000" y="1968500"/>
            <a:ext cx="4826000" cy="22225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70000" y="2133600"/>
            <a:ext cx="431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1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agent_history_items</a:t>
            </a:r>
            <a:r>
              <a:rPr lang="en-US" sz="1100" b="0" i="0" u="none" strike="noStrike" dirty="0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 按 step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保存评价</a:t>
            </a:r>
            <a:r>
              <a:rPr lang="en-US" sz="1100" b="0" i="0" u="none" strike="noStrike" dirty="0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/memory/goal/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结果</a:t>
            </a:r>
            <a:endParaRPr lang="en-US" sz="1100" dirty="0"/>
          </a:p>
          <a:p>
            <a:pPr marL="0" indent="0" algn="l">
              <a:lnSpc>
                <a:spcPct val="141666"/>
              </a:lnSpc>
            </a:pPr>
            <a:r>
              <a:rPr lang="en-US" sz="11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read_state_description</a:t>
            </a:r>
            <a:r>
              <a:rPr lang="en-US" sz="1100" b="0" i="0" u="none" strike="noStrike" dirty="0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只注入一次的提取结果或临时观察</a:t>
            </a:r>
            <a:endParaRPr lang="en-US" sz="1100" b="0" i="0" u="none" strike="noStrike" dirty="0">
              <a:solidFill>
                <a:srgbClr val="DCE6F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41666"/>
              </a:lnSpc>
            </a:pPr>
            <a:r>
              <a:rPr lang="en-US" sz="11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compacted_memory</a:t>
            </a:r>
            <a:r>
              <a:rPr lang="en-US" sz="1100" b="0" i="0" u="none" strike="noStrike" dirty="0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较早历史的摘要</a:t>
            </a:r>
            <a:endParaRPr lang="en-US" sz="1100" b="0" i="0" u="none" strike="noStrike" dirty="0">
              <a:solidFill>
                <a:srgbClr val="DCE6F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41666"/>
              </a:lnSpc>
            </a:pPr>
            <a:r>
              <a:rPr lang="en-US" sz="11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last_model_output</a:t>
            </a:r>
            <a:r>
              <a:rPr lang="en-US" sz="1100" b="0" i="0" u="none" strike="noStrike" dirty="0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当前</a:t>
            </a:r>
            <a:r>
              <a:rPr lang="en-US" sz="1100" b="0" i="0" u="none" strike="noStrike" dirty="0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 step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的决策</a:t>
            </a:r>
            <a:endParaRPr lang="en-US" sz="1100" b="0" i="0" u="none" strike="noStrike" dirty="0">
              <a:solidFill>
                <a:srgbClr val="DCE6F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41666"/>
              </a:lnSpc>
            </a:pPr>
            <a:r>
              <a:rPr lang="en-US" sz="11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last_result</a:t>
            </a:r>
            <a:r>
              <a:rPr lang="en-US" sz="1100" b="0" i="0" u="none" strike="noStrike" dirty="0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当前</a:t>
            </a:r>
            <a:r>
              <a:rPr lang="en-US" sz="1100" b="0" i="0" u="none" strike="noStrike" dirty="0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 step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的执行结果</a:t>
            </a:r>
            <a:endParaRPr lang="en-US" sz="1100" b="0" i="0" u="none" strike="noStrike" dirty="0">
              <a:solidFill>
                <a:srgbClr val="DCE6F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41666"/>
              </a:lnSpc>
            </a:pPr>
            <a:r>
              <a:rPr lang="en-US" sz="11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loop_detector</a:t>
            </a:r>
            <a:r>
              <a:rPr lang="en-US" sz="1100" b="0" i="0" u="none" strike="noStrike" dirty="0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动作重复和页面停滞统计</a:t>
            </a:r>
            <a:endParaRPr lang="en-US" sz="1100" b="0" i="0" u="none" strike="noStrike" dirty="0">
              <a:solidFill>
                <a:srgbClr val="DCE6F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41666"/>
              </a:lnSpc>
            </a:pPr>
            <a:r>
              <a:rPr lang="en-US" sz="11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FileSystemState</a:t>
            </a:r>
            <a:r>
              <a:rPr lang="en-US" sz="1100" b="0" i="0" u="none" strike="noStrike" dirty="0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 Agent </a:t>
            </a:r>
            <a:r>
              <a:rPr lang="en-US" sz="1100" b="0" i="0" u="none" strike="noStrike" dirty="0" err="1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文件系统状态</a:t>
            </a:r>
            <a:endParaRPr lang="en-US" sz="1100" b="0" i="0" u="none" strike="noStrike" dirty="0">
              <a:solidFill>
                <a:srgbClr val="DCE6F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4381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消息压缩机制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7625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1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由 </a:t>
            </a:r>
            <a:r>
              <a:rPr lang="en-US" sz="1100" b="0" i="0" u="none" strike="noStrike" dirty="0" err="1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MessageManager.maybe_compact_messages</a:t>
            </a:r>
            <a:r>
              <a:rPr lang="en-US" sz="1100" b="0" i="0" u="none" strike="noStrike" dirty="0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-US" sz="11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触发，参数由</a:t>
            </a:r>
            <a:r>
              <a:rPr lang="en-US" sz="11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 dirty="0" err="1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MessageCompactionSettings</a:t>
            </a:r>
            <a:r>
              <a:rPr lang="en-US" sz="11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描述</a:t>
            </a:r>
            <a:r>
              <a:rPr lang="en-US" sz="11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marL="0" indent="0" algn="l">
              <a:lnSpc>
                <a:spcPct val="141666"/>
              </a:lnSpc>
            </a:pPr>
            <a:r>
              <a:rPr lang="en-US" sz="11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达到</a:t>
            </a:r>
            <a:r>
              <a:rPr lang="en-US" sz="11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step </a:t>
            </a:r>
            <a:r>
              <a:rPr lang="en-US" sz="11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间隔且历史字符数超阈值后，用压缩模型总结任务要求、关键事实、错误和下一步，保留首条初始化记录及最近若干条历史</a:t>
            </a:r>
            <a:r>
              <a:rPr lang="en-US" sz="11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350000" y="1587500"/>
            <a:ext cx="4826000" cy="1079500"/>
          </a:xfrm>
          <a:prstGeom prst="roundRect">
            <a:avLst>
              <a:gd name="adj" fmla="val 0"/>
            </a:avLst>
          </a:prstGeom>
          <a:solidFill>
            <a:srgbClr val="C9302C">
              <a:alpha val="8000"/>
            </a:srgbClr>
          </a:solidFill>
          <a:ln w="12700" cap="flat" cmpd="sng">
            <a:solidFill>
              <a:srgbClr val="C9302C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540500" y="17145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100" b="1" i="0" u="none" strike="noStrike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压缩摘要是"未完全验证的上下文"。</a:t>
            </a: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done prompt 明确要求不能仅凭压缩记忆声称某步已完成，必须重新观察确认。避免上下文压缩后把推测当成事实。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2857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失败恢复分类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3238500"/>
            <a:ext cx="482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39700" indent="-139700" algn="l">
              <a:lnSpc>
                <a:spcPct val="141666"/>
              </a:lnSpc>
              <a:buClr>
                <a:srgbClr val="2B2F36"/>
              </a:buClr>
              <a:buChar char="•"/>
              <a:defRPr/>
            </a:pPr>
            <a:r>
              <a:rPr lang="en-US" sz="11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模型响应无法解析</a:t>
            </a:r>
            <a:r>
              <a:rPr lang="en-US" sz="11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1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错误放回上下文让模型修正</a:t>
            </a:r>
            <a:endParaRPr lang="en-US" sz="1100" dirty="0"/>
          </a:p>
          <a:p>
            <a:pPr marL="139700" indent="-139700" algn="l">
              <a:lnSpc>
                <a:spcPct val="141666"/>
              </a:lnSpc>
              <a:buClr>
                <a:srgbClr val="2B2F36"/>
              </a:buClr>
              <a:buChar char="•"/>
            </a:pPr>
            <a:r>
              <a:rPr lang="en-US" sz="11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工具参数</a:t>
            </a:r>
            <a:r>
              <a:rPr lang="en-US" sz="11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1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动作失败</a:t>
            </a:r>
            <a:r>
              <a:rPr lang="en-US" sz="11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1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ActionResult.error</a:t>
            </a:r>
            <a:r>
              <a:rPr lang="en-US" sz="11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进入下一轮</a:t>
            </a:r>
            <a:endParaRPr lang="en-US" sz="11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buClr>
                <a:srgbClr val="2B2F36"/>
              </a:buClr>
              <a:buChar char="•"/>
            </a:pPr>
            <a:r>
              <a:rPr lang="en-US" sz="11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连续失败达阈值</a:t>
            </a:r>
            <a:r>
              <a:rPr lang="en-US" sz="11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1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停止普通循环，一次最终恢复尝试</a:t>
            </a:r>
            <a:endParaRPr lang="en-US" sz="11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buClr>
                <a:srgbClr val="2B2F36"/>
              </a:buClr>
              <a:buChar char="•"/>
            </a:pPr>
            <a:r>
              <a:rPr lang="en-US" sz="11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CDP/WebSocket </a:t>
            </a:r>
            <a:r>
              <a:rPr lang="en-US" sz="11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断开</a:t>
            </a:r>
            <a:r>
              <a:rPr lang="en-US" sz="11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1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等待重连，成功后继续</a:t>
            </a:r>
            <a:endParaRPr lang="en-US" sz="11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buClr>
                <a:srgbClr val="2B2F36"/>
              </a:buClr>
              <a:buChar char="•"/>
            </a:pPr>
            <a:r>
              <a:rPr lang="en-US" sz="11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浏览器确实关闭</a:t>
            </a:r>
            <a:r>
              <a:rPr lang="en-US" sz="11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1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停止</a:t>
            </a:r>
            <a:r>
              <a:rPr lang="en-US" sz="11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Agent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350000" y="4826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循环检测（软提示，非锁死）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5207000"/>
            <a:ext cx="482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1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记录规范化动作键和页面指纹，重复达到不同阈值时注入</a:t>
            </a:r>
            <a:r>
              <a:rPr lang="en-US" sz="11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nudge </a:t>
            </a:r>
            <a:r>
              <a:rPr lang="en-US" sz="11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提醒"是否仍在取得进展</a:t>
            </a:r>
            <a:r>
              <a:rPr lang="en-US" sz="11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"。</a:t>
            </a:r>
            <a:endParaRPr lang="en-US" sz="1100" dirty="0"/>
          </a:p>
          <a:p>
            <a:pPr marL="0" indent="0" algn="l">
              <a:lnSpc>
                <a:spcPct val="141666"/>
              </a:lnSpc>
            </a:pPr>
            <a:r>
              <a:rPr lang="en-US" sz="11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既减少无意义循环，又不阻止确实需要多次滚动或分页的任务</a:t>
            </a:r>
            <a:r>
              <a:rPr lang="en-US" sz="11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44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 · DESKTOP WORKER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Desktop Worker 与双层 Agent 结构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9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587500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Desktop Worker 负责 Windows 桌面应用和系统 GUI。输入是 request.md 和当前桌面环境，输出是桌面应用中生成或修改的真实文件、截图、UI 树、执行日志和 result.md。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10160000" cy="635000"/>
          </a:xfrm>
          <a:prstGeom prst="roundRect">
            <a:avLst>
              <a:gd name="adj" fmla="val 0"/>
            </a:avLst>
          </a:prstGeom>
          <a:solidFill>
            <a:srgbClr val="C9302C">
              <a:alpha val="8000"/>
            </a:srgbClr>
          </a:solidFill>
          <a:ln w="12700" cap="flat" cmpd="sng">
            <a:solidFill>
              <a:srgbClr val="C9302C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70000" y="2540000"/>
            <a:ext cx="965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不是单个视觉模型直接点击屏幕</a:t>
            </a:r>
            <a:r>
              <a:rPr lang="en-US" sz="13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— </a:t>
            </a:r>
            <a:r>
              <a:rPr lang="en-US" sz="13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而是</a:t>
            </a:r>
            <a:r>
              <a:rPr lang="en-US" sz="13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HostAgent</a:t>
            </a:r>
            <a:r>
              <a:rPr lang="en-US" sz="13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管理</a:t>
            </a:r>
            <a:r>
              <a:rPr lang="en-US" sz="13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AppAgent</a:t>
            </a:r>
            <a:r>
              <a:rPr lang="en-US" sz="13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的两层</a:t>
            </a:r>
            <a:r>
              <a:rPr lang="en-US" sz="13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Agent </a:t>
            </a:r>
            <a:r>
              <a:rPr lang="en-US" sz="13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结构</a:t>
            </a:r>
            <a:r>
              <a:rPr lang="en-US" sz="13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016000" y="3302000"/>
            <a:ext cx="4826000" cy="2921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270000" y="34925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HostAgent — 任务管理者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0110">
            <a:off x="1270009" y="39052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1270000" y="4038600"/>
            <a:ext cx="431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分析当前桌面和窗口</a:t>
            </a:r>
            <a:endParaRPr lang="en-US" sz="1100"/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决定目标应用，拆成当前 subtask</a:t>
            </a: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创建或切换 AppAgent</a:t>
            </a: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接收 AppAgent 结果</a:t>
            </a: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判断继续、询问、失败或完成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350000" y="3302000"/>
            <a:ext cx="4826000" cy="2921000"/>
          </a:xfrm>
          <a:prstGeom prst="roundRect">
            <a:avLst>
              <a:gd name="adj" fmla="val 0"/>
            </a:avLst>
          </a:prstGeom>
          <a:solidFill>
            <a:srgbClr val="4C7A5A">
              <a:alpha val="8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604000" y="34925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AppAgent — 当前应用操作者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0110">
            <a:off x="6604009" y="39052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604000" y="4038600"/>
            <a:ext cx="431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读取该应用的截图和控件信息</a:t>
            </a:r>
            <a:endParaRPr lang="en-US" sz="1100"/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理解当前 subtask，选择应用动作</a:t>
            </a: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UIA / pyautogui / 应用 API / 本地 MCP 执行</a:t>
            </a: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返回动作结果和状态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016000" y="6413500"/>
            <a:ext cx="1016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边界：HostAgent 不需要知道每个控件的底层对象，AppAgent 也不负责整个跨应用任务。项目包名 omniact_desktop，保留上游 UFO2 版权和 MIT 许可。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44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 · DESKTOP WORKER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状态机循环与观测体系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9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587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DesktopWorker.run() 状态机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1968500"/>
            <a:ext cx="4826000" cy="2540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70000" y="2133600"/>
            <a:ext cx="4318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333"/>
              </a:lnSpc>
              <a:defRPr/>
            </a:pPr>
            <a:r>
              <a:rPr lang="en-US" sz="1100" b="0" i="0" u="none" strike="noStrike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创建 Context 和 LocalCommandDispatcher</a:t>
            </a:r>
            <a:endParaRPr lang="en-US" sz="1100"/>
          </a:p>
          <a:p>
            <a:pPr marL="0" indent="0" algn="l">
              <a:lnSpc>
                <a:spcPct val="158333"/>
              </a:lnSpc>
            </a:pPr>
            <a:r>
              <a:rPr lang="en-US" sz="1100" b="0" i="0" u="none" strike="noStrike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↓</a:t>
            </a:r>
          </a:p>
          <a:p>
            <a:pPr marL="0" indent="0" algn="l">
              <a:lnSpc>
                <a:spcPct val="158333"/>
              </a:lnSpc>
            </a:pPr>
            <a:r>
              <a:rPr lang="en-US" sz="1100" b="0" i="0" u="none" strike="noStrike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HostAgent.handle(context)</a:t>
            </a:r>
          </a:p>
          <a:p>
            <a:pPr marL="0" indent="0" algn="l">
              <a:lnSpc>
                <a:spcPct val="158333"/>
              </a:lnSpc>
            </a:pPr>
            <a:r>
              <a:rPr lang="en-US" sz="1100" b="0" i="0" u="none" strike="noStrike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↓</a:t>
            </a:r>
          </a:p>
          <a:p>
            <a:pPr marL="0" indent="0" algn="l">
              <a:lnSpc>
                <a:spcPct val="158333"/>
              </a:lnSpc>
            </a:pPr>
            <a:r>
              <a:rPr lang="en-US" sz="1100" b="0" i="0" u="none" strike="noStrike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Processor pipeline：数据收集 → LLM 交互 → 动作执行 → Memory 更新</a:t>
            </a:r>
          </a:p>
          <a:p>
            <a:pPr marL="0" indent="0" algn="l">
              <a:lnSpc>
                <a:spcPct val="158333"/>
              </a:lnSpc>
            </a:pPr>
            <a:r>
              <a:rPr lang="en-US" sz="1100" b="0" i="0" u="none" strike="noStrike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↓</a:t>
            </a:r>
          </a:p>
          <a:p>
            <a:pPr marL="0" indent="0" algn="l">
              <a:lnSpc>
                <a:spcPct val="158333"/>
              </a:lnSpc>
            </a:pPr>
            <a:r>
              <a:rPr lang="en-US" sz="1100" b="0" i="0" u="none" strike="noStrike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 agent.status 和 state 选择下一 Agent/State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4699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HostAgent 状态枚举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50800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1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CONTINUE 继续处理当前任务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ASSIGN 选择或创建 AppAgent</a:t>
            </a:r>
          </a:p>
          <a:p>
            <a:pPr marL="0" indent="0" algn="l">
              <a:lnSpc>
                <a:spcPct val="150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PENDING 需要用户回答问题</a:t>
            </a:r>
          </a:p>
          <a:p>
            <a:pPr marL="0" indent="0" algn="l">
              <a:lnSpc>
                <a:spcPct val="150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CONFIRM 需要用户确认或人工操作</a:t>
            </a:r>
          </a:p>
          <a:p>
            <a:pPr marL="0" indent="0" algn="l">
              <a:lnSpc>
                <a:spcPct val="150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FINISH 任务完成</a:t>
            </a:r>
          </a:p>
          <a:p>
            <a:pPr marL="0" indent="0" algn="l">
              <a:lnSpc>
                <a:spcPct val="150000"/>
              </a:lnSpc>
            </a:pPr>
            <a:r>
              <a:rPr lang="en-US" sz="11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ERROR/FAIL 无法继续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350000" y="1587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观测内容（视觉 + 结构化 UI）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1968500"/>
            <a:ext cx="4826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604000" y="2159000"/>
            <a:ext cx="4318000" cy="247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当前应用窗口截图</a:t>
            </a:r>
            <a:endParaRPr lang="en-US" sz="1100"/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清晰截图 + 带控件编号的 annotated screenshot</a:t>
            </a: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UI Automation 控件树</a:t>
            </a: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控件名称、类型、automation id、坐标</a:t>
            </a: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当前前台窗口、应用进程和系统信息</a:t>
            </a: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上一步动作结果</a:t>
            </a: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当前 plan、subtask 和历史交接信息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350000" y="4889500"/>
            <a:ext cx="4826000" cy="1778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540500" y="5016500"/>
            <a:ext cx="4445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1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观测互补：</a:t>
            </a: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视觉截图帮助理解布局和 UIA 未完整表达的内容，UIA 控件树帮助稳定找到可操作对象。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1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后备动作：</a:t>
            </a: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找不到合适控件时，保留坐标点击和键盘输入等后备动作。</a:t>
            </a:r>
          </a:p>
          <a:p>
            <a:pPr marL="0" indent="0" algn="l">
              <a:lnSpc>
                <a:spcPct val="141666"/>
              </a:lnSpc>
            </a:pPr>
            <a:r>
              <a:rPr lang="en-US" sz="11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Processor 划分：</a:t>
            </a:r>
            <a:r>
              <a:rPr lang="en-US" sz="11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HostAgentProcessor 和 AppAgentProcessor 都按处理阶段划分，模型调用、观察采集、动作执行、记忆更新边界清晰。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44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 · DESKTOP WORKER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输出 Schema 与命令执行链路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9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587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HostAgentResponse 关键字段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1968500"/>
            <a:ext cx="4826000" cy="18415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06500" y="2095500"/>
            <a:ext cx="4445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0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observation 对桌面和应用状态的观察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thought 当前决策理由</a:t>
            </a:r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status CONTINUE/ASSIGN/PENDING/FINISH/FAIL</a:t>
            </a:r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current_subtask 当前子任务</a:t>
            </a:r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plan HostAgent 当前理解的步骤</a:t>
            </a:r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function 要调用的桌面/MCP 命令</a:t>
            </a:r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arguments 命令参数</a:t>
            </a:r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questions 需要用户补充的信息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4000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ActionCommandInfo 单动作结构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381500"/>
            <a:ext cx="4826000" cy="18415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206500" y="4508500"/>
            <a:ext cx="4445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0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function 命令名称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arguments 扁平参数字典</a:t>
            </a:r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target 控件定位信息</a:t>
            </a:r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status 动作级状态</a:t>
            </a:r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result SUCCESS / FAILURE</a:t>
            </a:r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action_representation 历史和日志的可读表示</a:t>
            </a:r>
          </a:p>
          <a:p>
            <a:pPr marL="0" indent="0" algn="l">
              <a:lnSpc>
                <a:spcPct val="133333"/>
              </a:lnSpc>
            </a:pPr>
            <a:endParaRPr lang="en-US" sz="1000" b="0" i="0" u="none" strike="noStrike">
              <a:solidFill>
                <a:srgbClr val="DCE6F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BFD7FF"/>
                </a:solidFill>
                <a:latin typeface="Consolas"/>
                <a:ea typeface="Consolas"/>
                <a:cs typeface="Consolas"/>
                <a:sym typeface="Consolas"/>
              </a:rPr>
              <a:t>参数保持平面结构，降低模型遵守难度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350000" y="1587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典型动作类别</a:t>
            </a:r>
            <a:endParaRPr lang="en-US" sz="110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6350000" y="1968500"/>
          <a:ext cx="4826000" cy="2349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类别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典型命令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鼠标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click_input, click_on_coordinates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拖拽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drag_on_coordinates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文本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set_edit_text, keyboard_input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观察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annotation, summary, texts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Office/MCP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Excel/Word/PPT 读写保存导出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Shell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执行命令返回 stdout/stderr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AutoShape 14"/>
          <p:cNvSpPr/>
          <p:nvPr/>
        </p:nvSpPr>
        <p:spPr>
          <a:xfrm>
            <a:off x="6350000" y="4508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命令执行链路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4889500"/>
            <a:ext cx="4826000" cy="13335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540500" y="5016500"/>
            <a:ext cx="444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0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Agent response → Command(function, params)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0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→ LocalCommandDispatcher</a:t>
            </a:r>
          </a:p>
          <a:p>
            <a:pPr marL="0" indent="0" algn="l">
              <a:lnSpc>
                <a:spcPct val="141666"/>
              </a:lnSpc>
            </a:pPr>
            <a:r>
              <a:rPr lang="en-US" sz="10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→ CommandRouter / ComputerManager</a:t>
            </a:r>
          </a:p>
          <a:p>
            <a:pPr marL="0" indent="0" algn="l">
              <a:lnSpc>
                <a:spcPct val="141666"/>
              </a:lnSpc>
            </a:pPr>
            <a:r>
              <a:rPr lang="en-US" sz="10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→ UIA/pyautogui | COM | Web | Shell | MCP</a:t>
            </a:r>
          </a:p>
          <a:p>
            <a:pPr marL="0" indent="0" algn="l">
              <a:lnSpc>
                <a:spcPct val="141666"/>
              </a:lnSpc>
            </a:pPr>
            <a:r>
              <a:rPr lang="en-US" sz="10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→ Result(status, result, error)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44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 · DESKTOP WORKER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记忆系统：Memory / Blackboard / Context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9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651000"/>
            <a:ext cx="31750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1651000"/>
            <a:ext cx="3175000" cy="50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1651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 自身 Memory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06500" y="2349500"/>
            <a:ext cx="2794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持有者：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BasicAgent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内容：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结构化的历史条目</a:t>
            </a:r>
          </a:p>
          <a:p>
            <a:pPr marL="0" indent="0" algn="l">
              <a:lnSpc>
                <a:spcPct val="150000"/>
              </a:lnSpc>
            </a:pPr>
            <a:endParaRPr lang="en-US" sz="120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用途：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单个 Agent 的历史记录和 prompt 构造</a:t>
            </a:r>
          </a:p>
          <a:p>
            <a:pPr marL="0" indent="0" algn="l">
              <a:lnSpc>
                <a:spcPct val="150000"/>
              </a:lnSpc>
            </a:pPr>
            <a:endParaRPr lang="en-US" sz="1200" b="0" i="0" u="none" strike="noStrike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范围：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仅当前 Agent 内部，不跨 Agent 共享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508500" y="1651000"/>
            <a:ext cx="31750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508500" y="1651000"/>
            <a:ext cx="3175000" cy="5080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08500" y="1651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HostAgent Blackboard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349500"/>
            <a:ext cx="2794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持有者：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HostAgent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内容：</a:t>
            </a: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questions：问题和用户回答</a:t>
            </a: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requests：请求历史</a:t>
            </a: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trajectories：已完成步骤轨迹</a:t>
            </a: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screenshots：带元数据的截图记忆</a:t>
            </a:r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共享：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AppAgent 通过 HostAgent 访问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001000" y="1651000"/>
            <a:ext cx="31750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001000" y="1651000"/>
            <a:ext cx="3175000" cy="508000"/>
          </a:xfrm>
          <a:prstGeom prst="roundRect">
            <a:avLst>
              <a:gd name="adj" fmla="val 0"/>
            </a:avLst>
          </a:prstGeom>
          <a:solidFill>
            <a:srgbClr val="C930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001000" y="1651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Context 会话上下文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91500" y="2349500"/>
            <a:ext cx="2794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范围：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一次 Desktop Worker 会话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内容：</a:t>
            </a: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请求、当前应用</a:t>
            </a: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当前 subtask、当前 round</a:t>
            </a: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Host message</a:t>
            </a:r>
          </a:p>
          <a:p>
            <a:pPr marL="152400" indent="-152400" algn="l">
              <a:lnSpc>
                <a:spcPct val="150000"/>
              </a:lnSpc>
              <a:buClr>
                <a:srgbClr val="2B2F36"/>
              </a:buClr>
              <a:buChar char="•"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日志器、CommandDispatcher</a:t>
            </a:r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性质：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本地会话上下文，非跨任务数据库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44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06 · END-TO-END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完整端到端链路：贯穿示例走查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2065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任务：收集两个网页资料并保存，再让 Codex 基于资料生成 Markdown 报告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1778000"/>
            <a:ext cx="1524000" cy="6985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1778000"/>
            <a:ext cx="152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1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set_task_criteria</a:t>
            </a:r>
          </a:p>
        </p:txBody>
      </p:sp>
      <p:cxnSp>
        <p:nvCxnSpPr>
          <p:cNvPr id="9" name="Connector 9"/>
          <p:cNvCxnSpPr/>
          <p:nvPr/>
        </p:nvCxnSpPr>
        <p:spPr>
          <a:xfrm rot="-114549">
            <a:off x="2540106" y="21145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0" name="AutoShape 10"/>
          <p:cNvSpPr/>
          <p:nvPr/>
        </p:nvSpPr>
        <p:spPr>
          <a:xfrm>
            <a:off x="2921000" y="1778000"/>
            <a:ext cx="1524000" cy="6985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2921000" y="1778000"/>
            <a:ext cx="152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2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set_task_plan</a:t>
            </a:r>
          </a:p>
        </p:txBody>
      </p:sp>
      <p:cxnSp>
        <p:nvCxnSpPr>
          <p:cNvPr id="12" name="Connector 12"/>
          <p:cNvCxnSpPr/>
          <p:nvPr/>
        </p:nvCxnSpPr>
        <p:spPr>
          <a:xfrm rot="-114549">
            <a:off x="4445106" y="21145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/>
          <p:nvPr/>
        </p:nvSpPr>
        <p:spPr>
          <a:xfrm>
            <a:off x="4826000" y="1778000"/>
            <a:ext cx="2540000" cy="698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826000" y="1778000"/>
            <a:ext cx="254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3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dispatch_parallel_worker</a:t>
            </a:r>
          </a:p>
          <a:p>
            <a:pPr marL="0" indent="0" algn="ctr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两个 Browser Worker 并行</a:t>
            </a:r>
          </a:p>
        </p:txBody>
      </p:sp>
      <p:cxnSp>
        <p:nvCxnSpPr>
          <p:cNvPr id="15" name="Connector 15"/>
          <p:cNvCxnSpPr/>
          <p:nvPr/>
        </p:nvCxnSpPr>
        <p:spPr>
          <a:xfrm rot="-114549">
            <a:off x="7366106" y="21145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6" name="AutoShape 16"/>
          <p:cNvSpPr/>
          <p:nvPr/>
        </p:nvSpPr>
        <p:spPr>
          <a:xfrm>
            <a:off x="7747000" y="1778000"/>
            <a:ext cx="1524000" cy="6985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747000" y="1778000"/>
            <a:ext cx="152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4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读取 result.md</a:t>
            </a:r>
          </a:p>
          <a:p>
            <a:pPr marL="0" indent="0" algn="ctr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验证产物</a:t>
            </a:r>
          </a:p>
        </p:txBody>
      </p:sp>
      <p:cxnSp>
        <p:nvCxnSpPr>
          <p:cNvPr id="18" name="Connector 18"/>
          <p:cNvCxnSpPr/>
          <p:nvPr/>
        </p:nvCxnSpPr>
        <p:spPr>
          <a:xfrm rot="-114549">
            <a:off x="9271106" y="21145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9" name="AutoShape 19"/>
          <p:cNvSpPr/>
          <p:nvPr/>
        </p:nvSpPr>
        <p:spPr>
          <a:xfrm>
            <a:off x="9652000" y="1778000"/>
            <a:ext cx="1524000" cy="6985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652000" y="1778000"/>
            <a:ext cx="152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5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dispatch_cli_worker</a:t>
            </a:r>
          </a:p>
          <a:p>
            <a:pPr marL="0" indent="0" algn="ctr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Codex 生成报告</a:t>
            </a:r>
          </a:p>
        </p:txBody>
      </p:sp>
      <p:sp>
        <p:nvSpPr>
          <p:cNvPr id="21" name="AutoShape 21"/>
          <p:cNvSpPr/>
          <p:nvPr/>
        </p:nvSpPr>
        <p:spPr>
          <a:xfrm>
            <a:off x="4826000" y="2794000"/>
            <a:ext cx="2540000" cy="571500"/>
          </a:xfrm>
          <a:prstGeom prst="roundRect">
            <a:avLst>
              <a:gd name="adj" fmla="val 0"/>
            </a:avLst>
          </a:prstGeom>
          <a:solidFill>
            <a:srgbClr val="C930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4826000" y="2794000"/>
            <a:ext cx="254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6 · finish_task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写入 final/result.md</a:t>
            </a:r>
          </a:p>
        </p:txBody>
      </p:sp>
      <p:cxnSp>
        <p:nvCxnSpPr>
          <p:cNvPr id="23" name="Connector 23"/>
          <p:cNvCxnSpPr/>
          <p:nvPr/>
        </p:nvCxnSpPr>
        <p:spPr>
          <a:xfrm rot="5262563">
            <a:off x="5937250" y="2629027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302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4" name="AutoShape 24"/>
          <p:cNvSpPr/>
          <p:nvPr/>
        </p:nvSpPr>
        <p:spPr>
          <a:xfrm>
            <a:off x="1016000" y="3619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Plan 依赖关系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16000" y="4000500"/>
            <a:ext cx="4826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206500" y="4127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collect_A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：收集网页 A 资料（无依赖）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collect_B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：收集网页 B 资料（无依赖）</a:t>
            </a:r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Consolas"/>
                <a:ea typeface="Consolas"/>
                <a:cs typeface="Consolas"/>
                <a:sym typeface="Consolas"/>
              </a:rPr>
              <a:t>gen_report</a:t>
            </a: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：生成报告（依赖 A + B）</a:t>
            </a:r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A、B 并行执行，报告任务等待两者完成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350000" y="3619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文件交接路径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350000" y="4000500"/>
            <a:ext cx="4826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D2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540500" y="41275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Browser A → workers/A/artifacts/data_A.md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Browser B → workers/B/artifacts/data_B.md</a:t>
            </a:r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CLI Worker 读取两个产物 → 生成 report.md</a:t>
            </a:r>
          </a:p>
          <a:p>
            <a:pPr marL="0" indent="0" algn="l">
              <a:lnSpc>
                <a:spcPct val="141666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TeamLeader 检查真实文件 → final/result.md</a:t>
            </a:r>
          </a:p>
        </p:txBody>
      </p:sp>
      <p:sp>
        <p:nvSpPr>
          <p:cNvPr id="30" name="AutoShape 30"/>
          <p:cNvSpPr/>
          <p:nvPr/>
        </p:nvSpPr>
        <p:spPr>
          <a:xfrm>
            <a:off x="1016000" y="5461000"/>
            <a:ext cx="10160000" cy="10795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1270000" y="5588000"/>
            <a:ext cx="965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1" i="0" u="none" strike="noStrike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核心闭环：</a:t>
            </a:r>
            <a:r>
              <a:rPr lang="en-US" sz="13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TeamLeader 决定"接下来谁做什么" → Worker 在自己环境中真实完成 → 任务目录把结果交接出来 → TeamLeader 读取 result.md 验证 → 继续派发或 finish_task。Plan 只描述做什么和依赖谁，Worker 类型在真正派发时才选择。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326">
                <a:alpha val="100000"/>
              </a:srgbClr>
            </a:gs>
            <a:gs pos="100000">
              <a:srgbClr val="141E3C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核心总结与能力边界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8647">
            <a:off x="1016026" y="14541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778000"/>
            <a:ext cx="10160000" cy="1016000"/>
          </a:xfrm>
          <a:prstGeom prst="roundRect">
            <a:avLst>
              <a:gd name="adj" fmla="val 0"/>
            </a:avLst>
          </a:prstGeom>
          <a:solidFill>
            <a:srgbClr val="2563EB">
              <a:alpha val="15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1968500"/>
            <a:ext cx="965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1" i="0" u="none" strike="noStrike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一句话记住核心闭环：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TeamLeader 负责决定"接下来谁做什么"，Worker 负责在自己的环境中真实完成，任务目录负责把结果交接出来，Benchmark 负责证明结果是否真的成立。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111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已打通并验证的能力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492500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50000"/>
              </a:lnSpc>
              <a:buClr>
                <a:srgbClr val="DCE6F5"/>
              </a:buClr>
              <a:buChar char="•"/>
              <a:defRPr/>
            </a:pPr>
            <a:r>
              <a:rPr lang="en-US" sz="12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TeamLeader</a:t>
            </a:r>
            <a:r>
              <a:rPr lang="en-US" sz="12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原生</a:t>
            </a:r>
            <a:r>
              <a:rPr lang="en-US" sz="12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tool call React </a:t>
            </a:r>
            <a:r>
              <a:rPr lang="en-US" sz="1200" b="0" i="0" u="none" strike="noStrike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循环</a:t>
            </a:r>
            <a:endParaRPr lang="en-US" sz="1100"/>
          </a:p>
          <a:p>
            <a:pPr marL="152400" indent="-152400" algn="l">
              <a:lnSpc>
                <a:spcPct val="150000"/>
              </a:lnSpc>
              <a:buClr>
                <a:srgbClr val="DCE6F5"/>
              </a:buClr>
              <a:buChar char="•"/>
            </a:pPr>
            <a:r>
              <a:rPr lang="en-US" sz="12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单 Worker </a:t>
            </a:r>
            <a:r>
              <a:rPr lang="en-US" sz="12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和并行</a:t>
            </a:r>
            <a:r>
              <a:rPr lang="en-US" sz="12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Worker </a:t>
            </a:r>
            <a:r>
              <a:rPr lang="en-US" sz="12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派发</a:t>
            </a:r>
            <a:endParaRPr lang="en-US" sz="1200" b="0" i="0" u="none" strike="noStrike" dirty="0">
              <a:solidFill>
                <a:srgbClr val="DCE6F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50000"/>
              </a:lnSpc>
              <a:buClr>
                <a:srgbClr val="DCE6F5"/>
              </a:buClr>
              <a:buChar char="•"/>
            </a:pPr>
            <a:r>
              <a:rPr lang="en-US" sz="12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Plan </a:t>
            </a:r>
            <a:r>
              <a:rPr lang="en-US" sz="12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依赖管理和状态自动更新</a:t>
            </a:r>
            <a:endParaRPr lang="en-US" sz="1200" b="0" i="0" u="none" strike="noStrike" dirty="0">
              <a:solidFill>
                <a:srgbClr val="DCE6F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50000"/>
              </a:lnSpc>
              <a:buClr>
                <a:srgbClr val="DCE6F5"/>
              </a:buClr>
              <a:buChar char="•"/>
            </a:pPr>
            <a:r>
              <a:rPr lang="en-US" sz="12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Browser Worker </a:t>
            </a:r>
            <a:r>
              <a:rPr lang="en-US" sz="12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视觉循环、独立</a:t>
            </a:r>
            <a:r>
              <a:rPr lang="en-US" sz="12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profile、登录态继承、人工接管</a:t>
            </a:r>
            <a:endParaRPr lang="en-US" sz="1200" b="0" i="0" u="none" strike="noStrike" dirty="0">
              <a:solidFill>
                <a:srgbClr val="DCE6F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50000"/>
              </a:lnSpc>
              <a:buClr>
                <a:srgbClr val="DCE6F5"/>
              </a:buClr>
              <a:buChar char="•"/>
            </a:pPr>
            <a:r>
              <a:rPr lang="en-US" sz="12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Desktop Worker UFO2 Host/App </a:t>
            </a:r>
            <a:r>
              <a:rPr lang="en-US" sz="12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循环、命令执行、状态机</a:t>
            </a:r>
            <a:endParaRPr lang="en-US" sz="1200" b="0" i="0" u="none" strike="noStrike" dirty="0">
              <a:solidFill>
                <a:srgbClr val="DCE6F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50000"/>
              </a:lnSpc>
              <a:buClr>
                <a:srgbClr val="DCE6F5"/>
              </a:buClr>
              <a:buChar char="•"/>
            </a:pPr>
            <a:r>
              <a:rPr lang="en-US" sz="12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CLI Worker Codex JSONL </a:t>
            </a:r>
            <a:r>
              <a:rPr lang="en-US" sz="12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捕获、失败续作、session</a:t>
            </a:r>
            <a:r>
              <a:rPr lang="en-US" sz="12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resume</a:t>
            </a:r>
          </a:p>
          <a:p>
            <a:pPr marL="152400" indent="-152400" algn="l">
              <a:lnSpc>
                <a:spcPct val="150000"/>
              </a:lnSpc>
              <a:buClr>
                <a:srgbClr val="DCE6F5"/>
              </a:buClr>
              <a:buChar char="•"/>
            </a:pPr>
            <a:r>
              <a:rPr lang="en-US" sz="12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任务目录、Worker</a:t>
            </a:r>
            <a:r>
              <a:rPr lang="en-US" sz="12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交接文件、自然语言轨迹</a:t>
            </a:r>
            <a:endParaRPr lang="en-US" sz="1200" b="0" i="0" u="none" strike="noStrike" dirty="0">
              <a:solidFill>
                <a:srgbClr val="DCE6F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50000"/>
              </a:lnSpc>
              <a:buClr>
                <a:srgbClr val="DCE6F5"/>
              </a:buClr>
              <a:buChar char="•"/>
            </a:pPr>
            <a:r>
              <a:rPr lang="en-US" sz="12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Local-35 Benchmark 的 </a:t>
            </a:r>
            <a:r>
              <a:rPr lang="en-US" sz="12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manifest、reset、verifier、evaluator</a:t>
            </a:r>
            <a:endParaRPr lang="en-US" sz="1200" b="0" i="0" u="none" strike="noStrike" dirty="0">
              <a:solidFill>
                <a:srgbClr val="DCE6F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3111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B464"/>
                </a:solidFill>
                <a:latin typeface="Noto Sans SC"/>
                <a:ea typeface="Noto Sans SC"/>
                <a:cs typeface="Noto Sans SC"/>
                <a:sym typeface="Noto Sans SC"/>
              </a:rPr>
              <a:t>持续优化方向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3492500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50000"/>
              </a:lnSpc>
              <a:buClr>
                <a:srgbClr val="DCE6F5"/>
              </a:buClr>
              <a:buChar char="•"/>
              <a:defRPr/>
            </a:pPr>
            <a:r>
              <a:rPr lang="en-US" sz="12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Browser </a:t>
            </a:r>
            <a:r>
              <a:rPr lang="en-US" sz="12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工具选择、DOM</a:t>
            </a:r>
            <a:r>
              <a:rPr lang="en-US" sz="12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观察裁剪、失败恢复、完成判断</a:t>
            </a:r>
            <a:endParaRPr lang="en-US" sz="1100" dirty="0"/>
          </a:p>
          <a:p>
            <a:pPr marL="152400" indent="-152400" algn="l">
              <a:lnSpc>
                <a:spcPct val="150000"/>
              </a:lnSpc>
              <a:buClr>
                <a:srgbClr val="DCE6F5"/>
              </a:buClr>
              <a:buChar char="•"/>
            </a:pPr>
            <a:r>
              <a:rPr lang="en-US" sz="12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Desktop </a:t>
            </a:r>
            <a:r>
              <a:rPr lang="en-US" sz="12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动作后确认、控件定位、输入协议、多步骤恢复</a:t>
            </a:r>
            <a:endParaRPr lang="en-US" sz="1200" b="0" i="0" u="none" strike="noStrike" dirty="0">
              <a:solidFill>
                <a:srgbClr val="DCE6F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50000"/>
              </a:lnSpc>
              <a:buClr>
                <a:srgbClr val="DCE6F5"/>
              </a:buClr>
              <a:buChar char="•"/>
            </a:pPr>
            <a:r>
              <a:rPr lang="en-US" sz="12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跨 Worker </a:t>
            </a:r>
            <a:r>
              <a:rPr lang="en-US" sz="12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复杂任务拆解、文件交接、最终验收</a:t>
            </a:r>
            <a:endParaRPr lang="en-US" sz="1200" b="0" i="0" u="none" strike="noStrike" dirty="0">
              <a:solidFill>
                <a:srgbClr val="DCE6F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50000"/>
              </a:lnSpc>
              <a:buClr>
                <a:srgbClr val="DCE6F5"/>
              </a:buClr>
              <a:buChar char="•"/>
            </a:pPr>
            <a:r>
              <a:rPr lang="en-US" sz="12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用户示教和可复用语义工作流</a:t>
            </a:r>
            <a:endParaRPr lang="en-US" sz="1200" b="0" i="0" u="none" strike="noStrike" dirty="0">
              <a:solidFill>
                <a:srgbClr val="DCE6F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50000"/>
              </a:lnSpc>
              <a:buClr>
                <a:srgbClr val="DCE6F5"/>
              </a:buClr>
              <a:buChar char="•"/>
            </a:pPr>
            <a:r>
              <a:rPr lang="en-US" sz="12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第二版</a:t>
            </a:r>
            <a:r>
              <a:rPr lang="en-US" sz="1200" b="0" i="0" u="none" strike="noStrike" dirty="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 Benchmark </a:t>
            </a:r>
            <a:r>
              <a:rPr lang="en-US" sz="1200" b="0" i="0" u="none" strike="noStrike" dirty="0" err="1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驱动的通用机制优化</a:t>
            </a:r>
            <a:endParaRPr lang="en-US" sz="1200" b="0" i="0" u="none" strike="noStrike" dirty="0">
              <a:solidFill>
                <a:srgbClr val="DCE6F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609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A0C8"/>
                </a:solidFill>
                <a:latin typeface="Noto Sans SC"/>
                <a:ea typeface="Noto Sans SC"/>
                <a:cs typeface="Noto Sans SC"/>
                <a:sym typeface="Noto Sans SC"/>
              </a:rPr>
              <a:t>src/collab_agent · src/omniact_browser · src/omniact_desktop · benchmarks/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4686</Words>
  <Application>Microsoft Office PowerPoint</Application>
  <PresentationFormat>宽屏</PresentationFormat>
  <Paragraphs>499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Noto Sans SC</vt:lpstr>
      <vt:lpstr>Arial</vt:lpstr>
      <vt:lpstr>Consolas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Nariyuki WL_</cp:lastModifiedBy>
  <cp:revision>4</cp:revision>
  <dcterms:modified xsi:type="dcterms:W3CDTF">2026-10-08T08:48:04Z</dcterms:modified>
</cp:coreProperties>
</file>