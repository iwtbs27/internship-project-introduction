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8" r:id="rId2"/>
    <p:sldId id="272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81" autoAdjust="0"/>
  </p:normalViewPr>
  <p:slideViewPr>
    <p:cSldViewPr snapToGrid="0" snapToObjects="1">
      <p:cViewPr varScale="1">
        <p:scale>
          <a:sx n="103" d="100"/>
          <a:sy n="103" d="100"/>
        </p:scale>
        <p:origin x="1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设计上统一的是协作边界，不是每个生成后端内部怎么工作。数据侧用 Dataset、CaseItem 和 EvalConfig 描述题目及评测配置；执行侧把标准化的 PreparedCaseInput 交给 Runner，再收回 RunResult；评测侧围绕 CaseRun 返回 EvalResult；产物侧按题保存状态、日志、截图、评分和 workspace 引用。插件仍然可以保留自己的字段、原始输出和调试信息，所以接入新后端不需要先把它改造成相同的内部实现。这个边界原则来自《统一跑测平台教程》的“我的核心思路”。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当前本地链路从 Browser 表单开始，提交 RunCreateSpec 后由 FastAPI 接收请求，再经 RunRegistry 和 Popen 启动 CLI 运行过程。CLI 的入口把任务交给 Orchestrator，后者协调 Case Scheduler 和 Runner、Evaluator 注册表，最后把 Run、CaseRun 和 workspace 产物保存下来。这里说明的是本机 GUI 启动本机 CLI 的路径，重点是控制入口与实际执行过程如何衔接。《统一跑测平台底层实现全景教程》的“入口有两种：GUI 负责启动，CLI 负责跑完整个 Run”给出了这条边界。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Dataset 组织一组 CaseItem 和默认 EvalConfig：前者描述要做的任务及附件、标签等信息，后者说明使用什么 Evaluator、指标、Rubric 和参数。一次 Run 则记录这批实验所选的数据、评测配置、Runner、代码来源和批次状态。Run 会产生多个 CaseRun，每个 CaseRun 保存一道题的一次执行事实及 RunResult；同一个 CaseRun 还可以对应多个 CaseScore，分别记录不同评测配置下的分数和证据。这样题目、执行和评分不会挤在同一个对象里，关系与《统一跑测平台教程》的“核心领域模型”一致。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Runner 的共同接口把 CaseItem、PreparedCaseInput 和 RunContext 变成 RunResult。平台已有 demo、MetaGPT、增量 MetaGPT、Claude Code 和 Codex 等不同执行后端；例如 MetaGPT 路径会为每个 Case 使用 Python 子进程，Claude Code 和 Codex 路径会调用各自的外部 coding CLI。公共层只要求结果能回到统一链路，插件仍然可以保留原始输出和调试线索。于是同一 Dataset 和评分配置可以用于不同 Run，比较时主要切换的是生成后端。这一页对应《统一跑测平台教程》的“多 Runner 接入”和底层教程的 Runner 实现章节。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Runner 产出 CaseRun 和 RunResult 后，Evaluator 才开始判断质量。常见路径包括读取截图并按规则做 LLM 视觉判断、让浏览器 Agent 走一遍交互，以及用 cc_test 或 codex_test 检查功能断言；不同路径留下的证据也不同，例如截图解释、交互轨迹或测试日志。每份评测结果把分数和证据写入 CaseScore，所以“执行成功”不会自动变成“质量达标”，同一份产物也可以按 Case 再评估。这与《统一跑测平台教程》的“多 Evaluator 组合”相呼应。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Rubric 2.0 在教程中被描述为重构设计方案，不能当作已经全面上线的能力。目标流程是让 Planner 先理解自然语言 Rubric、补齐缺失条件，并按视觉、浏览器 Agent、功能测试等能力拆分和路由；各 Evaluator 返回局部分数与证据后，再由 Rubric 聚合。当前执行层仍主要使用文本 Rubric，每个 EvalConfig 配置单个 Evaluator。面试时把规划目标与已实现行为分开说，能避免把架构方向误讲成现状；依据是《统一跑测平台教程》的“Rubric 2.0”及底层教程的“当前实现和未来平台蓝图要分开看”。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这里的并发上限按 Run 内正在处理的 Case 链数量计算，而不是按操作系统进程数计算。示例上限是二：Case A 和 Case B 占住两个槽位，Case C 等待；每个槽位从 Runner 执行开始，覆盖必要的在线检查、Evaluator、结果持久化和清理，收尾后才释放。一个 Case 的多个 Evaluator 可以通过 asyncio.gather 并行，不同 Run 又各自管理并发上限。这个边界对应底层教程的“信号量限的是 Case 完整链路，不只是 Runner”。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每道题有独立的 CaseRun 和 workspace，因此 Case B 出错时，错误留在 B 的记录里，Case A 和 Case C 已经得到的结果仍然可以保留，其他题也继续执行。等被选中的 Case 全部收敛后，只要其中有一道失败，整批 Run 的汇总状态就会是 error；这个汇总状态不会抹掉逐题执行事实。这样既能从批次状态快速发现失败，也能回到具体题目检查产物与日志。这个关系来自底层教程的“失败语义是 Case 级联动”和《统一跑测平台教程》的“失败隔离”。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如果要重新生成应用，就 rerun：Runner 再执行一次并创建新的 CaseRun，旧评分会被清理，再围绕新结果记录本轮数据。如果只想换评测规则，就 reevaluate：跳过 Runner、复用已有 RunResult，只重跑选中的 Evaluator，更新相应 CaseScore，并保留其他分数。Run 级别的 EvalConfig 覆盖只影响当前这批结果，不会改 Dataset 的默认配置。这个区分对应《统一跑测平台教程》的“重跑、重评和评估覆盖”。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一键部署把历史 Run 保存的 workspace 重新启动起来，供人工检查生成界面或调试交互；平台针对 Vite、FuncSea 和增量生成项目提供不同启动方式。状态从 spawning 进入 live，再到 stopping，最终落到 stopped 或 error；sidecar 还提供本地 GUI 恢复入口。它处理的是查看历史产物这一件事，和 rerun 重新生成、reevaluate 重做判断属于不同操作。这里依据《统一跑测平台教程》的“一键部署”及“重新生成、重新评估和启动预览是不同操作”。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发起 Run 时可以指定分支或提交版本，CodeResolver 会把分支解析到确定的提交，并准备 detached worktree 和 code_dir。Runner 从这份固定代码来源执行，而每道 Case 再使用独立 workspace，避免题目之间共享执行现场。Run 会记录分支名、最终解析的提交和代码路径，因此回看结果时能知道这一批到底测了哪份代码。这个流程对应《统一跑测平台教程》的“分支跑测”和底层教程的“CodeRef 和工作区准备”。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Run 从 RunCreateSpec 进入：Orchestrator 装载并筛选 Dataset、EvalConfig 和 Case，固定可选代码来源，创建 Run 环境、workspace 和待执行的 CaseRun。每个 Case 获取本 Run 的并发槽位，准备标准输入后调用 Runner 得到 RunResult；若在线评测需要应用地址，就先准备临时应用，再让多个 Evaluator 并行执行。接着系统持久化 CaseRun、CaseScore、日志、截图和产物引用，完成清理并释放槽位。所有 Case 都结束后，Orchestrator 才汇总 Run 状态与评分。这页把底层教程“一个 Run 的完整端到端时序”压缩成面试时可以顺着讲的一条路径。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把全平台收束成一条链：Dataset 和 EvalConfig 固定题目与评测规则，Runner 可替换，CaseRun 保存每道题的执行结果，Evaluator 负责判断，CaseScore 留下分数和证据。这样的分层让团队能在同一题集上比较 Runner、按 Case 定位失败，并在已有产物上重评而不必重新生成。面试时可以用一句话概括：平台通过统一数据、执行、评测和产物边界，把生成、验证与复查连成可追踪的一次 Run。这个总结综合了《统一跑测平台教程》的核心思路和底层教程的完整 Run 生命周期。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统一跑测平台面试讲解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统一跑测平台面试讲解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设计原则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统一协作边界，保留后端差异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99068" y="508635"/>
              <a:ext cx="11894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CONTRACTS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114800" y="1619250"/>
            <a:ext cx="3962400" cy="713803"/>
            <a:chOff x="4114800" y="1619250"/>
            <a:chExt cx="3962400" cy="713803"/>
          </a:xfrm>
        </p:grpSpPr>
        <p:sp>
          <p:nvSpPr>
            <p:cNvPr id="7" name="Rectangle 7"/>
            <p:cNvSpPr/>
            <p:nvPr/>
          </p:nvSpPr>
          <p:spPr>
            <a:xfrm>
              <a:off x="4114800" y="1619250"/>
              <a:ext cx="3962400" cy="66675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25668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编排核心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89353" y="1951672"/>
              <a:ext cx="18132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Orchestrator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38325" y="2286000"/>
            <a:ext cx="8439150" cy="381000"/>
            <a:chOff x="1838325" y="2286000"/>
            <a:chExt cx="8439150" cy="381000"/>
          </a:xfrm>
        </p:grpSpPr>
        <p:sp>
          <p:nvSpPr>
            <p:cNvPr id="11" name="Line 11"/>
            <p:cNvSpPr/>
            <p:nvPr/>
          </p:nvSpPr>
          <p:spPr>
            <a:xfrm>
              <a:off x="1885950" y="2381250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2860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885950" y="2381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667250" y="2381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448550" y="2381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29850" y="2381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838325" y="2333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619625" y="2333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400925" y="2333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182225" y="2333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9600" y="2667000"/>
            <a:ext cx="2558034" cy="2457450"/>
            <a:chOff x="609600" y="2667000"/>
            <a:chExt cx="2558034" cy="2457450"/>
          </a:xfrm>
        </p:grpSpPr>
        <p:sp>
          <p:nvSpPr>
            <p:cNvPr id="22" name="Rectangle 22"/>
            <p:cNvSpPr/>
            <p:nvPr/>
          </p:nvSpPr>
          <p:spPr>
            <a:xfrm>
              <a:off x="609600" y="2667000"/>
              <a:ext cx="25527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667000"/>
              <a:ext cx="25527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29594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· 数据契约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056" y="3301365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Dataset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580" y="3667125"/>
              <a:ext cx="906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CaseItem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39690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题目、附件、标签与元数据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8200" y="42957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419600"/>
              <a:ext cx="1036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EvalConfig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4731068"/>
              <a:ext cx="2336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Evaluator、指标与评分规则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90900" y="2667000"/>
            <a:ext cx="2552700" cy="2457450"/>
            <a:chOff x="3390900" y="2667000"/>
            <a:chExt cx="2552700" cy="2457450"/>
          </a:xfrm>
        </p:grpSpPr>
        <p:sp>
          <p:nvSpPr>
            <p:cNvPr id="32" name="Rectangle 32"/>
            <p:cNvSpPr/>
            <p:nvPr/>
          </p:nvSpPr>
          <p:spPr>
            <a:xfrm>
              <a:off x="3390900" y="2667000"/>
              <a:ext cx="25527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90900" y="2667000"/>
              <a:ext cx="2552700" cy="571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12642" y="29594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· 执行契约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10356" y="3301365"/>
              <a:ext cx="82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Runner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2642" y="3759518"/>
              <a:ext cx="1684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PreparedCaseInput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619500" y="4095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12642" y="4283392"/>
              <a:ext cx="878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RunResult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2642" y="46453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同一输入与结果形状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172200" y="2667000"/>
            <a:ext cx="2552700" cy="2457450"/>
            <a:chOff x="6172200" y="2667000"/>
            <a:chExt cx="2552700" cy="2457450"/>
          </a:xfrm>
        </p:grpSpPr>
        <p:sp>
          <p:nvSpPr>
            <p:cNvPr id="41" name="Rectangle 41"/>
            <p:cNvSpPr/>
            <p:nvPr/>
          </p:nvSpPr>
          <p:spPr>
            <a:xfrm>
              <a:off x="6172200" y="2667000"/>
              <a:ext cx="25527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72200" y="2667000"/>
              <a:ext cx="2552700" cy="57150"/>
            </a:xfrm>
            <a:prstGeom prst="roundRect">
              <a:avLst>
                <a:gd name="adj" fmla="val 50000"/>
              </a:avLst>
            </a:prstGeom>
            <a:solidFill>
              <a:srgbClr val="C2871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3942" y="29594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· 评测契约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1656" y="3301365"/>
              <a:ext cx="1164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Evaluator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4704" y="3775710"/>
              <a:ext cx="16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CaseRun → EvalResult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400800" y="40957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93942" y="4283392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分数 + 证据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3942" y="4645342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Runner 完成后独立评估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953500" y="2667000"/>
            <a:ext cx="2552700" cy="2457450"/>
            <a:chOff x="8953500" y="2667000"/>
            <a:chExt cx="2552700" cy="2457450"/>
          </a:xfrm>
        </p:grpSpPr>
        <p:sp>
          <p:nvSpPr>
            <p:cNvPr id="50" name="Rectangle 50"/>
            <p:cNvSpPr/>
            <p:nvPr/>
          </p:nvSpPr>
          <p:spPr>
            <a:xfrm>
              <a:off x="8953500" y="2667000"/>
              <a:ext cx="25527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53500" y="2667000"/>
              <a:ext cx="25527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75242" y="29594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· 产物契约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72956" y="3301365"/>
              <a:ext cx="966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CaseRun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75242" y="3749992"/>
              <a:ext cx="143675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 · 日志 · 截图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 · workspace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9182100" y="43624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75242" y="4511992"/>
              <a:ext cx="18653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 Case 留下可追踪证据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便于复现与人工检查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381625"/>
            <a:ext cx="10972800" cy="514350"/>
            <a:chOff x="609600" y="5381625"/>
            <a:chExt cx="10972800" cy="514350"/>
          </a:xfrm>
        </p:grpSpPr>
        <p:sp>
          <p:nvSpPr>
            <p:cNvPr id="58" name="Rectangle 58"/>
            <p:cNvSpPr/>
            <p:nvPr/>
          </p:nvSpPr>
          <p:spPr>
            <a:xfrm>
              <a:off x="609600" y="5381625"/>
              <a:ext cx="10972800" cy="514350"/>
            </a:xfrm>
            <a:prstGeom prst="roundRect">
              <a:avLst>
                <a:gd name="adj" fmla="val 148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90575" y="5591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21080" y="554355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边界之外：插件可保留自己的字段、原始输出与调试信息。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603504" y="63665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把协作形状统一，才能让后端替换而不重写整条链路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617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spc="9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架构总览</a:t>
              </a:r>
              <a:endParaRPr lang="zh-CN" sz="1200" spc="9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570027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总体架构：</a:t>
              </a:r>
              <a:r>
                <a:rPr lang="en-US" altLang="zh-CN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Run </a:t>
              </a:r>
              <a:r>
                <a:rPr lang="zh-CN" altLang="en-US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串起执行与评测</a:t>
              </a:r>
              <a:endParaRPr lang="zh-CN" sz="315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44191" y="508635"/>
              <a:ext cx="14443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ARCHITECTURE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E7ADA1BB-A05F-B2C9-0893-18438A323C4E}"/>
              </a:ext>
            </a:extLst>
          </p:cNvPr>
          <p:cNvSpPr txBox="1"/>
          <p:nvPr/>
        </p:nvSpPr>
        <p:spPr>
          <a:xfrm>
            <a:off x="8348472" y="166420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40" b="1">
                <a:solidFill>
                  <a:srgbClr val="277BDC"/>
                </a:solidFill>
                <a:latin typeface="Consolas" panose="020B0609020204030204" pitchFamily="49" charset="0"/>
              </a:rPr>
              <a:t>01 / RUN SCOPE</a:t>
            </a:r>
            <a:endParaRPr lang="zh-CN" altLang="en-US" sz="1040" b="1">
              <a:solidFill>
                <a:srgbClr val="277BDC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AAE4B27-5837-AE15-4568-B154066AFFCD}"/>
              </a:ext>
            </a:extLst>
          </p:cNvPr>
          <p:cNvSpPr txBox="1"/>
          <p:nvPr/>
        </p:nvSpPr>
        <p:spPr>
          <a:xfrm>
            <a:off x="8348472" y="1920240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CLI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为每个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Run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建立独立调度器；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Semaphore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限制在途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Case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链数量，槽位覆盖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Runner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、评测与清理。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023564E1-20BA-3228-1040-0FCFF67E2AA3}"/>
              </a:ext>
            </a:extLst>
          </p:cNvPr>
          <p:cNvCxnSpPr/>
          <p:nvPr/>
        </p:nvCxnSpPr>
        <p:spPr>
          <a:xfrm>
            <a:off x="8348472" y="2770632"/>
            <a:ext cx="32278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02DED2E-0A24-BC02-F53E-28060B4CE6D8}"/>
              </a:ext>
            </a:extLst>
          </p:cNvPr>
          <p:cNvSpPr txBox="1"/>
          <p:nvPr/>
        </p:nvSpPr>
        <p:spPr>
          <a:xfrm>
            <a:off x="8348472" y="2907792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40" b="1">
                <a:solidFill>
                  <a:srgbClr val="277BDC"/>
                </a:solidFill>
                <a:latin typeface="Consolas" panose="020B0609020204030204" pitchFamily="49" charset="0"/>
              </a:rPr>
              <a:t>02 / RUNNER CONTRACT</a:t>
            </a:r>
            <a:endParaRPr lang="zh-CN" altLang="en-US" sz="1040" b="1">
              <a:solidFill>
                <a:srgbClr val="277BDC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82F598D-DEFA-A064-F31F-C909DA0A0852}"/>
              </a:ext>
            </a:extLst>
          </p:cNvPr>
          <p:cNvSpPr txBox="1"/>
          <p:nvPr/>
        </p:nvSpPr>
        <p:spPr>
          <a:xfrm>
            <a:off x="8348472" y="316382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各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Runner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共用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PreparedCaseInput / RunContext → RunResult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契约；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MG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CC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Codex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保留各自执行实现。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CABB60D-FFC0-FDE4-FE0E-089FF705D933}"/>
              </a:ext>
            </a:extLst>
          </p:cNvPr>
          <p:cNvCxnSpPr/>
          <p:nvPr/>
        </p:nvCxnSpPr>
        <p:spPr>
          <a:xfrm>
            <a:off x="8348472" y="4114800"/>
            <a:ext cx="32278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6B34FEAD-52FD-CC6A-E1AE-F4C8D19823BF}"/>
              </a:ext>
            </a:extLst>
          </p:cNvPr>
          <p:cNvSpPr txBox="1"/>
          <p:nvPr/>
        </p:nvSpPr>
        <p:spPr>
          <a:xfrm>
            <a:off x="8348472" y="426110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40" b="1">
                <a:solidFill>
                  <a:srgbClr val="277BDC"/>
                </a:solidFill>
                <a:latin typeface="Consolas" panose="020B0609020204030204" pitchFamily="49" charset="0"/>
              </a:rPr>
              <a:t>03 / EVIDENCE</a:t>
            </a:r>
            <a:endParaRPr lang="zh-CN" altLang="en-US" sz="1040" b="1">
              <a:solidFill>
                <a:srgbClr val="277BDC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10327E7-AE0C-7595-B093-794C051AF90E}"/>
              </a:ext>
            </a:extLst>
          </p:cNvPr>
          <p:cNvSpPr txBox="1"/>
          <p:nvPr/>
        </p:nvSpPr>
        <p:spPr>
          <a:xfrm>
            <a:off x="8348472" y="4517136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多个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Evaluator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可并发消费同一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CaseRun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；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CaseScore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分别保存分数与证据，日志、截图和 </a:t>
            </a:r>
            <a:r>
              <a:rPr lang="en-US" altLang="zh-CN" sz="1250">
                <a:solidFill>
                  <a:srgbClr val="697E93"/>
                </a:solidFill>
                <a:latin typeface="Arial" panose="020B0604020202020204" pitchFamily="34" charset="0"/>
              </a:rPr>
              <a:t>workspace </a:t>
            </a:r>
            <a:r>
              <a:rPr lang="zh-CN" altLang="en-US" sz="1250">
                <a:solidFill>
                  <a:srgbClr val="697E93"/>
                </a:solidFill>
                <a:latin typeface="Arial" panose="020B0604020202020204" pitchFamily="34" charset="0"/>
              </a:rPr>
              <a:t>可逐题回看。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37B8F0-D12B-FE2C-5C15-2AF21984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2" y="1333500"/>
            <a:ext cx="7614980" cy="538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4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领域模型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802212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Dataset 定义题目，Run 记录一次实验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44190" y="508635"/>
              <a:ext cx="14443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DOMAIN MODEL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828800"/>
            <a:ext cx="3086100" cy="3352800"/>
            <a:chOff x="609600" y="1828800"/>
            <a:chExt cx="3086100" cy="335280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3086100" cy="3352800"/>
            </a:xfrm>
            <a:prstGeom prst="roundRect">
              <a:avLst>
                <a:gd name="adj" fmla="val 308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828800"/>
              <a:ext cx="3086100" cy="66675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21307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题集与默认配置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41554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Dataset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27308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把任务与评测规则放在一起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3086100"/>
              <a:ext cx="26289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318" y="3222308"/>
              <a:ext cx="996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CaseItem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604" y="3528060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· 附件 · 标签 · 元数据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010025"/>
              <a:ext cx="26289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0318" y="4146232"/>
              <a:ext cx="1139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EvalConfig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604" y="4461510"/>
              <a:ext cx="20391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Evaluator · metric · rubric</a:t>
              </a:r>
              <a:br>
                <a:rPr dirty="0"/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字段映射与参数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924300" y="1828800"/>
            <a:ext cx="1885950" cy="3352800"/>
            <a:chOff x="3924300" y="1828800"/>
            <a:chExt cx="1885950" cy="3352800"/>
          </a:xfrm>
        </p:grpSpPr>
        <p:sp>
          <p:nvSpPr>
            <p:cNvPr id="19" name="Rectangle 19"/>
            <p:cNvSpPr/>
            <p:nvPr/>
          </p:nvSpPr>
          <p:spPr>
            <a:xfrm>
              <a:off x="3924300" y="1828800"/>
              <a:ext cx="1885950" cy="3352800"/>
            </a:xfrm>
            <a:prstGeom prst="roundRect">
              <a:avLst>
                <a:gd name="adj" fmla="val 505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924300" y="1828800"/>
              <a:ext cx="1885950" cy="66675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46042" y="21307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一次批量实验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3756" y="2453640"/>
              <a:ext cx="425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152900" y="284797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46042" y="3035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批次配置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6804" y="3356610"/>
              <a:ext cx="1452372" cy="472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Runner · EvalConfig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152900" y="3914775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46042" y="4102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批次状态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6804" y="44138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状态：排队、运行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46804" y="48329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一次实验的边界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8850" y="1828800"/>
            <a:ext cx="2647950" cy="3352800"/>
            <a:chOff x="6038850" y="1828800"/>
            <a:chExt cx="2647950" cy="3352800"/>
          </a:xfrm>
        </p:grpSpPr>
        <p:sp>
          <p:nvSpPr>
            <p:cNvPr id="31" name="Rectangle 31"/>
            <p:cNvSpPr/>
            <p:nvPr/>
          </p:nvSpPr>
          <p:spPr>
            <a:xfrm>
              <a:off x="6038850" y="1828800"/>
              <a:ext cx="2647950" cy="3352800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8850" y="1828800"/>
              <a:ext cx="2647950" cy="66675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60592" y="2130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一次题目执行事实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58306" y="2453640"/>
              <a:ext cx="966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CaseRun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67450" y="284797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60592" y="30356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 · 用时 · 成本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0592" y="3359468"/>
              <a:ext cx="87862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RunResult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61354" y="3661410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Runner 输出与错误信息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67450" y="39814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60592" y="4169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产物引用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61354" y="4471035"/>
              <a:ext cx="1757172" cy="51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日志 · 截图 · workspace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 Case 保留执行证据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15400" y="1828800"/>
            <a:ext cx="2667000" cy="3352800"/>
            <a:chOff x="8915400" y="1828800"/>
            <a:chExt cx="2667000" cy="3352800"/>
          </a:xfrm>
        </p:grpSpPr>
        <p:sp>
          <p:nvSpPr>
            <p:cNvPr id="43" name="Rectangle 43"/>
            <p:cNvSpPr/>
            <p:nvPr/>
          </p:nvSpPr>
          <p:spPr>
            <a:xfrm>
              <a:off x="8915400" y="1828800"/>
              <a:ext cx="2667000" cy="33528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15400" y="1828800"/>
              <a:ext cx="2667000" cy="66675"/>
            </a:xfrm>
            <a:prstGeom prst="roundRect">
              <a:avLst>
                <a:gd name="adj" fmla="val 42857"/>
              </a:avLst>
            </a:prstGeom>
            <a:solidFill>
              <a:srgbClr val="C2871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37142" y="21307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一个评测配置的一份结果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4856" y="2453640"/>
              <a:ext cx="1232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CaseScore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144000" y="2847975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37142" y="3035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7142" y="3359468"/>
              <a:ext cx="77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3661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截图、测试或解释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144000" y="39814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37142" y="41690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可独立重评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37904" y="4471035"/>
              <a:ext cx="2061972" cy="51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一条 CaseRun 可生成多份分数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对应不同 EvalConfig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33800" y="3676650"/>
            <a:ext cx="152400" cy="9525"/>
            <a:chOff x="3733800" y="3676650"/>
            <a:chExt cx="152400" cy="9525"/>
          </a:xfrm>
        </p:grpSpPr>
        <p:sp>
          <p:nvSpPr>
            <p:cNvPr id="55" name="Line 55"/>
            <p:cNvSpPr/>
            <p:nvPr/>
          </p:nvSpPr>
          <p:spPr>
            <a:xfrm>
              <a:off x="3733800" y="3676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5848350" y="3676650"/>
            <a:ext cx="152400" cy="9525"/>
            <a:chOff x="5848350" y="3676650"/>
            <a:chExt cx="152400" cy="9525"/>
          </a:xfrm>
        </p:grpSpPr>
        <p:sp>
          <p:nvSpPr>
            <p:cNvPr id="57" name="Line 57"/>
            <p:cNvSpPr/>
            <p:nvPr/>
          </p:nvSpPr>
          <p:spPr>
            <a:xfrm>
              <a:off x="5848350" y="3676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8724900" y="3676650"/>
            <a:ext cx="152400" cy="9525"/>
            <a:chOff x="8724900" y="3676650"/>
            <a:chExt cx="152400" cy="9525"/>
          </a:xfrm>
        </p:grpSpPr>
        <p:sp>
          <p:nvSpPr>
            <p:cNvPr id="59" name="Line 59"/>
            <p:cNvSpPr/>
            <p:nvPr/>
          </p:nvSpPr>
          <p:spPr>
            <a:xfrm>
              <a:off x="8724900" y="3676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02742" y="5569268"/>
            <a:ext cx="9932003" cy="264033"/>
            <a:chOff x="602742" y="5569268"/>
            <a:chExt cx="9932003" cy="264033"/>
          </a:xfrm>
        </p:grpSpPr>
        <p:sp>
          <p:nvSpPr>
            <p:cNvPr id="61" name="TextBox 61"/>
            <p:cNvSpPr txBox="1"/>
            <p:nvPr/>
          </p:nvSpPr>
          <p:spPr>
            <a:xfrm>
              <a:off x="602742" y="5569268"/>
              <a:ext cx="2108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选择 Dataset 与配置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17492" y="5569268"/>
              <a:ext cx="1880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产生多个 CaseRun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51292" y="5569268"/>
              <a:ext cx="2483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CaseRun 可有多个 CaseScore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65" name="TextBox 65"/>
            <p:cNvSpPr txBox="1"/>
            <p:nvPr/>
          </p:nvSpPr>
          <p:spPr>
            <a:xfrm>
              <a:off x="603504" y="6366510"/>
              <a:ext cx="4664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CaseRun 留下执行事实，CaseScore 留下可重复比较的评测证据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3E7F2996-1F24-6087-A3A6-A4651C9CA88B}"/>
              </a:ext>
            </a:extLst>
          </p:cNvPr>
          <p:cNvSpPr txBox="1"/>
          <p:nvPr/>
        </p:nvSpPr>
        <p:spPr>
          <a:xfrm>
            <a:off x="603504" y="5879592"/>
            <a:ext cx="10497312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80" dirty="0">
                <a:solidFill>
                  <a:srgbClr val="697E93"/>
                </a:solidFill>
                <a:latin typeface="Arial" panose="020B0604020202020204" pitchFamily="34" charset="0"/>
              </a:rPr>
              <a:t>.artifacts/results/&lt;</a:t>
            </a:r>
            <a:r>
              <a:rPr lang="en-US" altLang="zh-CN" sz="1080" dirty="0" err="1">
                <a:solidFill>
                  <a:srgbClr val="697E93"/>
                </a:solidFill>
                <a:latin typeface="Arial" panose="020B0604020202020204" pitchFamily="34" charset="0"/>
              </a:rPr>
              <a:t>run_id</a:t>
            </a:r>
            <a:r>
              <a:rPr lang="en-US" altLang="zh-CN" sz="1080" dirty="0">
                <a:solidFill>
                  <a:srgbClr val="697E93"/>
                </a:solidFill>
                <a:latin typeface="Arial" panose="020B0604020202020204" pitchFamily="34" charset="0"/>
              </a:rPr>
              <a:t>&gt;/ </a:t>
            </a:r>
            <a:r>
              <a:rPr lang="zh-CN" altLang="en-US" sz="1080" dirty="0">
                <a:solidFill>
                  <a:srgbClr val="697E93"/>
                </a:solidFill>
                <a:latin typeface="Arial" panose="020B0604020202020204" pitchFamily="34" charset="0"/>
              </a:rPr>
              <a:t>保存汇总、评分与截图；</a:t>
            </a:r>
            <a:r>
              <a:rPr lang="en-US" altLang="zh-CN" sz="1080" dirty="0">
                <a:solidFill>
                  <a:srgbClr val="697E93"/>
                </a:solidFill>
                <a:latin typeface="Arial" panose="020B0604020202020204" pitchFamily="34" charset="0"/>
              </a:rPr>
              <a:t>.artifacts/workspace/&lt;</a:t>
            </a:r>
            <a:r>
              <a:rPr lang="en-US" altLang="zh-CN" sz="1080" dirty="0" err="1">
                <a:solidFill>
                  <a:srgbClr val="697E93"/>
                </a:solidFill>
                <a:latin typeface="Arial" panose="020B0604020202020204" pitchFamily="34" charset="0"/>
              </a:rPr>
              <a:t>run_id</a:t>
            </a:r>
            <a:r>
              <a:rPr lang="en-US" altLang="zh-CN" sz="1080" dirty="0">
                <a:solidFill>
                  <a:srgbClr val="697E93"/>
                </a:solidFill>
                <a:latin typeface="Arial" panose="020B0604020202020204" pitchFamily="34" charset="0"/>
              </a:rPr>
              <a:t>&gt;/&lt;</a:t>
            </a:r>
            <a:r>
              <a:rPr lang="en-US" altLang="zh-CN" sz="1080" dirty="0" err="1">
                <a:solidFill>
                  <a:srgbClr val="697E93"/>
                </a:solidFill>
                <a:latin typeface="Arial" panose="020B0604020202020204" pitchFamily="34" charset="0"/>
              </a:rPr>
              <a:t>case_id</a:t>
            </a:r>
            <a:r>
              <a:rPr lang="en-US" altLang="zh-CN" sz="1080" dirty="0">
                <a:solidFill>
                  <a:srgbClr val="697E93"/>
                </a:solidFill>
                <a:latin typeface="Arial" panose="020B0604020202020204" pitchFamily="34" charset="0"/>
              </a:rPr>
              <a:t>&gt;/ </a:t>
            </a:r>
            <a:r>
              <a:rPr lang="zh-CN" altLang="en-US" sz="1080" dirty="0">
                <a:solidFill>
                  <a:srgbClr val="697E93"/>
                </a:solidFill>
                <a:latin typeface="Arial" panose="020B0604020202020204" pitchFamily="34" charset="0"/>
              </a:rPr>
              <a:t>保留单题运行现场。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1389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可替换的生成后端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802212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Runner：不同后端，共用单 Case 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53946" y="508635"/>
              <a:ext cx="93455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RUNNER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57350"/>
            <a:ext cx="10972800" cy="723900"/>
            <a:chOff x="609600" y="1657350"/>
            <a:chExt cx="10972800" cy="723900"/>
          </a:xfrm>
        </p:grpSpPr>
        <p:sp>
          <p:nvSpPr>
            <p:cNvPr id="7" name="Rectangle 7"/>
            <p:cNvSpPr/>
            <p:nvPr/>
          </p:nvSpPr>
          <p:spPr>
            <a:xfrm>
              <a:off x="609600" y="1657350"/>
              <a:ext cx="10972800" cy="723900"/>
            </a:xfrm>
            <a:prstGeom prst="roundRect">
              <a:avLst>
                <a:gd name="adj" fmla="val 1315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104" y="1823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共同输入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083118"/>
              <a:ext cx="3919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CaseItem + PreparedCaseInput + RunContext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953250" y="179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6171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1004" y="1823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共同输出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69480" y="2066925"/>
              <a:ext cx="9762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RunResult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62100" y="2457450"/>
            <a:ext cx="9067800" cy="304800"/>
            <a:chOff x="1562100" y="2457450"/>
            <a:chExt cx="9067800" cy="304800"/>
          </a:xfrm>
        </p:grpSpPr>
        <p:sp>
          <p:nvSpPr>
            <p:cNvPr id="14" name="Line 14"/>
            <p:cNvSpPr/>
            <p:nvPr/>
          </p:nvSpPr>
          <p:spPr>
            <a:xfrm>
              <a:off x="1600200" y="2495550"/>
              <a:ext cx="8991600" cy="9525"/>
            </a:xfrm>
            <a:custGeom>
              <a:avLst/>
              <a:gdLst/>
              <a:ahLst/>
              <a:cxnLst/>
              <a:rect l="l" t="t" r="r" b="b"/>
              <a:pathLst>
                <a:path w="8991600" h="9525">
                  <a:moveTo>
                    <a:pt x="0" y="0"/>
                  </a:moveTo>
                  <a:lnTo>
                    <a:pt x="8991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600200" y="24955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848100" y="24955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24955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343900" y="24955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591800" y="24955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562100" y="2457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810000" y="2457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057900" y="2457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305800" y="2457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553700" y="24574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2762250"/>
            <a:ext cx="1981200" cy="1790700"/>
            <a:chOff x="609600" y="2762250"/>
            <a:chExt cx="1981200" cy="1790700"/>
          </a:xfrm>
        </p:grpSpPr>
        <p:sp>
          <p:nvSpPr>
            <p:cNvPr id="26" name="Rectangle 26"/>
            <p:cNvSpPr/>
            <p:nvPr/>
          </p:nvSpPr>
          <p:spPr>
            <a:xfrm>
              <a:off x="609600" y="2762250"/>
              <a:ext cx="1981200" cy="17907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3242" y="297846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demo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33366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演示后端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623" y="37199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快速验证执行链路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00100" y="4076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004" y="4223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插件可保留私有输出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857500" y="2762250"/>
            <a:ext cx="1981200" cy="1790700"/>
            <a:chOff x="2857500" y="2762250"/>
            <a:chExt cx="1981200" cy="1790700"/>
          </a:xfrm>
        </p:grpSpPr>
        <p:sp>
          <p:nvSpPr>
            <p:cNvPr id="33" name="Rectangle 33"/>
            <p:cNvSpPr/>
            <p:nvPr/>
          </p:nvSpPr>
          <p:spPr>
            <a:xfrm>
              <a:off x="2857500" y="2762250"/>
              <a:ext cx="1981200" cy="17907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41142" y="2978468"/>
              <a:ext cx="249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39618" y="3336608"/>
              <a:ext cx="945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MetaGPT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41523" y="3719989"/>
              <a:ext cx="1725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Case 使用子进程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048000" y="4076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41904" y="4223385"/>
              <a:ext cx="1647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封装成标准 RunResult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105400" y="2762250"/>
            <a:ext cx="1981200" cy="1790700"/>
            <a:chOff x="5105400" y="2762250"/>
            <a:chExt cx="1981200" cy="1790700"/>
          </a:xfrm>
        </p:grpSpPr>
        <p:sp>
          <p:nvSpPr>
            <p:cNvPr id="40" name="Rectangle 40"/>
            <p:cNvSpPr/>
            <p:nvPr/>
          </p:nvSpPr>
          <p:spPr>
            <a:xfrm>
              <a:off x="5105400" y="2762250"/>
              <a:ext cx="1981200" cy="17907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9042" y="2978468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mg_incremental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87518" y="33366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增量生成路径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89423" y="3719989"/>
              <a:ext cx="1387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Runner 实现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295900" y="4076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9804" y="42233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题集与评分配置可复用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353300" y="2762250"/>
            <a:ext cx="1981200" cy="1790700"/>
            <a:chOff x="7353300" y="2762250"/>
            <a:chExt cx="1981200" cy="1790700"/>
          </a:xfrm>
        </p:grpSpPr>
        <p:sp>
          <p:nvSpPr>
            <p:cNvPr id="47" name="Rectangle 47"/>
            <p:cNvSpPr/>
            <p:nvPr/>
          </p:nvSpPr>
          <p:spPr>
            <a:xfrm>
              <a:off x="7353300" y="2762250"/>
              <a:ext cx="1981200" cy="17907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36942" y="29784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35418" y="3336608"/>
              <a:ext cx="1263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 Code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37323" y="3719989"/>
              <a:ext cx="1601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调用外部 coding CLI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543800" y="4076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37704" y="4223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实现细节留在插件内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01200" y="2762250"/>
            <a:ext cx="1981200" cy="1790700"/>
            <a:chOff x="9601200" y="2762250"/>
            <a:chExt cx="1981200" cy="1790700"/>
          </a:xfrm>
        </p:grpSpPr>
        <p:sp>
          <p:nvSpPr>
            <p:cNvPr id="54" name="Rectangle 54"/>
            <p:cNvSpPr/>
            <p:nvPr/>
          </p:nvSpPr>
          <p:spPr>
            <a:xfrm>
              <a:off x="9601200" y="2762250"/>
              <a:ext cx="1981200" cy="1790700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84842" y="29784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codex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83318" y="3336608"/>
              <a:ext cx="10331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Codex CLI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85223" y="3719989"/>
              <a:ext cx="1601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调用外部 coding CLI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791700" y="4076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85604" y="4223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执行后回到统一链路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4914900"/>
            <a:ext cx="11049000" cy="800481"/>
            <a:chOff x="571500" y="4914900"/>
            <a:chExt cx="11049000" cy="800481"/>
          </a:xfrm>
        </p:grpSpPr>
        <p:sp>
          <p:nvSpPr>
            <p:cNvPr id="61" name="Line 61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571500" y="49149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1544300" y="49149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1218" y="5165408"/>
              <a:ext cx="67496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 Dataset 可切换不同 Runner；比较时，变化的是生成后端。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3504" y="5480685"/>
              <a:ext cx="6040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Runner 仍保留自己的原始输出与调试线索，公共层保存可协作的 RunResult。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603504" y="6366510"/>
              <a:ext cx="3387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Runner 决定“怎么生成”，不替代后续质量评估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生成之后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81514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Evaluator：完成执行后，还要证明质量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4108" y="508635"/>
              <a:ext cx="12743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EVALUATION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57350"/>
            <a:ext cx="10972800" cy="668465"/>
            <a:chOff x="609600" y="1657350"/>
            <a:chExt cx="10972800" cy="668465"/>
          </a:xfrm>
        </p:grpSpPr>
        <p:sp>
          <p:nvSpPr>
            <p:cNvPr id="7" name="Rectangle 7"/>
            <p:cNvSpPr/>
            <p:nvPr/>
          </p:nvSpPr>
          <p:spPr>
            <a:xfrm>
              <a:off x="609600" y="1657350"/>
              <a:ext cx="10972800" cy="628650"/>
            </a:xfrm>
            <a:prstGeom prst="roundRect">
              <a:avLst>
                <a:gd name="adj" fmla="val 1515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104" y="1784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评测输入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818" y="2003108"/>
              <a:ext cx="41009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CaseRun + RunResult + 本次 EvalConfig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8942" y="19197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同一产物，可由不同评测配置重新判断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47900" y="2286000"/>
            <a:ext cx="7696200" cy="552450"/>
            <a:chOff x="2247900" y="2286000"/>
            <a:chExt cx="7696200" cy="552450"/>
          </a:xfrm>
        </p:grpSpPr>
        <p:sp>
          <p:nvSpPr>
            <p:cNvPr id="12" name="Line 12"/>
            <p:cNvSpPr/>
            <p:nvPr/>
          </p:nvSpPr>
          <p:spPr>
            <a:xfrm>
              <a:off x="6096000" y="22860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286000" y="25336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286000" y="25336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25336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906000" y="25336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2479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0579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8679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9600" y="2838450"/>
            <a:ext cx="3352800" cy="1772031"/>
            <a:chOff x="609600" y="2838450"/>
            <a:chExt cx="3352800" cy="1772031"/>
          </a:xfrm>
        </p:grpSpPr>
        <p:sp>
          <p:nvSpPr>
            <p:cNvPr id="21" name="Rectangle 21"/>
            <p:cNvSpPr/>
            <p:nvPr/>
          </p:nvSpPr>
          <p:spPr>
            <a:xfrm>
              <a:off x="609600" y="2838450"/>
              <a:ext cx="3352800" cy="173355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3045142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路径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056" y="3368040"/>
              <a:ext cx="15928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视觉评测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342" y="37690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读取应用截图与评分规则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1342" y="4045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判断页面呈现并给出理由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38200" y="43243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2104" y="437578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证据：截图 + 解释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19600" y="2838450"/>
            <a:ext cx="3352800" cy="1772031"/>
            <a:chOff x="4419600" y="2838450"/>
            <a:chExt cx="3352800" cy="1772031"/>
          </a:xfrm>
        </p:grpSpPr>
        <p:sp>
          <p:nvSpPr>
            <p:cNvPr id="29" name="Rectangle 29"/>
            <p:cNvSpPr/>
            <p:nvPr/>
          </p:nvSpPr>
          <p:spPr>
            <a:xfrm>
              <a:off x="4419600" y="2838450"/>
              <a:ext cx="3352800" cy="173355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1342" y="3045142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路径 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9056" y="3368040"/>
              <a:ext cx="1991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浏览器交互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1342" y="37690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按任务步骤操作生成应用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41342" y="4045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检查关键交互是否完成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648200" y="43243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42104" y="43757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证据：操作轨迹与结果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29600" y="2838450"/>
            <a:ext cx="3352800" cy="1772031"/>
            <a:chOff x="8229600" y="2838450"/>
            <a:chExt cx="3352800" cy="1772031"/>
          </a:xfrm>
        </p:grpSpPr>
        <p:sp>
          <p:nvSpPr>
            <p:cNvPr id="37" name="Rectangle 37"/>
            <p:cNvSpPr/>
            <p:nvPr/>
          </p:nvSpPr>
          <p:spPr>
            <a:xfrm>
              <a:off x="8229600" y="2838450"/>
              <a:ext cx="3352800" cy="1733550"/>
            </a:xfrm>
            <a:prstGeom prst="roundRect">
              <a:avLst>
                <a:gd name="adj" fmla="val 54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51342" y="3045142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路径 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9056" y="3368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功能测试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51342" y="3769042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cc_test / codex_test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1342" y="4045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按功能断言验证应用行为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458200" y="43243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2104" y="437578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证据：断言结果与日志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286000" y="4572000"/>
            <a:ext cx="7629525" cy="361950"/>
            <a:chOff x="2286000" y="4572000"/>
            <a:chExt cx="7629525" cy="361950"/>
          </a:xfrm>
        </p:grpSpPr>
        <p:sp>
          <p:nvSpPr>
            <p:cNvPr id="45" name="Line 45"/>
            <p:cNvSpPr/>
            <p:nvPr/>
          </p:nvSpPr>
          <p:spPr>
            <a:xfrm>
              <a:off x="2286000" y="457200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096000" y="457200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906000" y="457200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2286000" y="4733925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096000" y="4733925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09600" y="4933950"/>
            <a:ext cx="10972800" cy="741712"/>
            <a:chOff x="609600" y="4933950"/>
            <a:chExt cx="10972800" cy="741712"/>
          </a:xfrm>
        </p:grpSpPr>
        <p:sp>
          <p:nvSpPr>
            <p:cNvPr id="51" name="Rectangle 51"/>
            <p:cNvSpPr/>
            <p:nvPr/>
          </p:nvSpPr>
          <p:spPr>
            <a:xfrm>
              <a:off x="609600" y="4933950"/>
              <a:ext cx="10972800" cy="723900"/>
            </a:xfrm>
            <a:prstGeom prst="roundRect">
              <a:avLst>
                <a:gd name="adj" fmla="val 13158"/>
              </a:avLst>
            </a:prstGeom>
            <a:solidFill>
              <a:srgbClr val="EAF5F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1723" y="5101114"/>
              <a:ext cx="12779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写回 CaseScore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437" y="5338286"/>
              <a:ext cx="64684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每份结果保留分数与证据；Runner 成功本身不代表质量达标。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86950" y="5252085"/>
              <a:ext cx="1453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可按 Case 独立重评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603504" y="636651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执行结果回答“跑出了什么”，评测结果回答“满足了什么”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1389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规划中的评测编排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6153929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Rubric：先定义意图，再选择能力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4108" y="508635"/>
              <a:ext cx="12743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RUBRIC 2.0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2324100"/>
            <a:ext cx="2552700" cy="2095500"/>
            <a:chOff x="609600" y="2324100"/>
            <a:chExt cx="2552700" cy="2095500"/>
          </a:xfrm>
        </p:grpSpPr>
        <p:sp>
          <p:nvSpPr>
            <p:cNvPr id="11" name="Rectangle 11"/>
            <p:cNvSpPr/>
            <p:nvPr/>
          </p:nvSpPr>
          <p:spPr>
            <a:xfrm>
              <a:off x="609600" y="2324100"/>
              <a:ext cx="25527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723" y="2529364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· 输入意图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056" y="2901315"/>
              <a:ext cx="18161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自然语言 Rubric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38200" y="33051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3511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描述目标与质量要求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342" y="3816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明确要观察的结果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90900" y="2324100"/>
            <a:ext cx="2552700" cy="2095500"/>
            <a:chOff x="3390900" y="2324100"/>
            <a:chExt cx="25527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3390900" y="2324100"/>
              <a:ext cx="25527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13023" y="2529364"/>
              <a:ext cx="1029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· Planner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0356" y="29013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补齐并拆解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619500" y="33051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12642" y="3511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追问缺失条件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2642" y="3816668"/>
              <a:ext cx="1728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按能力拆成子 Rubric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72200" y="2324100"/>
            <a:ext cx="2552700" cy="2095500"/>
            <a:chOff x="6172200" y="2324100"/>
            <a:chExt cx="25527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172200" y="2324100"/>
              <a:ext cx="25527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4323" y="2529364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· 能力路由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1656" y="2901315"/>
              <a:ext cx="1725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Evaluator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400800" y="33051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93942" y="3511868"/>
              <a:ext cx="1704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视觉 · 浏览器 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3942" y="3816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功能测试等执行能力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53500" y="2324100"/>
            <a:ext cx="2552700" cy="2095500"/>
            <a:chOff x="8953500" y="2324100"/>
            <a:chExt cx="2552700" cy="2095500"/>
          </a:xfrm>
        </p:grpSpPr>
        <p:sp>
          <p:nvSpPr>
            <p:cNvPr id="32" name="Rectangle 32"/>
            <p:cNvSpPr/>
            <p:nvPr/>
          </p:nvSpPr>
          <p:spPr>
            <a:xfrm>
              <a:off x="8953500" y="2324100"/>
              <a:ext cx="25527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5623" y="2529364"/>
              <a:ext cx="745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· 聚合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72956" y="29013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汇总证据与分数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182100" y="33051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5242" y="3511868"/>
              <a:ext cx="2263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各 Evaluator 返回局部结果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75242" y="3816668"/>
              <a:ext cx="1912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Rubric 再形成综合判断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200400" y="3305175"/>
            <a:ext cx="152400" cy="9525"/>
            <a:chOff x="3200400" y="3305175"/>
            <a:chExt cx="152400" cy="9525"/>
          </a:xfrm>
        </p:grpSpPr>
        <p:sp>
          <p:nvSpPr>
            <p:cNvPr id="39" name="Line 39"/>
            <p:cNvSpPr/>
            <p:nvPr/>
          </p:nvSpPr>
          <p:spPr>
            <a:xfrm>
              <a:off x="3200400" y="33051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981700" y="3305175"/>
            <a:ext cx="152400" cy="9525"/>
            <a:chOff x="5981700" y="3305175"/>
            <a:chExt cx="152400" cy="9525"/>
          </a:xfrm>
        </p:grpSpPr>
        <p:sp>
          <p:nvSpPr>
            <p:cNvPr id="41" name="Line 41"/>
            <p:cNvSpPr/>
            <p:nvPr/>
          </p:nvSpPr>
          <p:spPr>
            <a:xfrm>
              <a:off x="5981700" y="33051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8763000" y="3305175"/>
            <a:ext cx="152400" cy="9525"/>
            <a:chOff x="8763000" y="3305175"/>
            <a:chExt cx="152400" cy="9525"/>
          </a:xfrm>
        </p:grpSpPr>
        <p:sp>
          <p:nvSpPr>
            <p:cNvPr id="43" name="Line 43"/>
            <p:cNvSpPr/>
            <p:nvPr/>
          </p:nvSpPr>
          <p:spPr>
            <a:xfrm>
              <a:off x="8763000" y="33051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603504" y="6366510"/>
              <a:ext cx="4874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规划把“评什么”转成可路由的能力组合，现状仍以单评测器配置为主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调度边界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5602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并发槽位覆盖整条 Case 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29150" y="508635"/>
              <a:ext cx="13593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CONCURRENCY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657350"/>
            <a:ext cx="7239000" cy="3810000"/>
            <a:chOff x="609600" y="1657350"/>
            <a:chExt cx="7239000" cy="3810000"/>
          </a:xfrm>
        </p:grpSpPr>
        <p:sp>
          <p:nvSpPr>
            <p:cNvPr id="7" name="Rectangle 7"/>
            <p:cNvSpPr/>
            <p:nvPr/>
          </p:nvSpPr>
          <p:spPr>
            <a:xfrm>
              <a:off x="609600" y="1657350"/>
              <a:ext cx="7239000" cy="609600"/>
            </a:xfrm>
            <a:prstGeom prst="roundRect">
              <a:avLst>
                <a:gd name="adj" fmla="val 1562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104" y="1794510"/>
              <a:ext cx="2246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每个 Run 各自持有 Semaphore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437" y="1995011"/>
              <a:ext cx="29880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示例并发上限：2 个 Case 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457450"/>
              <a:ext cx="7239000" cy="914400"/>
            </a:xfrm>
            <a:prstGeom prst="roundRect">
              <a:avLst>
                <a:gd name="adj" fmla="val 10417"/>
              </a:avLst>
            </a:prstGeom>
            <a:solidFill>
              <a:srgbClr val="EAF5F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19150" y="2667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4806" y="2615565"/>
              <a:ext cx="2830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槽位 1 · Case A 正在执行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026092"/>
              <a:ext cx="3968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Runner → 在线检查 → Evaluator → 持久化 → 清理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505200"/>
              <a:ext cx="7239000" cy="914400"/>
            </a:xfrm>
            <a:prstGeom prst="roundRect">
              <a:avLst>
                <a:gd name="adj" fmla="val 10417"/>
              </a:avLst>
            </a:prstGeom>
            <a:solidFill>
              <a:srgbClr val="EAF5F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19150" y="37147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806" y="3663315"/>
              <a:ext cx="2830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槽位 2 · Case B 正在执行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4073842"/>
              <a:ext cx="2557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整条 Case 链都占用同一个槽位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4552950"/>
              <a:ext cx="723900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19150" y="4762500"/>
              <a:ext cx="152400" cy="152400"/>
            </a:xfrm>
            <a:prstGeom prst="ellipse">
              <a:avLst/>
            </a:prstGeom>
            <a:solidFill>
              <a:srgbClr val="C287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14806" y="4711065"/>
              <a:ext cx="2335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C 等待空闲槽位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342" y="5121592"/>
              <a:ext cx="324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或 B 完成清理并释放后，C 才能进入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15300" y="1657350"/>
            <a:ext cx="3467100" cy="3943350"/>
            <a:chOff x="8115300" y="1657350"/>
            <a:chExt cx="3467100" cy="3943350"/>
          </a:xfrm>
        </p:grpSpPr>
        <p:sp>
          <p:nvSpPr>
            <p:cNvPr id="23" name="Rectangle 23"/>
            <p:cNvSpPr/>
            <p:nvPr/>
          </p:nvSpPr>
          <p:spPr>
            <a:xfrm>
              <a:off x="8115300" y="1657350"/>
              <a:ext cx="3467100" cy="3943350"/>
            </a:xfrm>
            <a:prstGeom prst="roundRect">
              <a:avLst>
                <a:gd name="adj" fmla="val 2747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73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读并发时，分清三个层次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0" y="22098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4380" y="2419350"/>
              <a:ext cx="1727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Run 的 Semaphore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5523" y="2738914"/>
              <a:ext cx="1900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限制在途 Case 链数量，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523" y="29865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不是操作系统进程总数。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382000" y="3314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4380" y="3505200"/>
              <a:ext cx="14077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 Case 内部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523" y="3824764"/>
              <a:ext cx="1625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多个 Evaluator 可用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5523" y="4072414"/>
              <a:ext cx="186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asyncio.gather 并行。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382000" y="44005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74380" y="4591050"/>
              <a:ext cx="1301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 Run 之间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5523" y="4910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并发槽位互相独立。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904" y="5223510"/>
              <a:ext cx="1732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Case 链包含执行与收尾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03504" y="6366510"/>
              <a:ext cx="4894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理解单位是 Case 的整段生命周期，而不是单个子进程或单个评测器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7820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Case 隔离，让故障留在自己的边界内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99068" y="508635"/>
              <a:ext cx="118942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ISOLATION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924050"/>
            <a:ext cx="3352800" cy="2457450"/>
            <a:chOff x="609600" y="1924050"/>
            <a:chExt cx="3352800" cy="2457450"/>
          </a:xfrm>
        </p:grpSpPr>
        <p:sp>
          <p:nvSpPr>
            <p:cNvPr id="7" name="Rectangle 7"/>
            <p:cNvSpPr/>
            <p:nvPr/>
          </p:nvSpPr>
          <p:spPr>
            <a:xfrm>
              <a:off x="609600" y="1924050"/>
              <a:ext cx="33528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92405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168C7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2187892"/>
              <a:ext cx="100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Case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5393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314700" y="2514600"/>
              <a:ext cx="152400" cy="152400"/>
            </a:xfrm>
            <a:prstGeom prst="ellipse">
              <a:avLst/>
            </a:prstGeom>
            <a:solidFill>
              <a:srgbClr val="168C7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838200" y="292417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342" y="3130868"/>
              <a:ext cx="1334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自己的 CaseRun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723" y="34437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状态、输出与评分单独保存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723" y="3815239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产物指向独立 workspace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19600" y="1924050"/>
            <a:ext cx="3352800" cy="2457450"/>
            <a:chOff x="4419600" y="1924050"/>
            <a:chExt cx="3352800" cy="2457450"/>
          </a:xfrm>
        </p:grpSpPr>
        <p:sp>
          <p:nvSpPr>
            <p:cNvPr id="17" name="Rectangle 17"/>
            <p:cNvSpPr/>
            <p:nvPr/>
          </p:nvSpPr>
          <p:spPr>
            <a:xfrm>
              <a:off x="4419600" y="1924050"/>
              <a:ext cx="33528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19600" y="192405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C54C4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41342" y="2187892"/>
              <a:ext cx="100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Case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9056" y="25393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54C4C"/>
                  </a:solidFill>
                  <a:latin typeface="+mn-lt"/>
                  <a:ea typeface="+mn-ea"/>
                  <a:cs typeface="+mn-cs"/>
                </a:rPr>
                <a:t>执行失败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24700" y="2514600"/>
              <a:ext cx="152400" cy="152400"/>
            </a:xfrm>
            <a:prstGeom prst="ellipse">
              <a:avLst/>
            </a:prstGeom>
            <a:solidFill>
              <a:srgbClr val="C54C4C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48200" y="292417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41342" y="3130868"/>
              <a:ext cx="1518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错误附在 CaseRun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1723" y="34437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保留本题状态与调试线索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1723" y="3815239"/>
              <a:ext cx="17255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其他 Case 仍继续执行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29600" y="1924050"/>
            <a:ext cx="3352800" cy="2457450"/>
            <a:chOff x="8229600" y="1924050"/>
            <a:chExt cx="3352800" cy="2457450"/>
          </a:xfrm>
        </p:grpSpPr>
        <p:sp>
          <p:nvSpPr>
            <p:cNvPr id="27" name="Rectangle 27"/>
            <p:cNvSpPr/>
            <p:nvPr/>
          </p:nvSpPr>
          <p:spPr>
            <a:xfrm>
              <a:off x="8229600" y="1924050"/>
              <a:ext cx="3352800" cy="2457450"/>
            </a:xfrm>
            <a:prstGeom prst="roundRect">
              <a:avLst>
                <a:gd name="adj" fmla="val 387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29600" y="1924050"/>
              <a:ext cx="3352800" cy="57150"/>
            </a:xfrm>
            <a:prstGeom prst="roundRect">
              <a:avLst>
                <a:gd name="adj" fmla="val 50000"/>
              </a:avLst>
            </a:prstGeom>
            <a:solidFill>
              <a:srgbClr val="168C7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1342" y="2187892"/>
              <a:ext cx="100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 Case 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9056" y="25393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934700" y="2514600"/>
              <a:ext cx="152400" cy="152400"/>
            </a:xfrm>
            <a:prstGeom prst="ellipse">
              <a:avLst/>
            </a:prstGeom>
            <a:solidFill>
              <a:srgbClr val="168C73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458200" y="292417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1342" y="3130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结果继续保留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1723" y="3443764"/>
              <a:ext cx="1496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不被 B 的错误覆盖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1723" y="38152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可单独检查本题产物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286000" y="4381500"/>
            <a:ext cx="7629525" cy="571500"/>
            <a:chOff x="2286000" y="4381500"/>
            <a:chExt cx="7629525" cy="571500"/>
          </a:xfrm>
        </p:grpSpPr>
        <p:sp>
          <p:nvSpPr>
            <p:cNvPr id="37" name="Line 37"/>
            <p:cNvSpPr/>
            <p:nvPr/>
          </p:nvSpPr>
          <p:spPr>
            <a:xfrm>
              <a:off x="22860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906000" y="4381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286000" y="46672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096000" y="4667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09600" y="4953000"/>
            <a:ext cx="10972800" cy="876300"/>
            <a:chOff x="609600" y="4953000"/>
            <a:chExt cx="10972800" cy="876300"/>
          </a:xfrm>
        </p:grpSpPr>
        <p:sp>
          <p:nvSpPr>
            <p:cNvPr id="43" name="Rectangle 43"/>
            <p:cNvSpPr/>
            <p:nvPr/>
          </p:nvSpPr>
          <p:spPr>
            <a:xfrm>
              <a:off x="609600" y="495300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7E5E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9818" y="5117782"/>
              <a:ext cx="1258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54C4C"/>
                  </a:solidFill>
                  <a:latin typeface="Consolas"/>
                  <a:ea typeface="Consolas"/>
                  <a:cs typeface="Consolas"/>
                </a:rPr>
                <a:t>Run = error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54630" y="5114925"/>
              <a:ext cx="384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任一被选 Case 失败，Run 汇总为 error。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55773" y="5434489"/>
              <a:ext cx="3822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成功 Case 的结果仍保留，便于逐题定位与比较。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366510"/>
              <a:ext cx="4731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单题故障不抹掉其他 Case 的执行事实；Run 状态仍反映整批结果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两种操作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68072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重跑 Runner，重评沿用已有产物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49476" y="508635"/>
              <a:ext cx="20390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RERUN VS REEVALUATE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714500"/>
            <a:ext cx="5257800" cy="3086100"/>
            <a:chOff x="609600" y="1714500"/>
            <a:chExt cx="5257800" cy="308610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5257800" cy="3086100"/>
            </a:xfrm>
            <a:prstGeom prst="roundRect">
              <a:avLst>
                <a:gd name="adj" fmla="val 308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714500"/>
              <a:ext cx="5257800" cy="66675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006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需要重新生成产物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632" y="23450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rerun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27622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23925" y="3057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4430" y="3009900"/>
              <a:ext cx="1564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再次调用 Runner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923925" y="3476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4430" y="3429000"/>
              <a:ext cx="1687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创建新的 CaseRun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23925" y="38957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4430" y="38481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旧评分清除，再记录新结果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9823" y="4320064"/>
              <a:ext cx="2778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适合验证 Runner 或代码来源的变化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24600" y="1714500"/>
            <a:ext cx="5257800" cy="3086100"/>
            <a:chOff x="6324600" y="1714500"/>
            <a:chExt cx="5257800" cy="3086100"/>
          </a:xfrm>
        </p:grpSpPr>
        <p:sp>
          <p:nvSpPr>
            <p:cNvPr id="20" name="Rectangle 20"/>
            <p:cNvSpPr/>
            <p:nvPr/>
          </p:nvSpPr>
          <p:spPr>
            <a:xfrm>
              <a:off x="6324600" y="1714500"/>
              <a:ext cx="5257800" cy="3086100"/>
            </a:xfrm>
            <a:prstGeom prst="roundRect">
              <a:avLst>
                <a:gd name="adj" fmla="val 3086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714500"/>
              <a:ext cx="5257800" cy="66675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4442" y="2006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只想换评测规则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0632" y="23450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reevaluate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91300" y="27622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638925" y="30575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69430" y="3009900"/>
              <a:ext cx="3201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跳过 Runner，复用已有 RunResult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638925" y="3476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69430" y="3429000"/>
              <a:ext cx="2250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只重跑选中的 Evaluator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38925" y="38957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69430" y="3848100"/>
              <a:ext cx="3337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更新所选 CaseScore，保留其他分数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4823" y="43200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适合对同一产物尝试新评测配置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086350"/>
            <a:ext cx="10972800" cy="723900"/>
            <a:chOff x="609600" y="5086350"/>
            <a:chExt cx="10972800" cy="723900"/>
          </a:xfrm>
        </p:grpSpPr>
        <p:sp>
          <p:nvSpPr>
            <p:cNvPr id="33" name="Rectangle 33"/>
            <p:cNvSpPr/>
            <p:nvPr/>
          </p:nvSpPr>
          <p:spPr>
            <a:xfrm>
              <a:off x="609600" y="5086350"/>
              <a:ext cx="10972800" cy="723900"/>
            </a:xfrm>
            <a:prstGeom prst="roundRect">
              <a:avLst>
                <a:gd name="adj" fmla="val 1315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723" y="52439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配置覆盖的范围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342" y="5512118"/>
              <a:ext cx="6746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本次 Run 的 EvalConfig override 只影响这一批结果，不改 Dataset 的默认配置。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366510"/>
              <a:ext cx="3824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一句话区分：rerun 改变执行，reevaluate 改变判断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产物复用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一键部署，让历史产物重新可操作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4108" y="508635"/>
              <a:ext cx="12743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DEPLOYMENT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809750"/>
            <a:ext cx="3009900" cy="3543300"/>
            <a:chOff x="609600" y="1809750"/>
            <a:chExt cx="3009900" cy="3543300"/>
          </a:xfrm>
        </p:grpSpPr>
        <p:sp>
          <p:nvSpPr>
            <p:cNvPr id="7" name="Rectangle 7"/>
            <p:cNvSpPr/>
            <p:nvPr/>
          </p:nvSpPr>
          <p:spPr>
            <a:xfrm>
              <a:off x="609600" y="1809750"/>
              <a:ext cx="3009900" cy="3543300"/>
            </a:xfrm>
            <a:prstGeom prst="roundRect">
              <a:avLst>
                <a:gd name="adj" fmla="val 316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823" y="20626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394" y="2408872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已保存的 workspace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" y="28384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6171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442" y="3073718"/>
              <a:ext cx="1911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从历史 Run 的代码产物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3359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重新启动预览环境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372427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61718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823" y="39581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适配的运行形态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9442" y="4273868"/>
              <a:ext cx="1296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Vite · FuncSea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442" y="4569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增量生成项目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204" y="49758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供人工检查与调试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98442" y="1959292"/>
            <a:ext cx="7290054" cy="264033"/>
            <a:chOff x="4298442" y="1959292"/>
            <a:chExt cx="729005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4298442" y="19592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部署生命周期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22408" y="19754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由一键部署动作启动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19500" y="3381375"/>
            <a:ext cx="685800" cy="9525"/>
            <a:chOff x="3619500" y="3381375"/>
            <a:chExt cx="685800" cy="9525"/>
          </a:xfrm>
        </p:grpSpPr>
        <p:sp>
          <p:nvSpPr>
            <p:cNvPr id="22" name="Line 22"/>
            <p:cNvSpPr/>
            <p:nvPr/>
          </p:nvSpPr>
          <p:spPr>
            <a:xfrm>
              <a:off x="3619500" y="338137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305300" y="2857500"/>
            <a:ext cx="1524000" cy="1066800"/>
            <a:chOff x="4305300" y="2857500"/>
            <a:chExt cx="1524000" cy="1066800"/>
          </a:xfrm>
        </p:grpSpPr>
        <p:sp>
          <p:nvSpPr>
            <p:cNvPr id="24" name="Rectangle 24"/>
            <p:cNvSpPr/>
            <p:nvPr/>
          </p:nvSpPr>
          <p:spPr>
            <a:xfrm>
              <a:off x="4305300" y="2857500"/>
              <a:ext cx="1524000" cy="10668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495800" y="3095625"/>
              <a:ext cx="114300" cy="114300"/>
            </a:xfrm>
            <a:prstGeom prst="ellipse">
              <a:avLst/>
            </a:prstGeom>
            <a:solidFill>
              <a:srgbClr val="C2871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36592" y="3064192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spawning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7423" y="3472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启动进程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34100" y="2857500"/>
            <a:ext cx="1524000" cy="1066800"/>
            <a:chOff x="6134100" y="2857500"/>
            <a:chExt cx="1524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6134100" y="2857500"/>
              <a:ext cx="1524000" cy="1066800"/>
            </a:xfrm>
            <a:prstGeom prst="roundRect">
              <a:avLst>
                <a:gd name="adj" fmla="val 8929"/>
              </a:avLst>
            </a:prstGeom>
            <a:solidFill>
              <a:srgbClr val="EAF5F3"/>
            </a:solidFill>
            <a:ln w="952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324600" y="30956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5392" y="3064192"/>
              <a:ext cx="32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live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6223" y="34723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可打开检查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62900" y="2857500"/>
            <a:ext cx="1524000" cy="1066800"/>
            <a:chOff x="7962900" y="2857500"/>
            <a:chExt cx="15240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7962900" y="2857500"/>
              <a:ext cx="1524000" cy="10668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153400" y="3095625"/>
              <a:ext cx="114300" cy="114300"/>
            </a:xfrm>
            <a:prstGeom prst="ellipse">
              <a:avLst/>
            </a:prstGeom>
            <a:solidFill>
              <a:srgbClr val="C2871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94192" y="3064192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stopping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5023" y="3472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回收进程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91700" y="2857500"/>
            <a:ext cx="1524000" cy="1066800"/>
            <a:chOff x="9791700" y="2857500"/>
            <a:chExt cx="1524000" cy="1066800"/>
          </a:xfrm>
        </p:grpSpPr>
        <p:sp>
          <p:nvSpPr>
            <p:cNvPr id="39" name="Rectangle 39"/>
            <p:cNvSpPr/>
            <p:nvPr/>
          </p:nvSpPr>
          <p:spPr>
            <a:xfrm>
              <a:off x="9791700" y="2857500"/>
              <a:ext cx="1524000" cy="10668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982200" y="3095625"/>
              <a:ext cx="114300" cy="114300"/>
            </a:xfrm>
            <a:prstGeom prst="ellipse">
              <a:avLst/>
            </a:prstGeom>
            <a:solidFill>
              <a:srgbClr val="61718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22992" y="3064192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stopped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13442" y="3464242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或 error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867400" y="3381375"/>
            <a:ext cx="228600" cy="9525"/>
            <a:chOff x="5867400" y="3381375"/>
            <a:chExt cx="228600" cy="9525"/>
          </a:xfrm>
        </p:grpSpPr>
        <p:sp>
          <p:nvSpPr>
            <p:cNvPr id="44" name="Line 44"/>
            <p:cNvSpPr/>
            <p:nvPr/>
          </p:nvSpPr>
          <p:spPr>
            <a:xfrm>
              <a:off x="5867400" y="33813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696200" y="3381375"/>
            <a:ext cx="228600" cy="9525"/>
            <a:chOff x="7696200" y="3381375"/>
            <a:chExt cx="228600" cy="9525"/>
          </a:xfrm>
        </p:grpSpPr>
        <p:sp>
          <p:nvSpPr>
            <p:cNvPr id="46" name="Line 46"/>
            <p:cNvSpPr/>
            <p:nvPr/>
          </p:nvSpPr>
          <p:spPr>
            <a:xfrm>
              <a:off x="7696200" y="33813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525000" y="3381375"/>
            <a:ext cx="228600" cy="9525"/>
            <a:chOff x="9525000" y="3381375"/>
            <a:chExt cx="228600" cy="9525"/>
          </a:xfrm>
        </p:grpSpPr>
        <p:sp>
          <p:nvSpPr>
            <p:cNvPr id="48" name="Line 48"/>
            <p:cNvSpPr/>
            <p:nvPr/>
          </p:nvSpPr>
          <p:spPr>
            <a:xfrm>
              <a:off x="9525000" y="33813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4305300" y="4324350"/>
            <a:ext cx="7010400" cy="1028700"/>
            <a:chOff x="4305300" y="4324350"/>
            <a:chExt cx="7010400" cy="1028700"/>
          </a:xfrm>
        </p:grpSpPr>
        <p:sp>
          <p:nvSpPr>
            <p:cNvPr id="50" name="Rectangle 50"/>
            <p:cNvSpPr/>
            <p:nvPr/>
          </p:nvSpPr>
          <p:spPr>
            <a:xfrm>
              <a:off x="4305300" y="4324350"/>
              <a:ext cx="7010400" cy="10287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65142" y="4540568"/>
              <a:ext cx="724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GUI 恢复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65142" y="4883468"/>
              <a:ext cx="4720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sidecar 允许本地界面恢复后，继续查看部署状态与产物。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2742" y="5721668"/>
            <a:ext cx="5265915" cy="264033"/>
            <a:chOff x="602742" y="5721668"/>
            <a:chExt cx="5265915" cy="264033"/>
          </a:xfrm>
        </p:grpSpPr>
        <p:sp>
          <p:nvSpPr>
            <p:cNvPr id="54" name="TextBox 54"/>
            <p:cNvSpPr txBox="1"/>
            <p:nvPr/>
          </p:nvSpPr>
          <p:spPr>
            <a:xfrm>
              <a:off x="602742" y="5721668"/>
              <a:ext cx="5265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部署是人工查看的独立操作；它不等同于 rerun 或 reevaluate。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603504" y="6366510"/>
              <a:ext cx="3789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产物可再次运行起来，帮助定位界面与交互问题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69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分支跑测，把代码来源固定到一次提交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14109" y="508635"/>
              <a:ext cx="127438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BRANCH RUN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790700"/>
            <a:ext cx="2667000" cy="2152650"/>
            <a:chOff x="609600" y="1790700"/>
            <a:chExt cx="2667000" cy="2152650"/>
          </a:xfrm>
        </p:grpSpPr>
        <p:sp>
          <p:nvSpPr>
            <p:cNvPr id="7" name="Rectangle 7"/>
            <p:cNvSpPr/>
            <p:nvPr/>
          </p:nvSpPr>
          <p:spPr>
            <a:xfrm>
              <a:off x="609600" y="1790700"/>
              <a:ext cx="2667000" cy="2152650"/>
            </a:xfrm>
            <a:prstGeom prst="roundRect">
              <a:avLst>
                <a:gd name="adj" fmla="val 442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2025968"/>
              <a:ext cx="745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指定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675" y="2426494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分支或提交版本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38200" y="28384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1342" y="3073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明确要测试的代码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378518"/>
              <a:ext cx="172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由一次 Run 固定下来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76700" y="1790700"/>
            <a:ext cx="2667000" cy="2152650"/>
            <a:chOff x="4076700" y="1790700"/>
            <a:chExt cx="2667000" cy="2152650"/>
          </a:xfrm>
        </p:grpSpPr>
        <p:sp>
          <p:nvSpPr>
            <p:cNvPr id="14" name="Rectangle 14"/>
            <p:cNvSpPr/>
            <p:nvPr/>
          </p:nvSpPr>
          <p:spPr>
            <a:xfrm>
              <a:off x="4076700" y="1790700"/>
              <a:ext cx="2667000" cy="2152650"/>
            </a:xfrm>
            <a:prstGeom prst="roundRect">
              <a:avLst>
                <a:gd name="adj" fmla="val 44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98442" y="2025968"/>
              <a:ext cx="1178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CodeResolver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5775" y="2426494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解析代码来源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305300" y="28384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98442" y="3073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把分支落到确定提交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8442" y="337851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准备 detached worktree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43800" y="1790700"/>
            <a:ext cx="4038600" cy="2152650"/>
            <a:chOff x="7543800" y="1790700"/>
            <a:chExt cx="4038600" cy="2152650"/>
          </a:xfrm>
        </p:grpSpPr>
        <p:sp>
          <p:nvSpPr>
            <p:cNvPr id="21" name="Rectangle 21"/>
            <p:cNvSpPr/>
            <p:nvPr/>
          </p:nvSpPr>
          <p:spPr>
            <a:xfrm>
              <a:off x="7543800" y="1790700"/>
              <a:ext cx="4038600" cy="2152650"/>
            </a:xfrm>
            <a:prstGeom prst="roundRect">
              <a:avLst>
                <a:gd name="adj" fmla="val 442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03642" y="2025968"/>
              <a:ext cx="172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本次 Run 的固定输入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00975" y="2426494"/>
              <a:ext cx="211966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代码树 + code_dir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810500" y="28384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61718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3642" y="3073718"/>
              <a:ext cx="2141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Runner 从同一份来源开始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3642" y="3378518"/>
              <a:ext cx="2797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 Case 再获得独立 workspace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52800" y="2867025"/>
            <a:ext cx="685800" cy="9525"/>
            <a:chOff x="3352800" y="2867025"/>
            <a:chExt cx="685800" cy="9525"/>
          </a:xfrm>
        </p:grpSpPr>
        <p:sp>
          <p:nvSpPr>
            <p:cNvPr id="28" name="Line 28"/>
            <p:cNvSpPr/>
            <p:nvPr/>
          </p:nvSpPr>
          <p:spPr>
            <a:xfrm>
              <a:off x="3352800" y="28670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819900" y="2867025"/>
            <a:ext cx="685800" cy="9525"/>
            <a:chOff x="6819900" y="2867025"/>
            <a:chExt cx="685800" cy="9525"/>
          </a:xfrm>
        </p:grpSpPr>
        <p:sp>
          <p:nvSpPr>
            <p:cNvPr id="30" name="Line 30"/>
            <p:cNvSpPr/>
            <p:nvPr/>
          </p:nvSpPr>
          <p:spPr>
            <a:xfrm>
              <a:off x="6819900" y="28670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2247900" y="3943350"/>
            <a:ext cx="7696200" cy="552450"/>
            <a:chOff x="2247900" y="3943350"/>
            <a:chExt cx="7696200" cy="552450"/>
          </a:xfrm>
        </p:grpSpPr>
        <p:sp>
          <p:nvSpPr>
            <p:cNvPr id="32" name="Line 32"/>
            <p:cNvSpPr/>
            <p:nvPr/>
          </p:nvSpPr>
          <p:spPr>
            <a:xfrm>
              <a:off x="9563100" y="39433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2286000" y="42291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286000" y="4229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229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906000" y="4229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2247900" y="4191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057900" y="4191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867900" y="4191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4495800"/>
            <a:ext cx="3352800" cy="781050"/>
            <a:chOff x="609600" y="4495800"/>
            <a:chExt cx="3352800" cy="781050"/>
          </a:xfrm>
        </p:grpSpPr>
        <p:sp>
          <p:nvSpPr>
            <p:cNvPr id="41" name="Rectangle 41"/>
            <p:cNvSpPr/>
            <p:nvPr/>
          </p:nvSpPr>
          <p:spPr>
            <a:xfrm>
              <a:off x="609600" y="4495800"/>
              <a:ext cx="33528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0961" y="4665821"/>
              <a:ext cx="1652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A workspace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10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独立目录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19600" y="4495800"/>
            <a:ext cx="3352800" cy="781050"/>
            <a:chOff x="4419600" y="4495800"/>
            <a:chExt cx="3352800" cy="781050"/>
          </a:xfrm>
        </p:grpSpPr>
        <p:sp>
          <p:nvSpPr>
            <p:cNvPr id="45" name="Rectangle 45"/>
            <p:cNvSpPr/>
            <p:nvPr/>
          </p:nvSpPr>
          <p:spPr>
            <a:xfrm>
              <a:off x="4419600" y="4495800"/>
              <a:ext cx="33528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640961" y="4665821"/>
              <a:ext cx="1652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B workspace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4210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独立目录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229600" y="4495800"/>
            <a:ext cx="3352800" cy="781050"/>
            <a:chOff x="8229600" y="4495800"/>
            <a:chExt cx="3352800" cy="781050"/>
          </a:xfrm>
        </p:grpSpPr>
        <p:sp>
          <p:nvSpPr>
            <p:cNvPr id="49" name="Rectangle 49"/>
            <p:cNvSpPr/>
            <p:nvPr/>
          </p:nvSpPr>
          <p:spPr>
            <a:xfrm>
              <a:off x="8229600" y="4495800"/>
              <a:ext cx="3352800" cy="781050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50961" y="4665821"/>
              <a:ext cx="1652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Case C workspace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5210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独立目录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2742" y="5635942"/>
            <a:ext cx="5559438" cy="264033"/>
            <a:chOff x="602742" y="5635942"/>
            <a:chExt cx="5559438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602742" y="5635942"/>
              <a:ext cx="555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记录分支名、最终解析的提交与代码路径，便于复现这次比较。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603504" y="6366510"/>
              <a:ext cx="4394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固定代码来源与分题 workspace 一起构成 Run 的执行上下文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461010"/>
            <a:ext cx="10994898" cy="882015"/>
            <a:chOff x="593598" y="461010"/>
            <a:chExt cx="10994898" cy="88201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6101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端到端生命周期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726758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一条 Run 如何从提交走到汇总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59231" y="508635"/>
              <a:ext cx="15292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RUN LIFECYCLE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76400"/>
            <a:ext cx="3352800" cy="1104900"/>
            <a:chOff x="609600" y="1676400"/>
            <a:chExt cx="3352800" cy="1104900"/>
          </a:xfrm>
        </p:grpSpPr>
        <p:sp>
          <p:nvSpPr>
            <p:cNvPr id="7" name="Rectangle 7"/>
            <p:cNvSpPr/>
            <p:nvPr/>
          </p:nvSpPr>
          <p:spPr>
            <a:xfrm>
              <a:off x="609600" y="1676400"/>
              <a:ext cx="33528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2104" y="1870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392" y="1873568"/>
              <a:ext cx="1753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接收 RunCreateSpec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281714"/>
              <a:ext cx="23785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收集本次 Runner、题集与选项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19600" y="1676400"/>
            <a:ext cx="3352800" cy="1104900"/>
            <a:chOff x="4419600" y="1676400"/>
            <a:chExt cx="3352800" cy="1104900"/>
          </a:xfrm>
        </p:grpSpPr>
        <p:sp>
          <p:nvSpPr>
            <p:cNvPr id="12" name="Rectangle 12"/>
            <p:cNvSpPr/>
            <p:nvPr/>
          </p:nvSpPr>
          <p:spPr>
            <a:xfrm>
              <a:off x="4419600" y="1676400"/>
              <a:ext cx="33528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42104" y="1870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1392" y="1873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装载并筛选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1723" y="2281714"/>
              <a:ext cx="2790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读取 Dataset、EvalConfig 与 Case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0" y="1676400"/>
            <a:ext cx="3352800" cy="1104900"/>
            <a:chOff x="8229600" y="1676400"/>
            <a:chExt cx="3352800" cy="1104900"/>
          </a:xfrm>
        </p:grpSpPr>
        <p:sp>
          <p:nvSpPr>
            <p:cNvPr id="17" name="Rectangle 17"/>
            <p:cNvSpPr/>
            <p:nvPr/>
          </p:nvSpPr>
          <p:spPr>
            <a:xfrm>
              <a:off x="8229600" y="1676400"/>
              <a:ext cx="33528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2104" y="18707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51392" y="1873568"/>
              <a:ext cx="111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准备本次 Run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2104" y="2242185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固定代码来源，创建 workspace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2104" y="2480310"/>
              <a:ext cx="1945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为选中 Case 建待执行记录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38600" y="2219325"/>
            <a:ext cx="304800" cy="9525"/>
            <a:chOff x="4038600" y="2219325"/>
            <a:chExt cx="304800" cy="9525"/>
          </a:xfrm>
        </p:grpSpPr>
        <p:sp>
          <p:nvSpPr>
            <p:cNvPr id="23" name="Line 23"/>
            <p:cNvSpPr/>
            <p:nvPr/>
          </p:nvSpPr>
          <p:spPr>
            <a:xfrm>
              <a:off x="4038600" y="22193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848600" y="2219325"/>
            <a:ext cx="304800" cy="9525"/>
            <a:chOff x="7848600" y="2219325"/>
            <a:chExt cx="304800" cy="9525"/>
          </a:xfrm>
        </p:grpSpPr>
        <p:sp>
          <p:nvSpPr>
            <p:cNvPr id="25" name="Line 25"/>
            <p:cNvSpPr/>
            <p:nvPr/>
          </p:nvSpPr>
          <p:spPr>
            <a:xfrm>
              <a:off x="7848600" y="22193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2742" y="3092768"/>
            <a:ext cx="4270501" cy="264033"/>
            <a:chOff x="602742" y="3092768"/>
            <a:chExt cx="4270501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02742" y="3092768"/>
              <a:ext cx="4270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Case 获取一个 Run 槽位；槽位覆盖下面整条链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486150"/>
            <a:ext cx="2000250" cy="1428750"/>
            <a:chOff x="609600" y="3486150"/>
            <a:chExt cx="2000250" cy="1428750"/>
          </a:xfrm>
        </p:grpSpPr>
        <p:sp>
          <p:nvSpPr>
            <p:cNvPr id="29" name="Rectangle 29"/>
            <p:cNvSpPr/>
            <p:nvPr/>
          </p:nvSpPr>
          <p:spPr>
            <a:xfrm>
              <a:off x="609600" y="3486150"/>
              <a:ext cx="2000250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4004" y="3642360"/>
              <a:ext cx="80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 / SLOT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1337" y="39666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获取槽位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623" y="438673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准备标准输入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3623" y="4624864"/>
              <a:ext cx="1148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构造当前 Case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819400" y="3486150"/>
            <a:ext cx="2000250" cy="1428750"/>
            <a:chOff x="2819400" y="3486150"/>
            <a:chExt cx="2000250" cy="1428750"/>
          </a:xfrm>
        </p:grpSpPr>
        <p:sp>
          <p:nvSpPr>
            <p:cNvPr id="35" name="Rectangle 35"/>
            <p:cNvSpPr/>
            <p:nvPr/>
          </p:nvSpPr>
          <p:spPr>
            <a:xfrm>
              <a:off x="2819400" y="3486150"/>
              <a:ext cx="2000250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03804" y="3642360"/>
              <a:ext cx="959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 / RUNNER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01137" y="3966686"/>
              <a:ext cx="132641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Runner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03423" y="43867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生成并返回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03804" y="4632960"/>
              <a:ext cx="780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RunResult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029200" y="3486150"/>
            <a:ext cx="2000250" cy="1428750"/>
            <a:chOff x="5029200" y="3486150"/>
            <a:chExt cx="2000250" cy="1428750"/>
          </a:xfrm>
        </p:grpSpPr>
        <p:sp>
          <p:nvSpPr>
            <p:cNvPr id="41" name="Rectangle 41"/>
            <p:cNvSpPr/>
            <p:nvPr/>
          </p:nvSpPr>
          <p:spPr>
            <a:xfrm>
              <a:off x="5029200" y="3486150"/>
              <a:ext cx="2000250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13604" y="3642360"/>
              <a:ext cx="1147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06 / EVALUATE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10937" y="39666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13223" y="43867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需要时临时部署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13223" y="4624864"/>
              <a:ext cx="1798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多个 Evaluator 可并行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39000" y="3486150"/>
            <a:ext cx="2000250" cy="1428750"/>
            <a:chOff x="7239000" y="3486150"/>
            <a:chExt cx="2000250" cy="1428750"/>
          </a:xfrm>
        </p:grpSpPr>
        <p:sp>
          <p:nvSpPr>
            <p:cNvPr id="47" name="Rectangle 47"/>
            <p:cNvSpPr/>
            <p:nvPr/>
          </p:nvSpPr>
          <p:spPr>
            <a:xfrm>
              <a:off x="7239000" y="3486150"/>
              <a:ext cx="2000250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23404" y="3642360"/>
              <a:ext cx="77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07 / SAVE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20737" y="396668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持久化结果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23023" y="4386739"/>
              <a:ext cx="17517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CaseRun · CaseScore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3023" y="46248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日志、截图与产物引用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448800" y="3486150"/>
            <a:ext cx="2133600" cy="1428750"/>
            <a:chOff x="9448800" y="3486150"/>
            <a:chExt cx="2133600" cy="1428750"/>
          </a:xfrm>
        </p:grpSpPr>
        <p:sp>
          <p:nvSpPr>
            <p:cNvPr id="53" name="Rectangle 53"/>
            <p:cNvSpPr/>
            <p:nvPr/>
          </p:nvSpPr>
          <p:spPr>
            <a:xfrm>
              <a:off x="9448800" y="3486150"/>
              <a:ext cx="2133600" cy="1428750"/>
            </a:xfrm>
            <a:prstGeom prst="roundRect">
              <a:avLst>
                <a:gd name="adj" fmla="val 6667"/>
              </a:avLst>
            </a:prstGeom>
            <a:solidFill>
              <a:srgbClr val="EAF5F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33204" y="3642360"/>
              <a:ext cx="1053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08 / RELEASE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30537" y="396668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清理并释放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32823" y="4386739"/>
              <a:ext cx="1550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完成整条 Case 链后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32823" y="4624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归还并发槽位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647950" y="4181475"/>
            <a:ext cx="152400" cy="9525"/>
            <a:chOff x="2647950" y="4181475"/>
            <a:chExt cx="152400" cy="9525"/>
          </a:xfrm>
        </p:grpSpPr>
        <p:sp>
          <p:nvSpPr>
            <p:cNvPr id="59" name="Line 59"/>
            <p:cNvSpPr/>
            <p:nvPr/>
          </p:nvSpPr>
          <p:spPr>
            <a:xfrm>
              <a:off x="2647950" y="41814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4857750" y="4181475"/>
            <a:ext cx="152400" cy="9525"/>
            <a:chOff x="4857750" y="4181475"/>
            <a:chExt cx="152400" cy="9525"/>
          </a:xfrm>
        </p:grpSpPr>
        <p:sp>
          <p:nvSpPr>
            <p:cNvPr id="61" name="Line 61"/>
            <p:cNvSpPr/>
            <p:nvPr/>
          </p:nvSpPr>
          <p:spPr>
            <a:xfrm>
              <a:off x="4857750" y="41814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7067550" y="4181475"/>
            <a:ext cx="152400" cy="9525"/>
            <a:chOff x="7067550" y="4181475"/>
            <a:chExt cx="152400" cy="9525"/>
          </a:xfrm>
        </p:grpSpPr>
        <p:sp>
          <p:nvSpPr>
            <p:cNvPr id="63" name="Line 63"/>
            <p:cNvSpPr/>
            <p:nvPr/>
          </p:nvSpPr>
          <p:spPr>
            <a:xfrm>
              <a:off x="7067550" y="41814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9277350" y="4181475"/>
            <a:ext cx="152400" cy="9525"/>
            <a:chOff x="9277350" y="4181475"/>
            <a:chExt cx="152400" cy="9525"/>
          </a:xfrm>
        </p:grpSpPr>
        <p:sp>
          <p:nvSpPr>
            <p:cNvPr id="65" name="Line 65"/>
            <p:cNvSpPr/>
            <p:nvPr/>
          </p:nvSpPr>
          <p:spPr>
            <a:xfrm>
              <a:off x="9277350" y="41814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609600" y="5181600"/>
            <a:ext cx="10972800" cy="628650"/>
            <a:chOff x="609600" y="5181600"/>
            <a:chExt cx="10972800" cy="628650"/>
          </a:xfrm>
        </p:grpSpPr>
        <p:sp>
          <p:nvSpPr>
            <p:cNvPr id="67" name="Rectangle 67"/>
            <p:cNvSpPr/>
            <p:nvPr/>
          </p:nvSpPr>
          <p:spPr>
            <a:xfrm>
              <a:off x="609600" y="5181600"/>
              <a:ext cx="10972800" cy="628650"/>
            </a:xfrm>
            <a:prstGeom prst="roundRect">
              <a:avLst>
                <a:gd name="adj" fmla="val 1515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1342" y="5435918"/>
              <a:ext cx="5221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 · 所有 Case 完成后，Orchestrator 汇总 Run 状态与评分。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204350" y="5423535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9C9DA"/>
                  </a:solidFill>
                  <a:latin typeface="+mn-lt"/>
                  <a:ea typeface="+mn-ea"/>
                  <a:cs typeface="+mn-cs"/>
                </a:rPr>
                <a:t>一次提交 → 可追踪的整批结果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366510"/>
              <a:ext cx="36983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批次准备在前，Case 生命周期在中，最终汇总在后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508635"/>
            <a:ext cx="10994898" cy="834390"/>
            <a:chOff x="593598" y="508635"/>
            <a:chExt cx="10994898" cy="834390"/>
          </a:xfrm>
        </p:grpSpPr>
        <p:sp>
          <p:nvSpPr>
            <p:cNvPr id="3" name="TextBox 3"/>
            <p:cNvSpPr txBox="1"/>
            <p:nvPr/>
          </p:nvSpPr>
          <p:spPr>
            <a:xfrm>
              <a:off x="593598" y="726758"/>
              <a:ext cx="242374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端到端伪代码</a:t>
              </a:r>
              <a:endParaRPr lang="zh-CN" sz="3150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84026" y="508635"/>
              <a:ext cx="110447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RUN FLOW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3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03504" y="6366510"/>
            <a:ext cx="10984992" cy="234696"/>
            <a:chOff x="603504" y="6366510"/>
            <a:chExt cx="10984992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603504" y="636651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从一次提交得到的不只是成功或失败，而是一组可检查的证据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3781" y="6366510"/>
              <a:ext cx="5947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17</a:t>
              </a:r>
              <a:endParaRPr lang="zh-CN" sz="1200" dirty="0">
                <a:solidFill>
                  <a:schemeClr val="accent5"/>
                </a:solidFill>
                <a:latin typeface="Consolas"/>
                <a:ea typeface="Consolas"/>
                <a:cs typeface="Consolas"/>
              </a:endParaRP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1B41796-1833-F358-0B3F-1C70EF086900}"/>
              </a:ext>
            </a:extLst>
          </p:cNvPr>
          <p:cNvSpPr/>
          <p:nvPr/>
        </p:nvSpPr>
        <p:spPr>
          <a:xfrm>
            <a:off x="609600" y="1600200"/>
            <a:ext cx="5334000" cy="453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7B70B06-6F22-CFAE-2DFC-DC022E4811FE}"/>
              </a:ext>
            </a:extLst>
          </p:cNvPr>
          <p:cNvSpPr/>
          <p:nvPr/>
        </p:nvSpPr>
        <p:spPr>
          <a:xfrm>
            <a:off x="6248400" y="1600200"/>
            <a:ext cx="5334000" cy="453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8F55DD8-A4C7-7A7A-1595-208119EC032E}"/>
              </a:ext>
            </a:extLst>
          </p:cNvPr>
          <p:cNvSpPr txBox="1"/>
          <p:nvPr/>
        </p:nvSpPr>
        <p:spPr>
          <a:xfrm>
            <a:off x="812800" y="1816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F3750"/>
                </a:solidFill>
                <a:latin typeface="Arial" panose="020B0604020202020204" pitchFamily="34" charset="0"/>
              </a:rPr>
              <a:t>Run </a:t>
            </a:r>
            <a:r>
              <a:rPr lang="zh-CN" altLang="en-US" sz="1200" b="1">
                <a:solidFill>
                  <a:srgbClr val="1F3750"/>
                </a:solidFill>
                <a:latin typeface="Arial" panose="020B0604020202020204" pitchFamily="34" charset="0"/>
              </a:rPr>
              <a:t>级：配置、调度与汇总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E80FE44-AB90-4985-042D-CCD898CF813A}"/>
              </a:ext>
            </a:extLst>
          </p:cNvPr>
          <p:cNvSpPr txBox="1"/>
          <p:nvPr/>
        </p:nvSpPr>
        <p:spPr>
          <a:xfrm>
            <a:off x="38354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720">
                <a:solidFill>
                  <a:srgbClr val="6C7F92"/>
                </a:solidFill>
                <a:latin typeface="Arial" panose="020B0604020202020204" pitchFamily="34" charset="0"/>
              </a:rPr>
              <a:t>DATASET → CASES → SUMMARY</a:t>
            </a:r>
            <a:endParaRPr lang="zh-CN" altLang="en-US" sz="720">
              <a:solidFill>
                <a:srgbClr val="6C7F92"/>
              </a:solidFill>
              <a:latin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27028DA-2824-9BDA-5B2C-86163E5E7038}"/>
              </a:ext>
            </a:extLst>
          </p:cNvPr>
          <p:cNvSpPr txBox="1"/>
          <p:nvPr/>
        </p:nvSpPr>
        <p:spPr>
          <a:xfrm>
            <a:off x="6451600" y="1816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F3750"/>
                </a:solidFill>
                <a:latin typeface="Arial" panose="020B0604020202020204" pitchFamily="34" charset="0"/>
              </a:rPr>
              <a:t>Case </a:t>
            </a:r>
            <a:r>
              <a:rPr lang="zh-CN" altLang="en-US" sz="1200" b="1">
                <a:solidFill>
                  <a:srgbClr val="1F3750"/>
                </a:solidFill>
                <a:latin typeface="Arial" panose="020B0604020202020204" pitchFamily="34" charset="0"/>
              </a:rPr>
              <a:t>级：执行、评测与收尾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8D40931-43D3-29C2-EB79-DFCC7BB3D57F}"/>
              </a:ext>
            </a:extLst>
          </p:cNvPr>
          <p:cNvSpPr txBox="1"/>
          <p:nvPr/>
        </p:nvSpPr>
        <p:spPr>
          <a:xfrm>
            <a:off x="9652000" y="1854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720">
                <a:solidFill>
                  <a:srgbClr val="6C7F92"/>
                </a:solidFill>
                <a:latin typeface="Arial" panose="020B0604020202020204" pitchFamily="34" charset="0"/>
              </a:rPr>
              <a:t>RUNNER → SCORE</a:t>
            </a:r>
            <a:endParaRPr lang="zh-CN" altLang="en-US" sz="720">
              <a:solidFill>
                <a:srgbClr val="6C7F92"/>
              </a:solidFill>
              <a:latin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2AD1FA7-49EF-360C-C55D-F7DC34B7A740}"/>
              </a:ext>
            </a:extLst>
          </p:cNvPr>
          <p:cNvSpPr txBox="1"/>
          <p:nvPr/>
        </p:nvSpPr>
        <p:spPr>
          <a:xfrm>
            <a:off x="812800" y="2133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def main():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# CLI /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界面参数统一为本次 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Run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配置</a:t>
            </a:r>
          </a:p>
          <a:p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spec =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build_run_spec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return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asyncio.run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execute_run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(spec))</a:t>
            </a:r>
          </a:p>
          <a:p>
            <a:endParaRPr lang="en-US" altLang="zh-CN" sz="890" dirty="0">
              <a:solidFill>
                <a:srgbClr val="263648"/>
              </a:solidFill>
              <a:latin typeface="Consolas" panose="020B0609020204030204" pitchFamily="49" charset="0"/>
              <a:ea typeface="Microsoft YaHei UI" panose="020B0503020204020204" pitchFamily="34" charset="-122"/>
            </a:endParaRP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async def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execute_run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(spec):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dataset =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load_dataset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spec.dataset_path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cases =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select_cases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dataset.cases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spec.case_ids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#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按评测模式选择 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Evaluator / Rubric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配置</a:t>
            </a:r>
          </a:p>
          <a:p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eval_configs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=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select_eval_configs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dataset.eval_configs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spec.evaluation_mode</a:t>
            </a:r>
            <a:endParaRPr lang="en-US" altLang="zh-CN" sz="890" dirty="0">
              <a:solidFill>
                <a:srgbClr val="263648"/>
              </a:solidFill>
              <a:latin typeface="Consolas" panose="020B0609020204030204" pitchFamily="49" charset="0"/>
              <a:ea typeface="Microsoft YaHei UI" panose="020B0503020204020204" pitchFamily="34" charset="-122"/>
            </a:endParaRP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run,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result_dirs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workspace_dirs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=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prepare_run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spec, dataset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mark_all_cases_pending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(run, cases)</a:t>
            </a:r>
          </a:p>
          <a:p>
            <a:endParaRPr lang="en-US" altLang="zh-CN" sz="890" dirty="0">
              <a:solidFill>
                <a:srgbClr val="263648"/>
              </a:solidFill>
              <a:latin typeface="Consolas" panose="020B0609020204030204" pitchFamily="49" charset="0"/>
              <a:ea typeface="Microsoft YaHei UI" panose="020B0503020204020204" pitchFamily="34" charset="-122"/>
            </a:endParaRP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#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每个 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Case </a:t>
            </a:r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对应一个异步任务，受并发数限制</a:t>
            </a:r>
          </a:p>
          <a:p>
            <a:r>
              <a:rPr lang="zh-CN" altLang="en-US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case_runs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= await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scheduler.run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jobs=[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lambda case=c: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execute_case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(case,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eval_configs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for c in cases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],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concurrency=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spec.concurrency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,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run.status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= "done" if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all_done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case_runs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) else "error"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persist_run_summary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(run, </a:t>
            </a:r>
            <a:r>
              <a:rPr lang="en-US" altLang="zh-CN" sz="890" dirty="0" err="1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case_runs</a:t>
            </a:r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)</a:t>
            </a:r>
          </a:p>
          <a:p>
            <a:r>
              <a:rPr lang="en-US" altLang="zh-CN" sz="890" dirty="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return run</a:t>
            </a:r>
            <a:endParaRPr lang="zh-CN" altLang="en-US" sz="890" dirty="0">
              <a:solidFill>
                <a:srgbClr val="263648"/>
              </a:solidFill>
              <a:latin typeface="Consolas" panose="020B0609020204030204" pitchFamily="49" charset="0"/>
              <a:ea typeface="Microsoft YaHei U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677F7EE-07C3-0FBB-1E03-D678320F49AE}"/>
              </a:ext>
            </a:extLst>
          </p:cNvPr>
          <p:cNvSpPr txBox="1"/>
          <p:nvPr/>
        </p:nvSpPr>
        <p:spPr>
          <a:xfrm>
            <a:off x="6451600" y="2133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async def execute_case(case, eval_configs):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mark_case_running(case)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try: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prepared_input = prepare_case_input(case)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# MG </a:t>
            </a:r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使用专用子进程；</a:t>
            </a:r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CC / Codex </a:t>
            </a:r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调用外部 </a:t>
            </a:r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CLI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result = await run_selected_runner(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case, prepared_input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save_runner_result(result)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if result.status != "done":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raise RunnerFailed()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if evaluators_need_app_url():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await ensure_app_is_available(result)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# </a:t>
            </a:r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每个 </a:t>
            </a:r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Evaluator </a:t>
            </a:r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按对应 </a:t>
            </a:r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Rubric </a:t>
            </a:r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并发评分</a:t>
            </a:r>
          </a:p>
          <a:p>
            <a:r>
              <a:rPr lang="zh-CN" altLang="en-US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</a:t>
            </a:r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scores = await asyncio.gather(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*(evaluate(cfg, case, result)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      for cfg in eval_configs)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save_scores(scores)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mark_case_done(case)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except Exception as error: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save_error(error)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save_auto_zero_scores(case)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mark_case_error(case)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finally: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cleanup_case_resources()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    persist_case_state(case)</a:t>
            </a:r>
          </a:p>
          <a:p>
            <a:r>
              <a:rPr lang="en-US" altLang="zh-CN" sz="890">
                <a:solidFill>
                  <a:srgbClr val="263648"/>
                </a:solidFill>
                <a:latin typeface="Consolas" panose="020B0609020204030204" pitchFamily="49" charset="0"/>
                <a:ea typeface="Microsoft YaHei UI" panose="020B0503020204020204" pitchFamily="34" charset="-122"/>
              </a:rPr>
              <a:t>    return case</a:t>
            </a:r>
            <a:endParaRPr lang="zh-CN" altLang="en-US" sz="890">
              <a:solidFill>
                <a:srgbClr val="263648"/>
              </a:solidFill>
              <a:latin typeface="Consolas" panose="020B0609020204030204" pitchFamily="49" charset="0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统一跑测平台面试讲解">
  <a:themeElements>
    <a:clrScheme name="统一跑测平台面试讲解">
      <a:dk1>
        <a:srgbClr val="18263A"/>
      </a:dk1>
      <a:lt1>
        <a:srgbClr val="F6F8FB"/>
      </a:lt1>
      <a:dk2>
        <a:srgbClr val="1F497D"/>
      </a:dk2>
      <a:lt2>
        <a:srgbClr val="E9EEF5"/>
      </a:lt2>
      <a:accent1>
        <a:srgbClr val="18324F"/>
      </a:accent1>
      <a:accent2>
        <a:srgbClr val="276EF1"/>
      </a:accent2>
      <a:accent3>
        <a:srgbClr val="13A89E"/>
      </a:accent3>
      <a:accent4>
        <a:srgbClr val="18324F"/>
      </a:accent4>
      <a:accent5>
        <a:srgbClr val="61718A"/>
      </a:accent5>
      <a:accent6>
        <a:srgbClr val="D4DDE8"/>
      </a:accent6>
      <a:hlink>
        <a:srgbClr val="276EF1"/>
      </a:hlink>
      <a:folHlink>
        <a:srgbClr val="13A89E"/>
      </a:folHlink>
    </a:clrScheme>
    <a:fontScheme name="统一跑测平台面试讲解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统一跑测平台面试讲解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统一跑测平台面试讲解">
  <a:themeElements>
    <a:clrScheme name="统一跑测平台面试讲解">
      <a:dk1>
        <a:srgbClr val="18263A"/>
      </a:dk1>
      <a:lt1>
        <a:srgbClr val="F6F8FB"/>
      </a:lt1>
      <a:dk2>
        <a:srgbClr val="1F497D"/>
      </a:dk2>
      <a:lt2>
        <a:srgbClr val="E9EEF5"/>
      </a:lt2>
      <a:accent1>
        <a:srgbClr val="18324F"/>
      </a:accent1>
      <a:accent2>
        <a:srgbClr val="276EF1"/>
      </a:accent2>
      <a:accent3>
        <a:srgbClr val="13A89E"/>
      </a:accent3>
      <a:accent4>
        <a:srgbClr val="18324F"/>
      </a:accent4>
      <a:accent5>
        <a:srgbClr val="61718A"/>
      </a:accent5>
      <a:accent6>
        <a:srgbClr val="D4DDE8"/>
      </a:accent6>
      <a:hlink>
        <a:srgbClr val="276EF1"/>
      </a:hlink>
      <a:folHlink>
        <a:srgbClr val="13A89E"/>
      </a:folHlink>
    </a:clrScheme>
    <a:fontScheme name="统一跑测平台面试讲解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统一跑测平台面试讲解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3634</Words>
  <Application>Microsoft Office PowerPoint</Application>
  <PresentationFormat>宽屏</PresentationFormat>
  <Paragraphs>382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Consolas</vt:lpstr>
      <vt:lpstr>统一跑测平台面试讲解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Nariyuki WL_</cp:lastModifiedBy>
  <cp:revision>11</cp:revision>
  <dcterms:created xsi:type="dcterms:W3CDTF">2026-10-03T15:26:16Z</dcterms:created>
  <dcterms:modified xsi:type="dcterms:W3CDTF">2026-10-06T11:33:48Z</dcterms:modified>
  <cp:category/>
  <cp:contentStatus/>
  <dc:language>zh-CN</dc:language>
</cp:coreProperties>
</file>