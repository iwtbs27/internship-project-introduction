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5" r:id="rId24"/>
    <p:sldId id="287" r:id="rId25"/>
    <p:sldId id="286" r:id="rId26"/>
    <p:sldId id="278" r:id="rId27"/>
    <p:sldId id="279" r:id="rId28"/>
    <p:sldId id="280" r:id="rId29"/>
    <p:sldId id="281" r:id="rId30"/>
    <p:sldId id="282" r:id="rId31"/>
    <p:sldId id="283" r:id="rId32"/>
    <p:sldId id="284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1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这个项目围绕 MetaGPT 中 Coding Agent 的上下文记忆展开，具体场景是 Alex 和 RoleZero 的多轮增量开发。一次开发任务会不断读需求、调用工具、写代码、跑构建和修复错误，历史窗口持续增长。介绍分为两个部分：已经上线的 Compaction 与 Summary 两阶段压缩，以及尚未合入 Prod 的分层蒸馏和按需恢复优化。它们的共同目标是在控制上下文压力的同时，让 Agent 保留后续开发真正需要的信息。资料来源：《自适应压缩机制PPT 优化版本.pdf》。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Alex 和 RoleZero 在一个工程里反复经历 observe、think、act。上下文会积累需求、代码块、构建日志、搜索结果、工具输出和历史总结。原有方案在消息数或 token 达到阈值时摘要较老的消息，同时保留最近若干条，能避免窗口直接耗尽。复杂前端增量开发需要更多工程细节：哪些文件已修改、路由是否注册、接口参数如何传递、组件边界在哪里、状态流如何变化，以及错误已经怎样修复。如果历史只剩下“已经做过登录页”，这些信息就不足以支撑下一次开发。资料来源：PDF 第1页。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从开发轨迹中观察到三种高频症状。第一是丢失路由，新页面写好却没有正确注册，或者 Agent 忘记旧路由，截图中的 audit 路由未匹配就是例子。第二是调用幻觉函数，接口契约在摘要后只剩模糊描述，Agent 使用了不存在的函数名或错误参数，第二张截图显示 store.getAssetViews 不是函数。第三是重写旧文件，Agent 看不到已有结构和导出信息，只能凭猜测修改。这些错误会表现为构建失败、页面白屏或功能没有接上。资料来源：PDF 第1至2页，两张报错截图来自原文。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电商网站日志体现了可恢复内容对窗口的占用。第一次压缩前有三十一条消息，总量五万零三百三十四 tokens，其中 Editor.write 核心代码约一万八千六百二十九，占百分之三十七，页面文件约五千六百零九，占百分之十一。第二次仍是三十一条消息，总量二万九千八百一十七，Competitors.tsx 约七千六百二十八，About.tsx 约四千四百六十九。原文第二次写了百分之五十二和百分之三十一，但没有说明分母，不能直接当作占整个 Buffer 的比例。完整代码已经落盘，后续可以用 Editor.read 重读，却仍作为全文进入 Memory。旧摘要还缺少关键决策、工具使用记录、错误及解决方法。消息出现得早也不代表价值低，脚手架开发准则与 README 可能在后续每轮开发中都重要。资料来源：PDF 第2至3页。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原文调研把 Manus 的上下文管理分成 Reduce、Offload 和 Isolate。Reduce 将旧信息变成引用或短摘要，Offload 把大段工具输出和资料沉到文件系统，Isolate 用子代理隔离不同任务的上下文。核心是对话保留引用与小摘要，必要时通过路径、URL 或任务标识取回细节。原文对 Claude Code 的观察包含四个机制：MicroCompact 在请求前替换较长工具返回并保留最近几轮，Session Memory 异步增量更新摘要，Auto Memory 提取长期记忆并渐进加载，Auto Dream 整理记忆。完整轨迹写盘同样体现可恢复压缩，尽量延后 full compact 可以推迟不可逆信息损失。本页沿用 PDF 的调研描述，没有扩展为对这些产品当前实现的额外断言。资料来源：PDF 第3页。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触发条件应反映真实的 token 压力，而不只看消息条数。二十条短计划可能只有几千 tokens，一条 Editor.write 就可能包含几百行代码。压缩会增加调用成本和延迟，摘要也必然损失信息，因此窗口充足时保留原始内容，接近阈值再压缩。已经落盘的代码和可通过 URL 重访的资料适合优先压缩。内容类型决定保留粒度：代码重点保留接口与路由，推理保留决策依据和状态信息，工具输出保留结果与关键错误。最近几轮工具反馈和进度需要保护，早期但长期有效的脚手架规则也应保护。局部替换先保留顺序和恢复入口，收益不足再整体摘要。原文将记忆可观测列为思考项，同时说明它不是本项目的重点。资料来源：PDF 第3至4页。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完整流程分成触发检查、局部压缩和整体摘要。每次 RoleZero._think 之前量 token，达到触发阈值才真正进入压缩。局部阶段先划分保护区，再评估候选消息，按压缩性和长度优先处理高收益内容。代码、推理和工具输出分别产生不同形式的短表示，保留路径、用途、接口契约、关键决策和错误。每处理一条都复算占用，达到目标就早停。找不到候选或总体收益低于门槛时，才进入 Summary，合并旧消息并保留最近历史。原文有“不需要大模型介入”的思考表述，但配置与流程也包含轻量模型，因此不能将本机制解释为完全不调用模型。资料来源：PDF 第4页原图及第5至8页。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压缩入口放在 RoleZero._think 的开头。配置 enable_compressable_memory 开启后，先调用 memory.compress，传入额外前缀上下文，再从 Memory 中取得后续请求使用的消息。真正消耗上下文的是 think 阶段构造 LLM 请求，所以这个位置便于透明接入。默认总窗口为十二万八千 tokens，给 system prompt 预留一万五千，有效窗口十一万三千。使用率百分之八十对应约九万零四百，达到这里触发；百分之五十对应约五万六千五百，达到这里即可早停。原文压缩模型配置为 gpt-4o-mini，这是该方案的参数记录。资料来源：PDF 第5页。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Compaction 压缩消息内部的大块内容，不改变消息条数与顺序。先将 Buffer 分成可压缩区和保护区，最近八条原样保留。可压缩区逐条计算分数，候选按分数与长度排序，从最值得处理的消息开始。每替换一条都重算使用率，低于百分之五十就停止，以免在窗口已经够用时继续损失信息。随后检查整体压缩率，达到百分之八或以上就结束；找不到候选或者收益低于百分之八，则说明剩余内容难以继续通过单条压缩释放大量空间，进入 Summary。百分之五十是早停目标，并不等于每次操作一定达到。资料来源：PDF 第5至7页。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代码示例来自 SchedulePublish.tsx。原始 Editor.write 消息包含整份实现，但实现已经写入磁盘。压缩产物保留文件路径 shadcn-ui/src/pages/SchedulePublish.tsx，说明该页面用于带冲突检测的排班发布，并保留 SchedulePublish 函数返回 JSX.Element 的导出签名。后续需要内部实现时可以调用 Editor.read 读取文件。另一种形式是 compressed 路径标记，作用仍是保留恢复入口。这里压掉的是历史消息中的代码全文，文件用途和接口没有消失。资料来源：PDF 第6页。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推理样例是智能排班系统第二轮开发完成后的长说明。压缩后保留自动排班完成状态，硬约束包括员工可用性、门店、技能和状态，软约束包括工时、休息、连续工作天数与公平。六种冲突中示例列出了 duplicate_schedule 和 leave_conflict，error 级阻止发布，warning 可以确认后发布。ScheduleTemplate 契约继续保留 id、name、locationId、可选 departmentId、可选 description、schedules 数组、createdBy 和 createdAt。状态从 draft 进入 published 再到 confirmed，并有 cancelled 分支。不变量一、四、五已经验证。保留这些信息的目的，是让下一步代码修改仍理解已有约束和决策结果。资料来源：PDF 第6至7页。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工具结果示例是 pnpm install 和 pnpm run build。原始输出超过三千字符，包含锁文件信息、新增四百三十个包、六十多项依赖与二千五百七十四个转换模块。压缩产物保留安装完成和构建成功，dist 产物大小分别为 index.html 零点七五千字节、样式文件六十二点二九千字节、脚本文件四百八十七点四二千字节，构建耗时四点二一秒。长日志中与下一步无关的重复信息可以省略，但关键错误、运行结果、产物与耗时仍需保留。工具输出也可采用 tool_compressed 标记。资料来源：PDF 第7页。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如果 Compaction 找不到候选或者收益低于百分之八，继续逐条压缩的收益已经很低，也会增加小模型调用。Summary 扩大保护区，最近十六条消息保留原样。已有的历史 Summary 作为 prev_summary 输入，结合更早旧消息进行增量摘要，产物是一条 SUMMARY of N messages。摘要必须包含用户需求、项目背景、文件修改、API Contracts、关键决策、已完成任务、未解决问题和下一步。它能更快释放窗口，但原始 trace、错误栈、函数参数和具体工具记录可能无法再从摘要中恢复，因此只在局部收益不足时使用。资料来源：PDF 第2页、第7至8页。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保护机制同时关注当前任务和长期工程依据。时间保护在 Compaction 中保留最近八条消息，在 Summary 中保留最近十六条，避免把刚发生的工具错误、修改和任务推进过早摘要。文件保护包括 todo.md、README.md、requirements.txt、App.tsx、Layout 和 router，它们未必占用最多 tokens，却影响路由注册、组件调用和工程结构。前端开发准则和脚手架说明通常很早进入历史，但会约束后续很多轮开发，所以消息年龄不能直接作为信息价值标准。资料来源：PDF 第2页、第8页。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原文总体实验表给出 baseline 平均单轮成本一点八四、完成度一点五六，阈值零点六为一点二四和一点五六，阈值零点八为一点七二和一点八八。按这张表，零点六更省成本，但完成度没有提高；零点八成本略低于 baseline，完成度更高，原文认为是更合理的折中。需要保留一个数据限制：原文把完成度定义为自有 Evaluator 和 GUI 测试中成功需求数除以总需求数，但表中数值超过一，评分范围与定义不一致。成本单位也没有说明。因此数值作为原文 Score 展示，不解释成成功率百分比，也不添加货币单位。资料来源：PDF 第8页。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分 Case 表提供更细的成本与 Score。baseline 三个 Case 分别是一点四四与一点六、一点七三与一点四、一点九四与一点五。阈值零点六分别是零点九六与一点四、一点二六与一点八、一点四五与二。阈值零点八分别是一点四七与一点八三、一点六二与二、二点零八与一点八三。零点八在三个 Case 中 Score 都高于 baseline，但 Case 一和三的成本也更高，说明总体折中不能替代每个案例的实际表现。这些明细的简单均值与上一页总体表不完全一致，原文没有说明是否使用相同聚合范围，因此两张表保留各自口径。资料来源：PDF 第9页。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这张原图记录 Case 三、阈值零点八任务从开始到结束的六轮优化。横轴按时间排列交互检查点，纵轴是 Buffer 使用率。百分之八十的虚线表示触发阈值，百分之五十表示压缩后早停目标。红色向下三角标记开始，绿色向上三角标记结束，连线标注前后缩减比例。六次压缩比例为百分之四十一点一、三十五点二、三十四点五、四十点七、十七点七和二十点四。后期压缩后不一定回到百分之五十，目标线是提前停止的条件。资料来源：PDF 第9页原图及第10页说明。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原图把累计压缩次数和压缩率对应起来。随着任务继续推进，可恢复的重复和高体积内容逐渐处理完，后续局部压缩总体上越来越难释放同样多的空间。末期收益降到大约百分之十八至二十，支持在边际收益不足时采用 Summary 兜底。这个趋势并非严格单调，中间有一次百分之四十点七高于之前的百分之三十四点五。拟合虚线是该任务的观察性趋势，没有原文支持的普遍拟合公式。资料来源：PDF 第10页。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这张图按压缩事件统计代码文件、推理和工具输出的数量。六次事件处理的条目总数分别为五、十六、九、十二、十一和五。Editor.write 代码与工具结果是 Buffer 优化的关键对象，这与先压缩可恢复高体积内容的设计相符。需要注意，图中纵轴是压缩条目数量，单条代码、推理或日志长度不同，因此不能把条目数量直接解释为 token 贡献比例。资料来源：PDF 第10至11页。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六个面板概括 workforce_scheduling_v1 六轮增量开发的压缩过程。它们分别展示每轮初始消息数、单轮压缩次数、累计次数、压缩类型、逐事件压缩率和最终 Buffer 占用。早期轮次较少触发，后期事件累积，同时逐次压缩收益有所下降。原图右下的 Final Buffer Usage 子图中 R1 和 R2 画成零，但此前完整时间线有非零上下文占用，原文没有解释统计范围，因此不能把零解读为这两轮没有上下文。完整图保留用于观察多项指标之间的联系。资料来源：PDF 第11页。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阈值零点六对应有效窗口六成，约六万七千八百 tokens。原图中 Compaction 与 Summary 更频繁地交替，Buffer 长期在压缩边界附近。总体表显示更低成本，但完成度与 baseline 相同，所以更早触发没有在该表中体现更好的任务质量。原文认为额外压缩可能增加时间成本，进而影响用户体验，不过没有给出量化延迟或体验测量，应该当作风险判断。阈值选择需要兼顾释放空间、信息损失和触发频次。资料来源：PDF 第11至12页。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本页说明尚未合入 </a:t>
            </a:r>
            <a:r>
              <a:rPr lang="en-US" altLang="zh-CN"/>
              <a:t>Prod </a:t>
            </a:r>
            <a:r>
              <a:rPr lang="zh-CN" altLang="en-US"/>
              <a:t>的设计目标。</a:t>
            </a:r>
            <a:r>
              <a:rPr lang="en-US" altLang="zh-CN"/>
              <a:t>summary.md </a:t>
            </a:r>
            <a:r>
              <a:rPr lang="zh-CN" altLang="en-US"/>
              <a:t>围绕新完成的 </a:t>
            </a:r>
            <a:r>
              <a:rPr lang="en-US" altLang="zh-CN"/>
              <a:t>Todo </a:t>
            </a:r>
            <a:r>
              <a:rPr lang="zh-CN" altLang="en-US"/>
              <a:t>增量维护，尽量稳定历史前缀；</a:t>
            </a:r>
            <a:r>
              <a:rPr lang="en-US" altLang="zh-CN"/>
              <a:t>App.tsx</a:t>
            </a:r>
            <a:r>
              <a:rPr lang="zh-CN" altLang="en-US"/>
              <a:t>、</a:t>
            </a:r>
            <a:r>
              <a:rPr lang="en-US" altLang="zh-CN"/>
              <a:t>router </a:t>
            </a:r>
            <a:r>
              <a:rPr lang="zh-CN" altLang="en-US"/>
              <a:t>等受保护内容规划为不进入摘要。压缩块和摘要块均落盘并建立来源映射，细节按需恢复。</a:t>
            </a:r>
            <a:r>
              <a:rPr lang="en-US" altLang="zh-CN"/>
              <a:t>KV Cache </a:t>
            </a:r>
            <a:r>
              <a:rPr lang="zh-CN" altLang="en-US"/>
              <a:t>复用率和 </a:t>
            </a:r>
            <a:r>
              <a:rPr lang="en-US" altLang="zh-CN"/>
              <a:t>LLM </a:t>
            </a:r>
            <a:r>
              <a:rPr lang="zh-CN" altLang="en-US"/>
              <a:t>调用下降均为预期效果，尚未验证。</a:t>
            </a:r>
            <a:r>
              <a:rPr lang="en-US" altLang="zh-CN"/>
              <a:t>PDF </a:t>
            </a:r>
            <a:r>
              <a:rPr lang="zh-CN" altLang="en-US"/>
              <a:t>第</a:t>
            </a:r>
            <a:r>
              <a:rPr lang="en-US" altLang="zh-CN"/>
              <a:t>12</a:t>
            </a:r>
            <a:r>
              <a:rPr lang="zh-CN" altLang="en-US"/>
              <a:t>页对保护区消息的描述与近期消息保护规则存在冲突，因此不将其当作线上保护已失效的证据。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拟议的业务层级：一次用户需求对应一个 </a:t>
            </a:r>
            <a:r>
              <a:rPr lang="en-US" altLang="zh-CN"/>
              <a:t>Plan / App Version</a:t>
            </a:r>
            <a:r>
              <a:rPr lang="zh-CN" altLang="en-US"/>
              <a:t>，一个 </a:t>
            </a:r>
            <a:r>
              <a:rPr lang="en-US" altLang="zh-CN"/>
              <a:t>Plan </a:t>
            </a:r>
            <a:r>
              <a:rPr lang="zh-CN" altLang="en-US"/>
              <a:t>包含多个 </a:t>
            </a:r>
            <a:r>
              <a:rPr lang="en-US" altLang="zh-CN"/>
              <a:t>Todo</a:t>
            </a:r>
            <a:r>
              <a:rPr lang="zh-CN" altLang="en-US"/>
              <a:t>，每个 </a:t>
            </a:r>
            <a:r>
              <a:rPr lang="en-US" altLang="zh-CN"/>
              <a:t>Todo </a:t>
            </a:r>
            <a:r>
              <a:rPr lang="zh-CN" altLang="en-US"/>
              <a:t>是一个小型开发过程。</a:t>
            </a:r>
            <a:r>
              <a:rPr lang="en-US" altLang="zh-CN"/>
              <a:t>T1 </a:t>
            </a:r>
            <a:r>
              <a:rPr lang="zh-CN" altLang="en-US"/>
              <a:t>在 </a:t>
            </a:r>
            <a:r>
              <a:rPr lang="en-US" altLang="zh-CN"/>
              <a:t>Compaction </a:t>
            </a:r>
            <a:r>
              <a:rPr lang="zh-CN" altLang="en-US"/>
              <a:t>后从旧消息向前扫描，按 </a:t>
            </a:r>
            <a:r>
              <a:rPr lang="en-US" altLang="zh-CN"/>
              <a:t>Token </a:t>
            </a:r>
            <a:r>
              <a:rPr lang="zh-CN" altLang="en-US"/>
              <a:t>触发，并以已完成 </a:t>
            </a:r>
            <a:r>
              <a:rPr lang="en-US" altLang="zh-CN"/>
              <a:t>Todo </a:t>
            </a:r>
            <a:r>
              <a:rPr lang="zh-CN" altLang="en-US"/>
              <a:t>为边界；</a:t>
            </a:r>
            <a:r>
              <a:rPr lang="en-US" altLang="zh-CN"/>
              <a:t>T2 </a:t>
            </a:r>
            <a:r>
              <a:rPr lang="zh-CN" altLang="en-US"/>
              <a:t>只合并同一 </a:t>
            </a:r>
            <a:r>
              <a:rPr lang="en-US" altLang="zh-CN"/>
              <a:t>Version </a:t>
            </a:r>
            <a:r>
              <a:rPr lang="zh-CN" altLang="en-US"/>
              <a:t>内的多个 </a:t>
            </a:r>
            <a:r>
              <a:rPr lang="en-US" altLang="zh-CN"/>
              <a:t>T1</a:t>
            </a:r>
            <a:r>
              <a:rPr lang="zh-CN" altLang="en-US"/>
              <a:t>，遇到 </a:t>
            </a:r>
            <a:r>
              <a:rPr lang="en-US" altLang="zh-CN"/>
              <a:t>Version </a:t>
            </a:r>
            <a:r>
              <a:rPr lang="zh-CN" altLang="en-US"/>
              <a:t>边界宁可少摘要，</a:t>
            </a:r>
            <a:r>
              <a:rPr lang="en-US" altLang="zh-CN"/>
              <a:t>T1 </a:t>
            </a:r>
            <a:r>
              <a:rPr lang="zh-CN" altLang="en-US"/>
              <a:t>和 </a:t>
            </a:r>
            <a:r>
              <a:rPr lang="en-US" altLang="zh-CN"/>
              <a:t>T2 </a:t>
            </a:r>
            <a:r>
              <a:rPr lang="zh-CN" altLang="en-US"/>
              <a:t>可以共存；</a:t>
            </a:r>
            <a:r>
              <a:rPr lang="en-US" altLang="zh-CN"/>
              <a:t>T3 </a:t>
            </a:r>
            <a:r>
              <a:rPr lang="zh-CN" altLang="en-US"/>
              <a:t>对多个 </a:t>
            </a:r>
            <a:r>
              <a:rPr lang="en-US" altLang="zh-CN"/>
              <a:t>T2 </a:t>
            </a:r>
            <a:r>
              <a:rPr lang="zh-CN" altLang="en-US"/>
              <a:t>形成简明的项目历史。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本页补充受保护上下文的解耦设计。</a:t>
            </a:r>
            <a:r>
              <a:rPr lang="en-US" altLang="zh-CN"/>
              <a:t>App.tsx</a:t>
            </a:r>
            <a:r>
              <a:rPr lang="zh-CN" altLang="en-US"/>
              <a:t>、</a:t>
            </a:r>
            <a:r>
              <a:rPr lang="en-US" altLang="zh-CN"/>
              <a:t>router</a:t>
            </a:r>
            <a:r>
              <a:rPr lang="zh-CN" altLang="en-US"/>
              <a:t>、注册表等受保护文件由独立于 </a:t>
            </a:r>
            <a:r>
              <a:rPr lang="en-US" altLang="zh-CN"/>
              <a:t>Memory </a:t>
            </a:r>
            <a:r>
              <a:rPr lang="zh-CN" altLang="en-US"/>
              <a:t>列表的数据结构实时维护，避免插入或移除消息而破坏 </a:t>
            </a:r>
            <a:r>
              <a:rPr lang="en-US" altLang="zh-CN"/>
              <a:t>Memory </a:t>
            </a:r>
            <a:r>
              <a:rPr lang="zh-CN" altLang="en-US"/>
              <a:t>连续性。</a:t>
            </a:r>
            <a:r>
              <a:rPr lang="en-US" altLang="zh-CN"/>
              <a:t>T1–T3 </a:t>
            </a:r>
            <a:r>
              <a:rPr lang="zh-CN" altLang="en-US"/>
              <a:t>继续按原 </a:t>
            </a:r>
            <a:r>
              <a:rPr lang="en-US" altLang="zh-CN"/>
              <a:t>Memory </a:t>
            </a:r>
            <a:r>
              <a:rPr lang="zh-CN" altLang="en-US"/>
              <a:t>中对应 </a:t>
            </a:r>
            <a:r>
              <a:rPr lang="en-US" altLang="zh-CN"/>
              <a:t>Message </a:t>
            </a:r>
            <a:r>
              <a:rPr lang="zh-CN" altLang="en-US"/>
              <a:t>范围递进摘要。组装模型上下文时依次放入 </a:t>
            </a:r>
            <a:r>
              <a:rPr lang="en-US" altLang="zh-CN"/>
              <a:t>System Prompt</a:t>
            </a:r>
            <a:r>
              <a:rPr lang="zh-CN" altLang="en-US"/>
              <a:t>、历史视图（</a:t>
            </a:r>
            <a:r>
              <a:rPr lang="en-US" altLang="zh-CN"/>
              <a:t>T3 / T2 / T1 </a:t>
            </a:r>
            <a:r>
              <a:rPr lang="zh-CN" altLang="en-US"/>
              <a:t>与尚未摘要的 </a:t>
            </a:r>
            <a:r>
              <a:rPr lang="en-US" altLang="zh-CN"/>
              <a:t>raw / T0</a:t>
            </a:r>
            <a:r>
              <a:rPr lang="zh-CN" altLang="en-US"/>
              <a:t>）、受保护文件的简短摘要或索引，必要时按需放入完整内容，最后放入本轮 </a:t>
            </a:r>
            <a:r>
              <a:rPr lang="en-US" altLang="zh-CN"/>
              <a:t>prompt</a:t>
            </a:r>
            <a:r>
              <a:rPr lang="zh-CN" altLang="en-US"/>
              <a:t>。该更新和读取机制仍是设计方案，需要实现与验证。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/>
              <a:t>拟议的可恢复链路：压缩消息块和各层摘要都沉淀到磁盘，块 </a:t>
            </a:r>
            <a:r>
              <a:rPr lang="en-US" altLang="zh-CN"/>
              <a:t>ID </a:t>
            </a:r>
            <a:r>
              <a:rPr lang="zh-CN" altLang="en-US"/>
              <a:t>记录层级、父子关系和源消息区间。</a:t>
            </a:r>
            <a:r>
              <a:rPr lang="en-US" altLang="zh-CN"/>
              <a:t>Agent </a:t>
            </a:r>
            <a:r>
              <a:rPr lang="zh-CN" altLang="en-US"/>
              <a:t>按当前任务调用 </a:t>
            </a:r>
            <a:r>
              <a:rPr lang="en-US" altLang="zh-CN"/>
              <a:t>Editor.read </a:t>
            </a:r>
            <a:r>
              <a:rPr lang="zh-CN" altLang="en-US"/>
              <a:t>或 </a:t>
            </a:r>
            <a:r>
              <a:rPr lang="en-US" altLang="zh-CN"/>
              <a:t>expand(block_id)</a:t>
            </a:r>
            <a:r>
              <a:rPr lang="zh-CN" altLang="en-US"/>
              <a:t>，逐级展开所需内容，临时放入上下文后再释放。释放仅移除临时上下文内容，不删除磁盘档案。没有 </a:t>
            </a:r>
            <a:r>
              <a:rPr lang="en-US" altLang="zh-CN"/>
              <a:t>T1 </a:t>
            </a:r>
            <a:r>
              <a:rPr lang="zh-CN" altLang="en-US"/>
              <a:t>时，</a:t>
            </a:r>
            <a:r>
              <a:rPr lang="en-US" altLang="zh-CN"/>
              <a:t>Compaction </a:t>
            </a:r>
            <a:r>
              <a:rPr lang="zh-CN" altLang="en-US"/>
              <a:t>收益会逐渐递减，最终依赖 </a:t>
            </a:r>
            <a:r>
              <a:rPr lang="en-US" altLang="zh-CN"/>
              <a:t>MetaGPT </a:t>
            </a:r>
            <a:r>
              <a:rPr lang="zh-CN" altLang="en-US"/>
              <a:t>近 </a:t>
            </a:r>
            <a:r>
              <a:rPr lang="en-US" altLang="zh-CN"/>
              <a:t>30 </a:t>
            </a:r>
            <a:r>
              <a:rPr lang="zh-CN" altLang="en-US"/>
              <a:t>条已处理 </a:t>
            </a:r>
            <a:r>
              <a:rPr lang="en-US" altLang="zh-CN"/>
              <a:t>Memory</a:t>
            </a:r>
            <a:r>
              <a:rPr lang="zh-CN" altLang="en-US"/>
              <a:t>；</a:t>
            </a:r>
            <a:r>
              <a:rPr lang="en-US" altLang="zh-CN"/>
              <a:t>T1 </a:t>
            </a:r>
            <a:r>
              <a:rPr lang="zh-CN" altLang="en-US"/>
              <a:t>预期重新抬升局部压缩收益并减少摘要频次与 </a:t>
            </a:r>
            <a:r>
              <a:rPr lang="en-US" altLang="zh-CN"/>
              <a:t>LLM </a:t>
            </a:r>
            <a:r>
              <a:rPr lang="zh-CN" altLang="en-US"/>
              <a:t>介入，仍待实现与实验验证。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优化流程图把长交互流、层级压缩、混合粒度活跃上下文以及带来源的恢复结合起来。T0 是自适应消息级局部压缩，代码、推理和工具输出分别缩减。T1 Development Digest 保存开发片段，T2 Composite Digest 合并开发摘要，T3 Project Chronicle 承载项目历史。活跃上下文可以同时包含系统提示、项目历史、合并摘要、开发摘要、压缩消息、最近受保护消息和当前任务提示。需要细节时，沿摘要来源逐级展开到更细内容或原始文件，磁盘提供可恢复档案，使用结束后释放临时恢复内容。这是设计与实验优化流程，尚未合入生产分支。资料来源：PDF 第13页完整原图。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实验优化版仍使用一百二十八 K 的模型窗口，预留十五 K，有效窗口一百一十三 K。全局触发为百分之八十，原表写约九十 K，早停目标百分之五十，约五十六 K。保护最近八条，并开启当前任务保护，T0 最低收益门槛百分之八。层级升迁同时检查累计 token 和块数量：T1 总量至少八 K 且至少四个 blocks 才进入 T2，T2 至少四 K 且至少三个 blocks 才进入 T3，T3 至少二 K 且至少两个 blocks 时再整理 T3。是否继续升层取决于实际积累量，而不是固定轮次。这些参数仅属于未上线优化实验。资料来源：PDF 第13至14页。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优化时间线中，前三次完整 Compaction 都达到早停目标，结束占用分别为百分之四十七点七、四十九点一和四十九点六。到了第六轮，局部可处理内容的收益只剩百分之六点六，低于百分之八门槛，此时才进入分块摘要。图中的 T1 处理五个 blocks，将使用率从百分之七十八点八降到百分之四十五点三。这个过程体现先利用消息级压缩、再按收益决定更激进压缩的策略，但只是原文所示任务轨迹的实验观测。资料来源：PDF 第14页。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两个面板分别展示压缩消息条数与移除 token 量。R3 至 R6 处理消息数是五、九、八和六，类型仍包括 FILE_WRITTEN、Reasoning 和 Tool Output。移除量分别约四十二点三 K、三十九点零 K、三十六点一 K 和六点三 K。最后一轮虽然处理了六条消息，却只释放六点三 K，这说明条目数量不能代替压缩收益。这里的六点三 K 是末轮局部压缩贡献，不是后续所有层级摘要的总收益。资料来源：PDF 第14页原图，未上线实验。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上方展示活跃上下文的组成，下方展示层级摘要预算随模型调用变化。原始 Raw 内容一直占据主要窗口，较早历史逐步形成 T0 和 T1；当 T1 达到预算与块数量门槛后，首次出现 T2。后续层级是否继续提升由实际积累量决定。本次组成图的图例和轨迹只有 Raw、T0、T1 和 T2，没有展示 T3 真正形成，因此只能说设计支持三级摘要，不能声称实验已经验证所有层级。资料来源：PDF 第15页，未上线实验。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左图统计 T1 和 T2 相对各自局部源内容的 token 缩减，分别为百分之八十七点九和九十点二，不能解释成整个上下文都下降这些比例。右图展示按需恢复与释放：起始活跃上下文五十五点四 K，T2 展开到 T1 后六十一点二 K，T1 展开到消息后七十点零 K，访问原始引用时七十点七 K，释放临时恢复内容后回到五十五点四 K。摘要有来源映射，细节只在需要时进入活跃上下文，用完释放，这使压缩与后续使用形成完整生命周期。资料来源：PDF 第15页，未上线实验。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已经上线的方案在 think 前按 token 压力触发，先处理可恢复高体积内容，保留最近消息、工程骨架与决策依据，局部收益不足再整体摘要。阈值零点八在原文总体实验中兼顾了成本和完成度，不过数据结论限于所示样本，成本单位和评分口径仍需要核对。分层蒸馏、磁盘来源映射以及按需恢复释放属于后续优化实验，还没有合入 Prod。核心取舍是释放窗口时尽量保住下一步开发的依据，并延后不可逆的信息损失。资料来源：PDF 第4至15页。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daptive_compression_beautified_2026100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adaptive_compression_beautified_2026100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5"/>
          <p:cNvGrpSpPr/>
          <p:nvPr/>
        </p:nvGrpSpPr>
        <p:grpSpPr>
          <a:xfrm>
            <a:off x="8096250" y="1666875"/>
            <a:ext cx="3048000" cy="3543300"/>
            <a:chOff x="8096250" y="1666875"/>
            <a:chExt cx="3048000" cy="3543300"/>
          </a:xfrm>
        </p:grpSpPr>
        <p:sp>
          <p:nvSpPr>
            <p:cNvPr id="2" name="Rectangle 2"/>
            <p:cNvSpPr/>
            <p:nvPr/>
          </p:nvSpPr>
          <p:spPr>
            <a:xfrm>
              <a:off x="8096250" y="1666875"/>
              <a:ext cx="3048000" cy="3543300"/>
            </a:xfrm>
            <a:prstGeom prst="rect">
              <a:avLst/>
            </a:prstGeom>
            <a:noFill/>
            <a:ln w="11430">
              <a:solidFill>
                <a:srgbClr val="41617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3"/>
            <p:cNvSpPr/>
            <p:nvPr/>
          </p:nvSpPr>
          <p:spPr>
            <a:xfrm>
              <a:off x="8401050" y="2057400"/>
              <a:ext cx="2438400" cy="590550"/>
            </a:xfrm>
            <a:prstGeom prst="rect">
              <a:avLst/>
            </a:prstGeom>
            <a:solidFill>
              <a:srgbClr val="1F497D"/>
            </a:solidFill>
            <a:ln w="9525">
              <a:solidFill>
                <a:srgbClr val="41617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Rectangle 4"/>
            <p:cNvSpPr/>
            <p:nvPr/>
          </p:nvSpPr>
          <p:spPr>
            <a:xfrm>
              <a:off x="8401050" y="2057400"/>
              <a:ext cx="47625" cy="590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Line 5"/>
            <p:cNvSpPr/>
            <p:nvPr/>
          </p:nvSpPr>
          <p:spPr>
            <a:xfrm>
              <a:off x="8629650" y="2257425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19050">
              <a:solidFill>
                <a:srgbClr val="AAC0D7">
                  <a:alpha val="7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Line 6"/>
            <p:cNvSpPr/>
            <p:nvPr/>
          </p:nvSpPr>
          <p:spPr>
            <a:xfrm>
              <a:off x="8629650" y="2428875"/>
              <a:ext cx="1504950" cy="9525"/>
            </a:xfrm>
            <a:custGeom>
              <a:avLst/>
              <a:gdLst/>
              <a:ahLst/>
              <a:cxnLst/>
              <a:rect l="l" t="t" r="r" b="b"/>
              <a:pathLst>
                <a:path w="1504950" h="9525">
                  <a:moveTo>
                    <a:pt x="0" y="0"/>
                  </a:moveTo>
                  <a:lnTo>
                    <a:pt x="1504950" y="0"/>
                  </a:lnTo>
                </a:path>
              </a:pathLst>
            </a:custGeom>
            <a:noFill/>
            <a:ln w="19050">
              <a:solidFill>
                <a:srgbClr val="AAC0D7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Rectangle 7"/>
            <p:cNvSpPr/>
            <p:nvPr/>
          </p:nvSpPr>
          <p:spPr>
            <a:xfrm>
              <a:off x="8705850" y="2876550"/>
              <a:ext cx="2438400" cy="590550"/>
            </a:xfrm>
            <a:prstGeom prst="rect">
              <a:avLst/>
            </a:prstGeom>
            <a:solidFill>
              <a:srgbClr val="1F497D"/>
            </a:solidFill>
            <a:ln w="9525">
              <a:solidFill>
                <a:srgbClr val="41617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8"/>
            <p:cNvSpPr/>
            <p:nvPr/>
          </p:nvSpPr>
          <p:spPr>
            <a:xfrm>
              <a:off x="8705850" y="2876550"/>
              <a:ext cx="47625" cy="590550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8934450" y="3076575"/>
              <a:ext cx="1962150" cy="9525"/>
            </a:xfrm>
            <a:custGeom>
              <a:avLst/>
              <a:gdLst/>
              <a:ahLst/>
              <a:cxnLst/>
              <a:rect l="l" t="t" r="r" b="b"/>
              <a:pathLst>
                <a:path w="1962150" h="9525">
                  <a:moveTo>
                    <a:pt x="0" y="0"/>
                  </a:moveTo>
                  <a:lnTo>
                    <a:pt x="1962150" y="0"/>
                  </a:lnTo>
                </a:path>
              </a:pathLst>
            </a:custGeom>
            <a:noFill/>
            <a:ln w="19050">
              <a:solidFill>
                <a:srgbClr val="AAC0D7">
                  <a:alpha val="7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8934450" y="3248025"/>
              <a:ext cx="1485900" cy="9525"/>
            </a:xfrm>
            <a:custGeom>
              <a:avLst/>
              <a:gdLst/>
              <a:ahLst/>
              <a:cxnLst/>
              <a:rect l="l" t="t" r="r" b="b"/>
              <a:pathLst>
                <a:path w="1485900" h="9525">
                  <a:moveTo>
                    <a:pt x="0" y="0"/>
                  </a:moveTo>
                  <a:lnTo>
                    <a:pt x="1485900" y="0"/>
                  </a:lnTo>
                </a:path>
              </a:pathLst>
            </a:custGeom>
            <a:noFill/>
            <a:ln w="19050">
              <a:solidFill>
                <a:srgbClr val="AAC0D7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010650" y="3695700"/>
              <a:ext cx="2133600" cy="590550"/>
            </a:xfrm>
            <a:prstGeom prst="rect">
              <a:avLst/>
            </a:prstGeom>
            <a:solidFill>
              <a:srgbClr val="1F497D"/>
            </a:solidFill>
            <a:ln w="9525">
              <a:solidFill>
                <a:srgbClr val="41617F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010650" y="3695700"/>
              <a:ext cx="47625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9239250" y="3895725"/>
              <a:ext cx="1657350" cy="9525"/>
            </a:xfrm>
            <a:custGeom>
              <a:avLst/>
              <a:gdLst/>
              <a:ahLst/>
              <a:cxnLst/>
              <a:rect l="l" t="t" r="r" b="b"/>
              <a:pathLst>
                <a:path w="1657350" h="9525">
                  <a:moveTo>
                    <a:pt x="0" y="0"/>
                  </a:moveTo>
                  <a:lnTo>
                    <a:pt x="1657350" y="0"/>
                  </a:lnTo>
                </a:path>
              </a:pathLst>
            </a:custGeom>
            <a:noFill/>
            <a:ln w="19050">
              <a:solidFill>
                <a:srgbClr val="AAC0D7">
                  <a:alpha val="70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9239250" y="4067175"/>
              <a:ext cx="1209675" cy="9525"/>
            </a:xfrm>
            <a:custGeom>
              <a:avLst/>
              <a:gdLst/>
              <a:ahLst/>
              <a:cxnLst/>
              <a:rect l="l" t="t" r="r" b="b"/>
              <a:pathLst>
                <a:path w="1209675" h="9525">
                  <a:moveTo>
                    <a:pt x="0" y="0"/>
                  </a:moveTo>
                  <a:lnTo>
                    <a:pt x="1209675" y="0"/>
                  </a:lnTo>
                </a:path>
              </a:pathLst>
            </a:custGeom>
            <a:noFill/>
            <a:ln w="19050">
              <a:solidFill>
                <a:srgbClr val="AAC0D7">
                  <a:alpha val="45000"/>
                </a:srgbClr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54380" y="1209675"/>
            <a:ext cx="3636264" cy="293370"/>
            <a:chOff x="754380" y="1209675"/>
            <a:chExt cx="3636264" cy="293370"/>
          </a:xfrm>
        </p:grpSpPr>
        <p:sp>
          <p:nvSpPr>
            <p:cNvPr id="16" name="TextBox 16"/>
            <p:cNvSpPr txBox="1"/>
            <p:nvPr/>
          </p:nvSpPr>
          <p:spPr>
            <a:xfrm>
              <a:off x="754380" y="1209675"/>
              <a:ext cx="3636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MetaGPT Coding Agent · 技术项目分享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42950" y="2211705"/>
            <a:ext cx="3924300" cy="1885950"/>
            <a:chOff x="742950" y="2211705"/>
            <a:chExt cx="3924300" cy="1885950"/>
          </a:xfrm>
        </p:grpSpPr>
        <p:sp>
          <p:nvSpPr>
            <p:cNvPr id="18" name="TextBox 18"/>
            <p:cNvSpPr txBox="1"/>
            <p:nvPr/>
          </p:nvSpPr>
          <p:spPr>
            <a:xfrm>
              <a:off x="742950" y="2211705"/>
              <a:ext cx="3924300" cy="18859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050"/>
                </a:lnSpc>
              </a:pPr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自适应上下文</a:t>
              </a:r>
              <a:br/>
              <a:r>
                <a:rPr lang="zh-CN" sz="5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压缩机制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1332" y="4459605"/>
            <a:ext cx="5675376" cy="872490"/>
            <a:chOff x="751332" y="4459605"/>
            <a:chExt cx="5675376" cy="872490"/>
          </a:xfrm>
        </p:grpSpPr>
        <p:sp>
          <p:nvSpPr>
            <p:cNvPr id="20" name="TextBox 20"/>
            <p:cNvSpPr txBox="1"/>
            <p:nvPr/>
          </p:nvSpPr>
          <p:spPr>
            <a:xfrm>
              <a:off x="751332" y="4459605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多轮增量开发中的记忆保留、按需压缩与恢复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380" y="5038725"/>
              <a:ext cx="43668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已上线的两阶段方案　/　未上线的分层优化实验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55904" y="6195060"/>
            <a:ext cx="3691661" cy="234696"/>
            <a:chOff x="755904" y="6195060"/>
            <a:chExt cx="3691661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755904" y="6195060"/>
              <a:ext cx="3691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C0D7"/>
                  </a:solidFill>
                  <a:latin typeface="+mn-lt"/>
                  <a:ea typeface="+mn-ea"/>
                  <a:cs typeface="+mn-cs"/>
                </a:rPr>
                <a:t>内容依据：《自适应压缩机制PPT 优化版本.pdf》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背景与问题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多轮增量开发的上下文压力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400175"/>
            <a:ext cx="11353800" cy="1200150"/>
            <a:chOff x="419100" y="1400175"/>
            <a:chExt cx="11353800" cy="1200150"/>
          </a:xfrm>
        </p:grpSpPr>
        <p:sp>
          <p:nvSpPr>
            <p:cNvPr id="8" name="Rectangle 8"/>
            <p:cNvSpPr/>
            <p:nvPr/>
          </p:nvSpPr>
          <p:spPr>
            <a:xfrm>
              <a:off x="419100" y="1400175"/>
              <a:ext cx="11353800" cy="12001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00175"/>
              <a:ext cx="38100" cy="1200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525905"/>
              <a:ext cx="602130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Alex / RoleZero 在同一个工程中持续增量开发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044065"/>
              <a:ext cx="83297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observe、think、act 反复执行，历史同时积累代码、构建日志和错误修复。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9100" y="2857500"/>
            <a:ext cx="5467350" cy="2514600"/>
            <a:chOff x="419100" y="2857500"/>
            <a:chExt cx="5467350" cy="2514600"/>
          </a:xfrm>
        </p:grpSpPr>
        <p:sp>
          <p:nvSpPr>
            <p:cNvPr id="13" name="Rectangle 13"/>
            <p:cNvSpPr/>
            <p:nvPr/>
          </p:nvSpPr>
          <p:spPr>
            <a:xfrm>
              <a:off x="419100" y="2857500"/>
              <a:ext cx="5467350" cy="25146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" y="2857500"/>
              <a:ext cx="38100" cy="251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0070" y="2976562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旧方案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2356" y="3529965"/>
              <a:ext cx="34472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消息数或 token 达到阈值后，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摘要较老消息，保留最近若干条。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2356" y="4463415"/>
              <a:ext cx="3218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能控制窗口增长，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但未区分内容价值与可恢复性。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67450" y="2857500"/>
            <a:ext cx="5505450" cy="2514600"/>
            <a:chOff x="6267450" y="2857500"/>
            <a:chExt cx="5505450" cy="2514600"/>
          </a:xfrm>
        </p:grpSpPr>
        <p:sp>
          <p:nvSpPr>
            <p:cNvPr id="19" name="Rectangle 19"/>
            <p:cNvSpPr/>
            <p:nvPr/>
          </p:nvSpPr>
          <p:spPr>
            <a:xfrm>
              <a:off x="6267450" y="2857500"/>
              <a:ext cx="5505450" cy="25146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267450" y="2857500"/>
              <a:ext cx="38100" cy="251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08420" y="2976562"/>
              <a:ext cx="274891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增量开发需要的历史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10706" y="3529965"/>
              <a:ext cx="32186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改过哪些文件、当前路由表、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函数签名、组件边界与状态流。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10706" y="4463415"/>
              <a:ext cx="29900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仅记住“做过登录页”，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不足以支撑下一轮工程决策。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" y="5553075"/>
            <a:ext cx="11353800" cy="647700"/>
            <a:chOff x="419100" y="5553075"/>
            <a:chExt cx="11353800" cy="647700"/>
          </a:xfrm>
        </p:grpSpPr>
        <p:sp>
          <p:nvSpPr>
            <p:cNvPr id="25" name="Rectangle 25"/>
            <p:cNvSpPr/>
            <p:nvPr/>
          </p:nvSpPr>
          <p:spPr>
            <a:xfrm>
              <a:off x="419100" y="5553075"/>
              <a:ext cx="11353800" cy="64770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19100" y="5553075"/>
              <a:ext cx="38100" cy="647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0832" y="5716905"/>
              <a:ext cx="652348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窗口控制必须同时保住工程状态与下一步决策依据。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5404" y="6461760"/>
            <a:ext cx="11374970" cy="234696"/>
            <a:chOff x="565404" y="6461760"/>
            <a:chExt cx="11374970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565404" y="6461760"/>
              <a:ext cx="1031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55653" y="6461760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背景与问题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压缩后出现的三类开发问题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19100" y="1438275"/>
            <a:ext cx="11353800" cy="1362075"/>
            <a:chOff x="419100" y="1438275"/>
            <a:chExt cx="11353800" cy="1362075"/>
          </a:xfrm>
        </p:grpSpPr>
        <p:sp>
          <p:nvSpPr>
            <p:cNvPr id="8" name="Rectangle 8"/>
            <p:cNvSpPr/>
            <p:nvPr/>
          </p:nvSpPr>
          <p:spPr>
            <a:xfrm>
              <a:off x="419100" y="1438275"/>
              <a:ext cx="11353800" cy="13620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38275"/>
              <a:ext cx="38100" cy="13620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5925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丢失路由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063115"/>
              <a:ext cx="3675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新页面未注册，或忘记已有路由。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根因：路由表状态在摘要后不可见。</a:t>
              </a:r>
            </a:p>
          </p:txBody>
        </p:sp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96150" y="1885950"/>
              <a:ext cx="4333875" cy="472630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419100" y="2924175"/>
            <a:ext cx="11353800" cy="1581150"/>
            <a:chOff x="419100" y="2924175"/>
            <a:chExt cx="11353800" cy="1581150"/>
          </a:xfrm>
        </p:grpSpPr>
        <p:sp>
          <p:nvSpPr>
            <p:cNvPr id="14" name="Rectangle 14"/>
            <p:cNvSpPr/>
            <p:nvPr/>
          </p:nvSpPr>
          <p:spPr>
            <a:xfrm>
              <a:off x="419100" y="2924175"/>
              <a:ext cx="11353800" cy="15811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19100" y="2924175"/>
              <a:ext cx="38100" cy="1581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0832" y="30880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调用幻觉函数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2356" y="3558540"/>
              <a:ext cx="34472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使用不存在的函数名或错误参数。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根因：接口契约只剩下模糊描述。</a:t>
              </a: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181850" y="3171825"/>
              <a:ext cx="4333875" cy="989362"/>
            </a:xfrm>
            <a:prstGeom prst="rect">
              <a:avLst/>
            </a:prstGeom>
          </p:spPr>
        </p:pic>
      </p:grpSp>
      <p:grpSp>
        <p:nvGrpSpPr>
          <p:cNvPr id="24" name="Group 24"/>
          <p:cNvGrpSpPr/>
          <p:nvPr/>
        </p:nvGrpSpPr>
        <p:grpSpPr>
          <a:xfrm>
            <a:off x="419100" y="4733925"/>
            <a:ext cx="11353800" cy="1371600"/>
            <a:chOff x="419100" y="4733925"/>
            <a:chExt cx="11353800" cy="1371600"/>
          </a:xfrm>
        </p:grpSpPr>
        <p:sp>
          <p:nvSpPr>
            <p:cNvPr id="20" name="Rectangle 20"/>
            <p:cNvSpPr/>
            <p:nvPr/>
          </p:nvSpPr>
          <p:spPr>
            <a:xfrm>
              <a:off x="419100" y="4733925"/>
              <a:ext cx="11353800" cy="13716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19100" y="4733925"/>
              <a:ext cx="38100" cy="1371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0832" y="4897755"/>
              <a:ext cx="143484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重写旧文件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2356" y="5368290"/>
              <a:ext cx="50474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对已有文件凭猜测修改，破坏结构或导出。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结果：构建失败、页面白屏，或新增能力未接上。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404" y="6461760"/>
            <a:ext cx="11374970" cy="234696"/>
            <a:chOff x="565404" y="6461760"/>
            <a:chExt cx="11374970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565404" y="6461760"/>
              <a:ext cx="3405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p1–2；两张原始报错截图完整保留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555653" y="6461760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01　背景与问题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61103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Memory 中的高体积可恢复内容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" y="1428750"/>
            <a:ext cx="11353800" cy="3028950"/>
            <a:chOff x="419100" y="1428750"/>
            <a:chExt cx="11353800" cy="3028950"/>
          </a:xfrm>
        </p:grpSpPr>
        <p:sp>
          <p:nvSpPr>
            <p:cNvPr id="8" name="Rectangle 8"/>
            <p:cNvSpPr/>
            <p:nvPr/>
          </p:nvSpPr>
          <p:spPr>
            <a:xfrm>
              <a:off x="419100" y="1428750"/>
              <a:ext cx="11353800" cy="30289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28750"/>
              <a:ext cx="38100" cy="3028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543050"/>
              <a:ext cx="11049000" cy="533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2856" y="170116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962656" y="1701165"/>
              <a:ext cx="1432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Buffer 总量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163056" y="1701165"/>
              <a:ext cx="18398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 token 大户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24060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第一次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62656" y="2406015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31 条 / 50,334 tokens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63056" y="2310765"/>
              <a:ext cx="345871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核心代码 18,629 tokens（37%）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页面文件 5,609 tokens（11%）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571500" y="3076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2856" y="3434715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962656" y="3434715"/>
              <a:ext cx="25504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31 条 / 29,817 tokens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163056" y="3339465"/>
              <a:ext cx="357301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Competitors.tsx：7,628 tokens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About.tsx：4,469 tokens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571500" y="423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19100" y="4600575"/>
            <a:ext cx="11353800" cy="1409700"/>
            <a:chOff x="419100" y="4600575"/>
            <a:chExt cx="11353800" cy="1409700"/>
          </a:xfrm>
        </p:grpSpPr>
        <p:sp>
          <p:nvSpPr>
            <p:cNvPr id="23" name="Rectangle 23"/>
            <p:cNvSpPr/>
            <p:nvPr/>
          </p:nvSpPr>
          <p:spPr>
            <a:xfrm>
              <a:off x="419100" y="4600575"/>
              <a:ext cx="11353800" cy="140970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" y="4600575"/>
              <a:ext cx="38100" cy="140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2356" y="4806315"/>
              <a:ext cx="6750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Editor.write 的完整代码已落盘，仍作为全文进入 Memory。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2356" y="5225415"/>
              <a:ext cx="80147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旧摘要保留意图、文件与状态，却缺少</a:t>
              </a:r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关键决策、工具记录、错误与修复</a:t>
              </a: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62356" y="5644515"/>
              <a:ext cx="8492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早期脚手架准则和 README 仍影响后续开发，不能只按消息年龄判断价值。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65404" y="6299835"/>
            <a:ext cx="11374970" cy="394216"/>
            <a:chOff x="565404" y="6299835"/>
            <a:chExt cx="11374970" cy="394216"/>
          </a:xfrm>
        </p:grpSpPr>
        <p:sp>
          <p:nvSpPr>
            <p:cNvPr id="29" name="TextBox 29"/>
            <p:cNvSpPr txBox="1"/>
            <p:nvPr/>
          </p:nvSpPr>
          <p:spPr>
            <a:xfrm>
              <a:off x="565404" y="6299835"/>
              <a:ext cx="63736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p2–3；第二次原文占比为 52% / 31%，分母未说明，此处保留 token 原值。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55653" y="6509385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设计思考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相关实践带来的设计启发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" y="1543050"/>
            <a:ext cx="5276850" cy="3562350"/>
            <a:chOff x="419100" y="1543050"/>
            <a:chExt cx="5276850" cy="3562350"/>
          </a:xfrm>
        </p:grpSpPr>
        <p:sp>
          <p:nvSpPr>
            <p:cNvPr id="8" name="Rectangle 8"/>
            <p:cNvSpPr/>
            <p:nvPr/>
          </p:nvSpPr>
          <p:spPr>
            <a:xfrm>
              <a:off x="419100" y="1543050"/>
              <a:ext cx="5276850" cy="35623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543050"/>
              <a:ext cx="38100" cy="3562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070" y="1747838"/>
              <a:ext cx="97169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Manus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396490"/>
              <a:ext cx="865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Reduce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27584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将旧信息变为引用或短摘要。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3301365"/>
              <a:ext cx="9929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Offload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56" y="3663315"/>
              <a:ext cx="38953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将长工具输出与资料沉入文件系统。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2356" y="4206240"/>
              <a:ext cx="877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Isolate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2356" y="45681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用子代理隔离不同任务上下文。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076950" y="1543050"/>
            <a:ext cx="5695950" cy="3562350"/>
            <a:chOff x="6076950" y="1543050"/>
            <a:chExt cx="5695950" cy="3562350"/>
          </a:xfrm>
        </p:grpSpPr>
        <p:sp>
          <p:nvSpPr>
            <p:cNvPr id="18" name="Rectangle 18"/>
            <p:cNvSpPr/>
            <p:nvPr/>
          </p:nvSpPr>
          <p:spPr>
            <a:xfrm>
              <a:off x="6076950" y="1543050"/>
              <a:ext cx="5695950" cy="35623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76950" y="1543050"/>
              <a:ext cx="38100" cy="3562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17920" y="1747838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Claude Code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20206" y="2386965"/>
              <a:ext cx="41153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MicroCompact：替换长工具返回值。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20206" y="2948940"/>
              <a:ext cx="4320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Session Memory：异步增量维护摘要。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20206" y="3510915"/>
              <a:ext cx="39882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 Memory：长期记忆渐进加载。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20206" y="4072890"/>
              <a:ext cx="3318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Auto Dream：整理已有记忆。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20206" y="4634865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完整轨迹写盘，为后续恢复保留入口。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9100" y="5362575"/>
            <a:ext cx="11353800" cy="781050"/>
            <a:chOff x="419100" y="5362575"/>
            <a:chExt cx="11353800" cy="781050"/>
          </a:xfrm>
        </p:grpSpPr>
        <p:sp>
          <p:nvSpPr>
            <p:cNvPr id="27" name="Rectangle 27"/>
            <p:cNvSpPr/>
            <p:nvPr/>
          </p:nvSpPr>
          <p:spPr>
            <a:xfrm>
              <a:off x="419100" y="5362575"/>
              <a:ext cx="11353800" cy="7810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19100" y="5362575"/>
              <a:ext cx="38100" cy="781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0832" y="5583555"/>
              <a:ext cx="57778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上下文保留“引用 + 小摘要”，细节按需回取。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5404" y="6461760"/>
            <a:ext cx="11374970" cy="234696"/>
            <a:chOff x="565404" y="6461760"/>
            <a:chExt cx="11374970" cy="234696"/>
          </a:xfrm>
        </p:grpSpPr>
        <p:sp>
          <p:nvSpPr>
            <p:cNvPr id="31" name="TextBox 31"/>
            <p:cNvSpPr txBox="1"/>
            <p:nvPr/>
          </p:nvSpPr>
          <p:spPr>
            <a:xfrm>
              <a:off x="565404" y="6461760"/>
              <a:ext cx="3111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p3；本页沿用 PDF 的调研描述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555653" y="6461760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9976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　设计思考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自适应压缩的设计原则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562100"/>
            <a:ext cx="5467350" cy="1352550"/>
            <a:chOff x="419100" y="1562100"/>
            <a:chExt cx="5467350" cy="1352550"/>
          </a:xfrm>
        </p:grpSpPr>
        <p:sp>
          <p:nvSpPr>
            <p:cNvPr id="8" name="Rectangle 8"/>
            <p:cNvSpPr/>
            <p:nvPr/>
          </p:nvSpPr>
          <p:spPr>
            <a:xfrm>
              <a:off x="419100" y="1562100"/>
              <a:ext cx="5467350" cy="13525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562100"/>
              <a:ext cx="38100" cy="1352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716405"/>
              <a:ext cx="2429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 token 压力触发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186940"/>
              <a:ext cx="3675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消息条数不能反映真实负载。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临近风险区再支付模型成本与延迟。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72200" y="1562100"/>
            <a:ext cx="5600700" cy="1352550"/>
            <a:chOff x="6172200" y="1562100"/>
            <a:chExt cx="5600700" cy="1352550"/>
          </a:xfrm>
        </p:grpSpPr>
        <p:sp>
          <p:nvSpPr>
            <p:cNvPr id="13" name="Rectangle 13"/>
            <p:cNvSpPr/>
            <p:nvPr/>
          </p:nvSpPr>
          <p:spPr>
            <a:xfrm>
              <a:off x="6172200" y="1562100"/>
              <a:ext cx="5600700" cy="13525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172200" y="1562100"/>
              <a:ext cx="38100" cy="1352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313932" y="17164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优先压缩可恢复细节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15456" y="2186940"/>
              <a:ext cx="3675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已写入磁盘的代码可通过路径重读。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网页资料也可保留 URL 作为入口。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" y="3200400"/>
            <a:ext cx="5467350" cy="1352550"/>
            <a:chOff x="419100" y="3200400"/>
            <a:chExt cx="5467350" cy="1352550"/>
          </a:xfrm>
        </p:grpSpPr>
        <p:sp>
          <p:nvSpPr>
            <p:cNvPr id="18" name="Rectangle 18"/>
            <p:cNvSpPr/>
            <p:nvPr/>
          </p:nvSpPr>
          <p:spPr>
            <a:xfrm>
              <a:off x="419100" y="3200400"/>
              <a:ext cx="5467350" cy="13525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3200400"/>
              <a:ext cx="38100" cy="1352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0832" y="335470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按语义类型保留信息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3825240"/>
              <a:ext cx="36758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代码保留接口，推理保留决策，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工具结果保留关键错误与执行状态。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172200" y="3200400"/>
            <a:ext cx="5600700" cy="1352550"/>
            <a:chOff x="6172200" y="3200400"/>
            <a:chExt cx="5600700" cy="1352550"/>
          </a:xfrm>
        </p:grpSpPr>
        <p:sp>
          <p:nvSpPr>
            <p:cNvPr id="23" name="Rectangle 23"/>
            <p:cNvSpPr/>
            <p:nvPr/>
          </p:nvSpPr>
          <p:spPr>
            <a:xfrm>
              <a:off x="6172200" y="3200400"/>
              <a:ext cx="5600700" cy="13525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172200" y="3200400"/>
              <a:ext cx="38100" cy="1352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13932" y="335470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保护最近上下文与长期依据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15456" y="3825240"/>
              <a:ext cx="3218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保留当前工具反馈、任务进度，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也保护早期脚手架使用准则。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19100" y="4914900"/>
            <a:ext cx="11353800" cy="1219200"/>
            <a:chOff x="419100" y="4914900"/>
            <a:chExt cx="11353800" cy="1219200"/>
          </a:xfrm>
        </p:grpSpPr>
        <p:sp>
          <p:nvSpPr>
            <p:cNvPr id="28" name="Rectangle 28"/>
            <p:cNvSpPr/>
            <p:nvPr/>
          </p:nvSpPr>
          <p:spPr>
            <a:xfrm>
              <a:off x="419100" y="4914900"/>
              <a:ext cx="11353800" cy="121920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19100" y="4914900"/>
              <a:ext cx="38100" cy="1219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60070" y="5072062"/>
              <a:ext cx="3960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局部压缩优先，整体摘要兜底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2356" y="5596890"/>
              <a:ext cx="7530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局部替换保留消息顺序与恢复入口，只有收益不足时才合并历史消息。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404" y="6461760"/>
            <a:ext cx="11374970" cy="234696"/>
            <a:chOff x="565404" y="6461760"/>
            <a:chExt cx="11374970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565404" y="6461760"/>
              <a:ext cx="508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p3–4；原文将记忆可观测列为思考项，未作为本项目重点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55653" y="6461760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27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已上线方案的完整流程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466850"/>
            <a:ext cx="8096250" cy="4838700"/>
            <a:chOff x="533400" y="1466850"/>
            <a:chExt cx="8096250" cy="4838700"/>
          </a:xfrm>
        </p:grpSpPr>
        <p:sp>
          <p:nvSpPr>
            <p:cNvPr id="8" name="Rectangle 8"/>
            <p:cNvSpPr/>
            <p:nvPr/>
          </p:nvSpPr>
          <p:spPr>
            <a:xfrm>
              <a:off x="533400" y="1466850"/>
              <a:ext cx="8096250" cy="48387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504950"/>
              <a:ext cx="8020050" cy="4761928"/>
            </a:xfrm>
            <a:prstGeom prst="rect">
              <a:avLst/>
            </a:prstGeom>
          </p:spPr>
        </p:pic>
      </p:grpSp>
      <p:grpSp>
        <p:nvGrpSpPr>
          <p:cNvPr id="19" name="Group 19"/>
          <p:cNvGrpSpPr/>
          <p:nvPr/>
        </p:nvGrpSpPr>
        <p:grpSpPr>
          <a:xfrm>
            <a:off x="8877300" y="1495425"/>
            <a:ext cx="2895600" cy="4581525"/>
            <a:chOff x="8877300" y="1495425"/>
            <a:chExt cx="2895600" cy="4581525"/>
          </a:xfrm>
        </p:grpSpPr>
        <p:sp>
          <p:nvSpPr>
            <p:cNvPr id="11" name="Rectangle 11"/>
            <p:cNvSpPr/>
            <p:nvPr/>
          </p:nvSpPr>
          <p:spPr>
            <a:xfrm>
              <a:off x="8877300" y="1495425"/>
              <a:ext cx="2895600" cy="45815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877300" y="1495425"/>
              <a:ext cx="38100" cy="4581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19032" y="16687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触发检查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20556" y="2139315"/>
              <a:ext cx="228142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在 _think() 前，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检测 Buffer 使用率。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19032" y="30022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局部压缩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20556" y="3472815"/>
              <a:ext cx="18470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先筛选候选，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逐条压缩并复算。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19032" y="46786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整体摘要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20556" y="5149215"/>
              <a:ext cx="20756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局部收益不足时，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合并旧消息并回写。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65404" y="6509385"/>
            <a:ext cx="11374970" cy="234696"/>
            <a:chOff x="565404" y="6509385"/>
            <a:chExt cx="11374970" cy="234696"/>
          </a:xfrm>
        </p:grpSpPr>
        <p:sp>
          <p:nvSpPr>
            <p:cNvPr id="20" name="TextBox 20"/>
            <p:cNvSpPr txBox="1"/>
            <p:nvPr/>
          </p:nvSpPr>
          <p:spPr>
            <a:xfrm>
              <a:off x="565404" y="6509385"/>
              <a:ext cx="1873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p4；完整原图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55653" y="6509385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7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触发入口与默认预算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419225"/>
            <a:ext cx="11353800" cy="1638300"/>
            <a:chOff x="419100" y="1419225"/>
            <a:chExt cx="11353800" cy="1638300"/>
          </a:xfrm>
        </p:grpSpPr>
        <p:sp>
          <p:nvSpPr>
            <p:cNvPr id="8" name="Rectangle 8"/>
            <p:cNvSpPr/>
            <p:nvPr/>
          </p:nvSpPr>
          <p:spPr>
            <a:xfrm>
              <a:off x="419100" y="1419225"/>
              <a:ext cx="11353800" cy="1638300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19225"/>
              <a:ext cx="38100" cy="1638300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71500" y="1533525"/>
              <a:ext cx="11049000" cy="1400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3618" y="1764982"/>
              <a:ext cx="7581519" cy="9704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if self.config.role_zero.enable_compressable_memory: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await self.rc.memory.compress(extra_context=super()._get_prefix())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memory = self.rc.memory.get(self.memory_k)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" y="3219450"/>
            <a:ext cx="11353800" cy="1276350"/>
            <a:chOff x="419100" y="3219450"/>
            <a:chExt cx="11353800" cy="1276350"/>
          </a:xfrm>
        </p:grpSpPr>
        <p:sp>
          <p:nvSpPr>
            <p:cNvPr id="13" name="Rectangle 13"/>
            <p:cNvSpPr/>
            <p:nvPr/>
          </p:nvSpPr>
          <p:spPr>
            <a:xfrm>
              <a:off x="419100" y="3219450"/>
              <a:ext cx="11353800" cy="12763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" y="3219450"/>
              <a:ext cx="38100" cy="1276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0070" y="3405188"/>
              <a:ext cx="691220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有效窗口：128,000 − 15,000 = 113,000 tokens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62356" y="4006215"/>
              <a:ext cx="91445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max_context_tokens 预留 system prompt 后，按有效窗口计算 Memory 使用率。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" y="4657725"/>
            <a:ext cx="5372100" cy="1323975"/>
            <a:chOff x="419100" y="4657725"/>
            <a:chExt cx="5372100" cy="1323975"/>
          </a:xfrm>
        </p:grpSpPr>
        <p:sp>
          <p:nvSpPr>
            <p:cNvPr id="18" name="Rectangle 18"/>
            <p:cNvSpPr/>
            <p:nvPr/>
          </p:nvSpPr>
          <p:spPr>
            <a:xfrm>
              <a:off x="419100" y="4657725"/>
              <a:ext cx="5372100" cy="13239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4657725"/>
              <a:ext cx="38100" cy="1323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450" y="4787265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80%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5615940"/>
              <a:ext cx="3216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触发阈值，约 90,400 tokens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10300" y="4657725"/>
            <a:ext cx="5562600" cy="1323975"/>
            <a:chOff x="6210300" y="4657725"/>
            <a:chExt cx="5562600" cy="1323975"/>
          </a:xfrm>
        </p:grpSpPr>
        <p:sp>
          <p:nvSpPr>
            <p:cNvPr id="23" name="Rectangle 23"/>
            <p:cNvSpPr/>
            <p:nvPr/>
          </p:nvSpPr>
          <p:spPr>
            <a:xfrm>
              <a:off x="6210300" y="4657725"/>
              <a:ext cx="5562600" cy="13239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210300" y="4657725"/>
              <a:ext cx="38100" cy="13239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43650" y="4787265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3556" y="5615940"/>
              <a:ext cx="321685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早停目标，约 56,500 tokens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5404" y="6366510"/>
            <a:ext cx="11374970" cy="327541"/>
            <a:chOff x="565404" y="6366510"/>
            <a:chExt cx="11374970" cy="327541"/>
          </a:xfrm>
        </p:grpSpPr>
        <p:sp>
          <p:nvSpPr>
            <p:cNvPr id="28" name="TextBox 28"/>
            <p:cNvSpPr txBox="1"/>
            <p:nvPr/>
          </p:nvSpPr>
          <p:spPr>
            <a:xfrm>
              <a:off x="565404" y="6366510"/>
              <a:ext cx="50087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p5；compress_model_name = gpt-4o-mini（原文配置）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55653" y="6509385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601834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Compaction 的候选选择与早停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9100" y="1514475"/>
            <a:ext cx="6991350" cy="3552825"/>
            <a:chOff x="419100" y="1514475"/>
            <a:chExt cx="6991350" cy="3552825"/>
          </a:xfrm>
        </p:grpSpPr>
        <p:sp>
          <p:nvSpPr>
            <p:cNvPr id="8" name="Rectangle 8"/>
            <p:cNvSpPr/>
            <p:nvPr/>
          </p:nvSpPr>
          <p:spPr>
            <a:xfrm>
              <a:off x="419100" y="1514475"/>
              <a:ext cx="6991350" cy="35528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514475"/>
              <a:ext cx="38100" cy="35528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1720215"/>
              <a:ext cx="54098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　拆分可压缩区与保护区，最近 8 条原样保留。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348865"/>
              <a:ext cx="31926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　逐条计算可压缩性分数。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2977515"/>
              <a:ext cx="53734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　按分数与长度排序，优先处理收益高的消息。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3606165"/>
              <a:ext cx="46465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　替换大块内容，保持消息条数与顺序。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56" y="4234815"/>
              <a:ext cx="36772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　每压完一条重新计算使用率。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62850" y="1514475"/>
            <a:ext cx="4210050" cy="3533775"/>
            <a:chOff x="7562850" y="1514475"/>
            <a:chExt cx="4210050" cy="3533775"/>
          </a:xfrm>
        </p:grpSpPr>
        <p:sp>
          <p:nvSpPr>
            <p:cNvPr id="16" name="Rectangle 16"/>
            <p:cNvSpPr/>
            <p:nvPr/>
          </p:nvSpPr>
          <p:spPr>
            <a:xfrm>
              <a:off x="7562850" y="1514475"/>
              <a:ext cx="4210050" cy="35337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562850" y="1514475"/>
              <a:ext cx="38100" cy="35337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96200" y="1653540"/>
              <a:ext cx="129329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06106" y="2472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达到目标即可停止。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96200" y="3148965"/>
              <a:ext cx="92013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06106" y="3968115"/>
              <a:ext cx="288721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整体压缩收益门槛。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低于门槛时切换 Summary。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" y="5295900"/>
            <a:ext cx="11353800" cy="895350"/>
            <a:chOff x="419100" y="5295900"/>
            <a:chExt cx="11353800" cy="895350"/>
          </a:xfrm>
        </p:grpSpPr>
        <p:sp>
          <p:nvSpPr>
            <p:cNvPr id="23" name="Rectangle 23"/>
            <p:cNvSpPr/>
            <p:nvPr/>
          </p:nvSpPr>
          <p:spPr>
            <a:xfrm>
              <a:off x="419100" y="5295900"/>
              <a:ext cx="11353800" cy="8953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" y="5295900"/>
              <a:ext cx="38100" cy="895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0832" y="5469255"/>
              <a:ext cx="6797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没有候选，或局部释放空间太少，都进入 Summary。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3880" y="5857875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50% 是早停目标，不能保证每一次局部压缩都达到。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5404" y="6461760"/>
            <a:ext cx="11374970" cy="234696"/>
            <a:chOff x="565404" y="6461760"/>
            <a:chExt cx="11374970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65404" y="6461760"/>
              <a:ext cx="1216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p5–7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55653" y="6461760"/>
              <a:ext cx="3847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9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 · 压缩样例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代码压缩：保留恢复入口与接口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419225"/>
            <a:ext cx="11353800" cy="962025"/>
            <a:chOff x="419100" y="1419225"/>
            <a:chExt cx="11353800" cy="962025"/>
          </a:xfrm>
        </p:grpSpPr>
        <p:sp>
          <p:nvSpPr>
            <p:cNvPr id="8" name="Rectangle 8"/>
            <p:cNvSpPr/>
            <p:nvPr/>
          </p:nvSpPr>
          <p:spPr>
            <a:xfrm>
              <a:off x="419100" y="1419225"/>
              <a:ext cx="11353800" cy="9620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19225"/>
              <a:ext cx="38100" cy="9620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554480"/>
              <a:ext cx="511626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原始消息：Editor.write 的完整代码块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005965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实现已写入磁盘，历史窗口只需保留文件路径、用途与导出签名。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" y="2628900"/>
            <a:ext cx="11353800" cy="2200275"/>
            <a:chOff x="419100" y="2628900"/>
            <a:chExt cx="11353800" cy="2200275"/>
          </a:xfrm>
        </p:grpSpPr>
        <p:sp>
          <p:nvSpPr>
            <p:cNvPr id="13" name="Rectangle 13"/>
            <p:cNvSpPr/>
            <p:nvPr/>
          </p:nvSpPr>
          <p:spPr>
            <a:xfrm>
              <a:off x="419100" y="2628900"/>
              <a:ext cx="11353800" cy="2200275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" y="2628900"/>
              <a:ext cx="38100" cy="2200275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743200"/>
              <a:ext cx="11049000" cy="19621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72668" y="3003232"/>
              <a:ext cx="6030849" cy="15228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15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[FILE_WRITTEN: shadcn-ui/src/pages/SchedulePublish.tsx]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Purpose: Schedule publishing page with conflict detection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Exports: SchedulePublish(): JSX.Element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[/FILE_WRITTEN]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19100" y="5133975"/>
            <a:ext cx="11353800" cy="1009650"/>
            <a:chOff x="419100" y="5133975"/>
            <a:chExt cx="11353800" cy="1009650"/>
          </a:xfrm>
        </p:grpSpPr>
        <p:sp>
          <p:nvSpPr>
            <p:cNvPr id="18" name="Rectangle 18"/>
            <p:cNvSpPr/>
            <p:nvPr/>
          </p:nvSpPr>
          <p:spPr>
            <a:xfrm>
              <a:off x="419100" y="5133975"/>
              <a:ext cx="11353800" cy="10096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5133975"/>
              <a:ext cx="38100" cy="1009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0832" y="5297805"/>
              <a:ext cx="603459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需要细节时，调用 Editor.read(path) 重读。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5787390"/>
              <a:ext cx="75058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另一种标记形式为 &lt;compressed path="..."&gt;，同样保留恢复入口。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461760"/>
            <a:ext cx="11290012" cy="234696"/>
            <a:chOff x="565404" y="6461760"/>
            <a:chExt cx="11290012" cy="234696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6461760"/>
              <a:ext cx="2883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p6；保留原始压缩产物示例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385737" y="6461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10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 · 压缩样例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推理压缩：保留决策与不变量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390650"/>
            <a:ext cx="11353800" cy="1057275"/>
            <a:chOff x="419100" y="1390650"/>
            <a:chExt cx="11353800" cy="1057275"/>
          </a:xfrm>
        </p:grpSpPr>
        <p:sp>
          <p:nvSpPr>
            <p:cNvPr id="8" name="Rectangle 8"/>
            <p:cNvSpPr/>
            <p:nvPr/>
          </p:nvSpPr>
          <p:spPr>
            <a:xfrm>
              <a:off x="419100" y="1390650"/>
              <a:ext cx="11353800" cy="10572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390650"/>
              <a:ext cx="38100" cy="10572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55448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原始消息：智能排班系统第二轮开发的长篇说明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0154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压缩后保留约束、冲突处置、接口字段与状态流。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" y="2581275"/>
            <a:ext cx="11353800" cy="2962275"/>
            <a:chOff x="419100" y="2581275"/>
            <a:chExt cx="11353800" cy="2962275"/>
          </a:xfrm>
        </p:grpSpPr>
        <p:sp>
          <p:nvSpPr>
            <p:cNvPr id="13" name="Rectangle 13"/>
            <p:cNvSpPr/>
            <p:nvPr/>
          </p:nvSpPr>
          <p:spPr>
            <a:xfrm>
              <a:off x="419100" y="2581275"/>
              <a:ext cx="11353800" cy="2962275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" y="2581275"/>
              <a:ext cx="38100" cy="2962275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2695575"/>
              <a:ext cx="11049000" cy="2733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2917508"/>
              <a:ext cx="6188012" cy="24372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75"/>
                </a:lnSpc>
              </a:pPr>
              <a:r>
                <a:rPr lang="zh-CN" sz="16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[AI Reasoning Compressed]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自动排班算法完成。硬约束：可用性 / 门店 / 技能 / 状态。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软约束：工时 / 休息 / 连续天数 / 公平。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6 种冲突（duplicate_schedule、leave_conflict 等）。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error 级阻止发布，warning 可确认后发布。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状态流：draft → published → confirmed，另有 cancelled 分支。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不变量 1 / 4 / 5 已验证。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9100" y="5591175"/>
            <a:ext cx="11353800" cy="771525"/>
            <a:chOff x="419100" y="5591175"/>
            <a:chExt cx="11353800" cy="771525"/>
          </a:xfrm>
        </p:grpSpPr>
        <p:sp>
          <p:nvSpPr>
            <p:cNvPr id="18" name="Rectangle 18"/>
            <p:cNvSpPr/>
            <p:nvPr/>
          </p:nvSpPr>
          <p:spPr>
            <a:xfrm>
              <a:off x="419100" y="5591175"/>
              <a:ext cx="11353800" cy="771525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5591175"/>
              <a:ext cx="38100" cy="771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3880" y="5734050"/>
              <a:ext cx="81114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ScheduleTemplate：id、name、locationId、departmentId?、description?、schedules[]、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createdBy、createdAt。接口契约继续留在上下文中。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5404" y="6509385"/>
            <a:ext cx="11301426" cy="234696"/>
            <a:chOff x="565404" y="6509385"/>
            <a:chExt cx="11301426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6509385"/>
              <a:ext cx="23950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p6–7；原文示例整理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408564" y="6509385"/>
              <a:ext cx="45826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11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991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 · 压缩样例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工具输出压缩：保留结果与错误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19100" y="1447800"/>
            <a:ext cx="11353800" cy="1790700"/>
            <a:chOff x="419100" y="1447800"/>
            <a:chExt cx="11353800" cy="1790700"/>
          </a:xfrm>
        </p:grpSpPr>
        <p:sp>
          <p:nvSpPr>
            <p:cNvPr id="8" name="Rectangle 8"/>
            <p:cNvSpPr/>
            <p:nvPr/>
          </p:nvSpPr>
          <p:spPr>
            <a:xfrm>
              <a:off x="419100" y="1447800"/>
              <a:ext cx="11353800" cy="17907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47800"/>
              <a:ext cx="38100" cy="1790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602105"/>
              <a:ext cx="645422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原始输出：pnpm install + build，约 3,000+ 字符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120265"/>
              <a:ext cx="713917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Lockfile 信息、430 个新增包、60+ 项依赖清单、2,574 个转换模块，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以及 dist 产物与构建耗时。大部分日志不影响下一步决策。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9100" y="3286125"/>
            <a:ext cx="11353800" cy="2171700"/>
            <a:chOff x="419100" y="3286125"/>
            <a:chExt cx="11353800" cy="2171700"/>
          </a:xfrm>
        </p:grpSpPr>
        <p:sp>
          <p:nvSpPr>
            <p:cNvPr id="13" name="Rectangle 13"/>
            <p:cNvSpPr/>
            <p:nvPr/>
          </p:nvSpPr>
          <p:spPr>
            <a:xfrm>
              <a:off x="419100" y="3286125"/>
              <a:ext cx="11353800" cy="2171700"/>
            </a:xfrm>
            <a:prstGeom prst="rect">
              <a:avLst/>
            </a:prstGeom>
            <a:solidFill>
              <a:schemeClr val="accent1"/>
            </a:solidFill>
            <a:ln w="11430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19100" y="3286125"/>
              <a:ext cx="38100" cy="2171700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1500" y="3400425"/>
              <a:ext cx="11049000" cy="1943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3679508"/>
              <a:ext cx="6858572" cy="1465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[Compressed] pnpm install 完成（+430 packages），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pnpm run build 成功。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dist: index.html 0.75 kB, index.css 62.29 kB, index.js 487.42 kB。</a:t>
              </a:r>
              <a:br/>
              <a:r>
                <a:rPr lang="zh-CN" sz="16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构建耗时 4.21 s。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19100" y="5543550"/>
            <a:ext cx="11353800" cy="666750"/>
            <a:chOff x="419100" y="5543550"/>
            <a:chExt cx="11353800" cy="666750"/>
          </a:xfrm>
        </p:grpSpPr>
        <p:sp>
          <p:nvSpPr>
            <p:cNvPr id="18" name="Rectangle 18"/>
            <p:cNvSpPr/>
            <p:nvPr/>
          </p:nvSpPr>
          <p:spPr>
            <a:xfrm>
              <a:off x="419100" y="5543550"/>
              <a:ext cx="11353800" cy="6667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19100" y="5543550"/>
              <a:ext cx="38100" cy="666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0832" y="5716905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保留运行状态、关键错误、产物大小与耗时。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5404" y="6461760"/>
            <a:ext cx="11290012" cy="234696"/>
            <a:chOff x="565404" y="6461760"/>
            <a:chExt cx="1129001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6461760"/>
              <a:ext cx="37546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p7；也可使用 &lt;tool_compressed&gt; 标记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5737" y="6461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12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06667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Summary 的增量摘要契约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19100" y="1504950"/>
            <a:ext cx="5562600" cy="3514725"/>
            <a:chOff x="419100" y="1504950"/>
            <a:chExt cx="5562600" cy="3514725"/>
          </a:xfrm>
        </p:grpSpPr>
        <p:sp>
          <p:nvSpPr>
            <p:cNvPr id="8" name="Rectangle 8"/>
            <p:cNvSpPr/>
            <p:nvPr/>
          </p:nvSpPr>
          <p:spPr>
            <a:xfrm>
              <a:off x="419100" y="1504950"/>
              <a:ext cx="5562600" cy="35147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504950"/>
              <a:ext cx="38100" cy="3514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678305"/>
              <a:ext cx="397916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局部收益不足时，合并更早历史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282190"/>
              <a:ext cx="35803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保护范围扩大到最近 16 条消息。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2872740"/>
              <a:ext cx="397306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已有历史 Summary 作为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prev_summary 输入，继续增量摘要。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3768090"/>
              <a:ext cx="310438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旧消息合并为一条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[SUMMARY of N messages]。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504950"/>
            <a:ext cx="5467350" cy="3514725"/>
            <a:chOff x="6305550" y="1504950"/>
            <a:chExt cx="5467350" cy="3514725"/>
          </a:xfrm>
        </p:grpSpPr>
        <p:sp>
          <p:nvSpPr>
            <p:cNvPr id="15" name="Rectangle 15"/>
            <p:cNvSpPr/>
            <p:nvPr/>
          </p:nvSpPr>
          <p:spPr>
            <a:xfrm>
              <a:off x="6305550" y="1504950"/>
              <a:ext cx="5467350" cy="35147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05550" y="1504950"/>
              <a:ext cx="38100" cy="3514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47282" y="167830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摘要必须保留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48806" y="2282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用户需求、项目背景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48806" y="2872740"/>
              <a:ext cx="28945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文件修改、API Contracts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48806" y="3463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关键决策、完成任务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48806" y="40538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未解决问题、下一步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" y="5257800"/>
            <a:ext cx="11353800" cy="952500"/>
            <a:chOff x="419100" y="5257800"/>
            <a:chExt cx="11353800" cy="952500"/>
          </a:xfrm>
        </p:grpSpPr>
        <p:sp>
          <p:nvSpPr>
            <p:cNvPr id="23" name="Rectangle 23"/>
            <p:cNvSpPr/>
            <p:nvPr/>
          </p:nvSpPr>
          <p:spPr>
            <a:xfrm>
              <a:off x="419100" y="5257800"/>
              <a:ext cx="11353800" cy="95250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9100" y="5257800"/>
              <a:ext cx="3810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0832" y="542163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整体摘要会丢失原文，因而推迟到真正需要时。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3880" y="5867400"/>
              <a:ext cx="70928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释放空间更快，但 trace、错误栈、函数参数与工具细节可能无法从摘要恢复。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5404" y="6461760"/>
            <a:ext cx="11290012" cy="234696"/>
            <a:chOff x="565404" y="6461760"/>
            <a:chExt cx="11290012" cy="234696"/>
          </a:xfrm>
        </p:grpSpPr>
        <p:sp>
          <p:nvSpPr>
            <p:cNvPr id="28" name="TextBox 28"/>
            <p:cNvSpPr txBox="1"/>
            <p:nvPr/>
          </p:nvSpPr>
          <p:spPr>
            <a:xfrm>
              <a:off x="565404" y="6461760"/>
              <a:ext cx="155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p2、p7–8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85737" y="6461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13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1591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　已上线机制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时间保护与骨架文件保护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19100" y="1762125"/>
            <a:ext cx="5372100" cy="2514600"/>
            <a:chOff x="419100" y="1762125"/>
            <a:chExt cx="5372100" cy="2514600"/>
          </a:xfrm>
        </p:grpSpPr>
        <p:sp>
          <p:nvSpPr>
            <p:cNvPr id="8" name="Rectangle 8"/>
            <p:cNvSpPr/>
            <p:nvPr/>
          </p:nvSpPr>
          <p:spPr>
            <a:xfrm>
              <a:off x="419100" y="1762125"/>
              <a:ext cx="5372100" cy="25146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762125"/>
              <a:ext cx="38100" cy="251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070" y="1909762"/>
              <a:ext cx="305181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保住当前任务的连续性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2450" y="2567940"/>
              <a:ext cx="193785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 / 16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3434715"/>
              <a:ext cx="296722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Compaction 最近 8 条不动。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Summary 最近 16 条不动。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076950" y="1762125"/>
            <a:ext cx="5695950" cy="2514600"/>
            <a:chOff x="6076950" y="1762125"/>
            <a:chExt cx="5695950" cy="2514600"/>
          </a:xfrm>
        </p:grpSpPr>
        <p:sp>
          <p:nvSpPr>
            <p:cNvPr id="14" name="Rectangle 14"/>
            <p:cNvSpPr/>
            <p:nvPr/>
          </p:nvSpPr>
          <p:spPr>
            <a:xfrm>
              <a:off x="6076950" y="1762125"/>
              <a:ext cx="5695950" cy="25146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076950" y="1762125"/>
              <a:ext cx="38100" cy="251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17920" y="190976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保住长期工程依据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20206" y="2606040"/>
              <a:ext cx="25995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todo.md、README.md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220206" y="3158490"/>
              <a:ext cx="33226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requirements.txt、App.tsx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20206" y="3710940"/>
              <a:ext cx="18685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Layout、router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9100" y="4848225"/>
            <a:ext cx="11353800" cy="1238250"/>
            <a:chOff x="419100" y="4848225"/>
            <a:chExt cx="1135380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19100" y="4848225"/>
              <a:ext cx="11353800" cy="123825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100" y="4848225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0070" y="5033962"/>
              <a:ext cx="36576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消息年龄不等于信息价值。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62356" y="5625465"/>
              <a:ext cx="89839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早期加载的脚手架规则可能持续约束开发，保护它们有助于避免丢路由与重复创建。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65404" y="6461760"/>
            <a:ext cx="11290012" cy="234696"/>
            <a:chOff x="565404" y="6461760"/>
            <a:chExt cx="11290012" cy="234696"/>
          </a:xfrm>
        </p:grpSpPr>
        <p:sp>
          <p:nvSpPr>
            <p:cNvPr id="26" name="TextBox 26"/>
            <p:cNvSpPr txBox="1"/>
            <p:nvPr/>
          </p:nvSpPr>
          <p:spPr>
            <a:xfrm>
              <a:off x="565404" y="6461760"/>
              <a:ext cx="3210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p2、p8；已上线方案的保护规则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85737" y="6461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总体实验：成本与完成度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600200"/>
            <a:ext cx="11125200" cy="2667000"/>
            <a:chOff x="533400" y="1600200"/>
            <a:chExt cx="11125200" cy="2667000"/>
          </a:xfrm>
        </p:grpSpPr>
        <p:sp>
          <p:nvSpPr>
            <p:cNvPr id="8" name="Rectangle 8"/>
            <p:cNvSpPr/>
            <p:nvPr/>
          </p:nvSpPr>
          <p:spPr>
            <a:xfrm>
              <a:off x="533400" y="1600200"/>
              <a:ext cx="11125200" cy="26670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638300"/>
              <a:ext cx="11049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1834515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91456" y="183451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平均单轮成本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4256" y="1834515"/>
              <a:ext cx="27372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完成度 / Score（原文）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2856" y="2529840"/>
              <a:ext cx="963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06111" y="25298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1.84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868586" y="25298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1.56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571500" y="29622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2856" y="3177540"/>
              <a:ext cx="14600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压缩阈值 0.6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306111" y="31775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1.24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868586" y="3177540"/>
              <a:ext cx="5513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1.56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" y="36099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2856" y="3825240"/>
              <a:ext cx="14836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压缩阈值 0.8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79456" y="38252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1.72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841931" y="3825240"/>
              <a:ext cx="5780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1.88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71500" y="42195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19100" y="4495800"/>
            <a:ext cx="11353800" cy="1257300"/>
            <a:chOff x="419100" y="4495800"/>
            <a:chExt cx="11353800" cy="1257300"/>
          </a:xfrm>
        </p:grpSpPr>
        <p:sp>
          <p:nvSpPr>
            <p:cNvPr id="26" name="Rectangle 26"/>
            <p:cNvSpPr/>
            <p:nvPr/>
          </p:nvSpPr>
          <p:spPr>
            <a:xfrm>
              <a:off x="419100" y="4495800"/>
              <a:ext cx="11353800" cy="1257300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19100" y="4495800"/>
              <a:ext cx="38100" cy="1257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0832" y="4669155"/>
              <a:ext cx="626763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0.6 更省成本，0.8 在原文总体表中完成度更高。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62356" y="5196840"/>
              <a:ext cx="68394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0.8 的成本略低于 baseline，原文据此选择较晚触发作为折中。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5404" y="5909310"/>
            <a:ext cx="3265317" cy="184666"/>
            <a:chOff x="565404" y="5909310"/>
            <a:chExt cx="3265317" cy="184666"/>
          </a:xfrm>
        </p:grpSpPr>
        <p:sp>
          <p:nvSpPr>
            <p:cNvPr id="31" name="TextBox 31"/>
            <p:cNvSpPr txBox="1"/>
            <p:nvPr/>
          </p:nvSpPr>
          <p:spPr>
            <a:xfrm>
              <a:off x="565404" y="5909310"/>
              <a:ext cx="32653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200" dirty="0"/>
                <a:t>（</a:t>
              </a:r>
              <a:r>
                <a:rPr lang="en-US" altLang="zh-CN" sz="1200" dirty="0"/>
                <a:t>0</a:t>
              </a:r>
              <a:r>
                <a:rPr lang="zh-CN" altLang="en-US" sz="1200" dirty="0"/>
                <a:t>：失败</a:t>
              </a:r>
              <a:r>
                <a:rPr lang="en-US" altLang="zh-CN" sz="1200" dirty="0"/>
                <a:t>/1</a:t>
              </a:r>
              <a:r>
                <a:rPr lang="zh-CN" altLang="en-US" sz="1200" dirty="0"/>
                <a:t>：部分开发成功</a:t>
              </a:r>
              <a:r>
                <a:rPr lang="en-US" altLang="zh-CN" sz="1200" dirty="0"/>
                <a:t>/2</a:t>
              </a:r>
              <a:r>
                <a:rPr lang="zh-CN" altLang="en-US" sz="1200" dirty="0"/>
                <a:t>：全部开发成功）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65404" y="6509385"/>
            <a:ext cx="11290012" cy="234696"/>
            <a:chOff x="565404" y="6509385"/>
            <a:chExt cx="1129001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565404" y="6509385"/>
              <a:ext cx="10310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85737" y="650938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3067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三个 Case 的实验明细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1552575"/>
            <a:ext cx="11125200" cy="2695575"/>
            <a:chOff x="533400" y="1552575"/>
            <a:chExt cx="11125200" cy="2695575"/>
          </a:xfrm>
        </p:grpSpPr>
        <p:sp>
          <p:nvSpPr>
            <p:cNvPr id="8" name="Rectangle 8"/>
            <p:cNvSpPr/>
            <p:nvPr/>
          </p:nvSpPr>
          <p:spPr>
            <a:xfrm>
              <a:off x="533400" y="1552575"/>
              <a:ext cx="11125200" cy="26955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571500" y="1590675"/>
              <a:ext cx="11049000" cy="571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2856" y="17678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69357" y="1767840"/>
              <a:ext cx="8052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Case 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12557" y="1767840"/>
              <a:ext cx="8052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Case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74807" y="1767840"/>
              <a:ext cx="8052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Case 3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2856" y="2463165"/>
              <a:ext cx="9633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890429" y="24631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1.44 / 1.60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33629" y="24631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1.73 / 1.40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395879" y="24631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1.94 / 1.50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571500" y="29622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2856" y="3148965"/>
              <a:ext cx="9754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 0.6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90429" y="31489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0.96 / 1.40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33629" y="31489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1.26 / 1.80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5879" y="3148965"/>
              <a:ext cx="13631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1.45 / 2.00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71500" y="36480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52856" y="3834765"/>
              <a:ext cx="9990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阈值 0.8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56808" y="3834765"/>
              <a:ext cx="1430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1.47 / 1.83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600008" y="3834765"/>
              <a:ext cx="1430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1.62 / 2.00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62258" y="3834765"/>
              <a:ext cx="1430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2.08 / 1.83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71500" y="42291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19100" y="4552950"/>
            <a:ext cx="11353800" cy="1152525"/>
            <a:chOff x="419100" y="4552950"/>
            <a:chExt cx="11353800" cy="1152525"/>
          </a:xfrm>
        </p:grpSpPr>
        <p:sp>
          <p:nvSpPr>
            <p:cNvPr id="30" name="Rectangle 30"/>
            <p:cNvSpPr/>
            <p:nvPr/>
          </p:nvSpPr>
          <p:spPr>
            <a:xfrm>
              <a:off x="419100" y="4552950"/>
              <a:ext cx="11353800" cy="1152525"/>
            </a:xfrm>
            <a:prstGeom prst="rect">
              <a:avLst/>
            </a:prstGeom>
            <a:solidFill>
              <a:srgbClr val="E8F3F2"/>
            </a:solidFill>
            <a:ln w="11430">
              <a:solidFill>
                <a:srgbClr val="E8F3F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19100" y="4552950"/>
              <a:ext cx="38100" cy="11525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0832" y="4707255"/>
              <a:ext cx="691682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阈值 0.8 的 Score 在三个 Case 中均高于 baseline。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356" y="5234940"/>
              <a:ext cx="6161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Case 1 与 Case 3 的成本也更高，个案表现仍存在差异。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63880" y="5953125"/>
            <a:ext cx="7253478" cy="293370"/>
            <a:chOff x="563880" y="5953125"/>
            <a:chExt cx="7253478" cy="293370"/>
          </a:xfrm>
        </p:grpSpPr>
        <p:sp>
          <p:nvSpPr>
            <p:cNvPr id="35" name="TextBox 35"/>
            <p:cNvSpPr txBox="1"/>
            <p:nvPr/>
          </p:nvSpPr>
          <p:spPr>
            <a:xfrm>
              <a:off x="563880" y="5953125"/>
              <a:ext cx="725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单元格为 Cost / Score；总体表与明细表聚合口径未说明，不按同一范围重算。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65404" y="6461760"/>
            <a:ext cx="11290012" cy="234696"/>
            <a:chOff x="565404" y="6461760"/>
            <a:chExt cx="11290012" cy="234696"/>
          </a:xfrm>
        </p:grpSpPr>
        <p:sp>
          <p:nvSpPr>
            <p:cNvPr id="37" name="TextBox 37"/>
            <p:cNvSpPr txBox="1"/>
            <p:nvPr/>
          </p:nvSpPr>
          <p:spPr>
            <a:xfrm>
              <a:off x="565404" y="6461760"/>
              <a:ext cx="22098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p9；全部明细保留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385737" y="64617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1911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 · Case 3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79253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阈值 0.8 下的 Buffer 时间线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71525" y="1400175"/>
            <a:ext cx="10648950" cy="4781550"/>
            <a:chOff x="771525" y="1400175"/>
            <a:chExt cx="10648950" cy="4781550"/>
          </a:xfrm>
        </p:grpSpPr>
        <p:sp>
          <p:nvSpPr>
            <p:cNvPr id="8" name="Rectangle 8"/>
            <p:cNvSpPr/>
            <p:nvPr/>
          </p:nvSpPr>
          <p:spPr>
            <a:xfrm>
              <a:off x="771525" y="1400175"/>
              <a:ext cx="10648950" cy="47815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2657" y="1438275"/>
              <a:ext cx="10566685" cy="4701350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563880" y="6219825"/>
            <a:ext cx="7345299" cy="293370"/>
            <a:chOff x="563880" y="6219825"/>
            <a:chExt cx="7345299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6219825"/>
              <a:ext cx="73452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80% 触发，50% 为早停目标；红色表示开始，绿色表示结束，箭头标注压缩比例。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5404" y="6537960"/>
            <a:ext cx="11290012" cy="234696"/>
            <a:chOff x="565404" y="6537960"/>
            <a:chExt cx="1129001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6537960"/>
              <a:ext cx="42991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p9；横轴为交互检查点，纵轴为 Buffer 使用率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5737" y="65379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局部压缩收益随轮次下降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524000"/>
            <a:ext cx="8839200" cy="4867275"/>
            <a:chOff x="533400" y="1524000"/>
            <a:chExt cx="8839200" cy="4867275"/>
          </a:xfrm>
        </p:grpSpPr>
        <p:sp>
          <p:nvSpPr>
            <p:cNvPr id="8" name="Rectangle 8"/>
            <p:cNvSpPr/>
            <p:nvPr/>
          </p:nvSpPr>
          <p:spPr>
            <a:xfrm>
              <a:off x="533400" y="1524000"/>
              <a:ext cx="8839200" cy="48672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562100"/>
              <a:ext cx="8763000" cy="4789456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9505950" y="1600200"/>
            <a:ext cx="2362200" cy="4362450"/>
            <a:chOff x="9505950" y="1600200"/>
            <a:chExt cx="2362200" cy="4362450"/>
          </a:xfrm>
        </p:grpSpPr>
        <p:sp>
          <p:nvSpPr>
            <p:cNvPr id="11" name="Rectangle 11"/>
            <p:cNvSpPr/>
            <p:nvPr/>
          </p:nvSpPr>
          <p:spPr>
            <a:xfrm>
              <a:off x="9505950" y="1600200"/>
              <a:ext cx="2362200" cy="43624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505950" y="1600200"/>
              <a:ext cx="38100" cy="43624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647682" y="172593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收益衰减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650730" y="2314575"/>
              <a:ext cx="19202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累计压缩次数增长，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可恢复冗余逐渐耗尽。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50730" y="3371850"/>
              <a:ext cx="1348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末期压缩率约为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18%–20%。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650730" y="4467225"/>
              <a:ext cx="13487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整体趋势下降，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并非严格单调。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50730" y="54673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支持整体摘要兜底。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5404" y="6528435"/>
            <a:ext cx="11290012" cy="234696"/>
            <a:chOff x="565404" y="6528435"/>
            <a:chExt cx="1129001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565404" y="6528435"/>
              <a:ext cx="3649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p10；拟合曲线为本次任务的趋势展示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压缩内容以代码与工具结果为主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571625"/>
            <a:ext cx="8934450" cy="4829175"/>
            <a:chOff x="533400" y="1571625"/>
            <a:chExt cx="8934450" cy="4829175"/>
          </a:xfrm>
        </p:grpSpPr>
        <p:sp>
          <p:nvSpPr>
            <p:cNvPr id="8" name="Rectangle 8"/>
            <p:cNvSpPr/>
            <p:nvPr/>
          </p:nvSpPr>
          <p:spPr>
            <a:xfrm>
              <a:off x="533400" y="1571625"/>
              <a:ext cx="8934450" cy="482917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609725"/>
              <a:ext cx="8858250" cy="4751451"/>
            </a:xfrm>
            <a:prstGeom prst="rect">
              <a:avLst/>
            </a:prstGeom>
          </p:spPr>
        </p:pic>
      </p:grpSp>
      <p:grpSp>
        <p:nvGrpSpPr>
          <p:cNvPr id="18" name="Group 18"/>
          <p:cNvGrpSpPr/>
          <p:nvPr/>
        </p:nvGrpSpPr>
        <p:grpSpPr>
          <a:xfrm>
            <a:off x="9601200" y="1638300"/>
            <a:ext cx="2171700" cy="4381500"/>
            <a:chOff x="9601200" y="1638300"/>
            <a:chExt cx="2171700" cy="4381500"/>
          </a:xfrm>
        </p:grpSpPr>
        <p:sp>
          <p:nvSpPr>
            <p:cNvPr id="11" name="Rectangle 11"/>
            <p:cNvSpPr/>
            <p:nvPr/>
          </p:nvSpPr>
          <p:spPr>
            <a:xfrm>
              <a:off x="9601200" y="1638300"/>
              <a:ext cx="2171700" cy="43815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601200" y="1638300"/>
              <a:ext cx="38100" cy="438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932" y="17735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三个类型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5980" y="2400300"/>
              <a:ext cx="121539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代码文件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FILE_WRITTEN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5980" y="3343275"/>
              <a:ext cx="112966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推理文本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Reasoning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5980" y="4286250"/>
              <a:ext cx="11106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工具结果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Output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745980" y="5324475"/>
              <a:ext cx="1539240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条目数与 token</a:t>
              </a:r>
              <a:br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释放量需分开看。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65404" y="6528435"/>
            <a:ext cx="11290012" cy="234696"/>
            <a:chOff x="565404" y="6528435"/>
            <a:chExt cx="11290012" cy="234696"/>
          </a:xfrm>
        </p:grpSpPr>
        <p:sp>
          <p:nvSpPr>
            <p:cNvPr id="19" name="TextBox 19"/>
            <p:cNvSpPr txBox="1"/>
            <p:nvPr/>
          </p:nvSpPr>
          <p:spPr>
            <a:xfrm>
              <a:off x="565404" y="6528435"/>
              <a:ext cx="5148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p10–11；六次事件压缩条目总数为 5、16、9、12、11、5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469658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六轮开发的压缩统计总览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457325"/>
            <a:ext cx="7410450" cy="4914900"/>
            <a:chOff x="533400" y="1457325"/>
            <a:chExt cx="7410450" cy="4914900"/>
          </a:xfrm>
        </p:grpSpPr>
        <p:sp>
          <p:nvSpPr>
            <p:cNvPr id="8" name="Rectangle 8"/>
            <p:cNvSpPr/>
            <p:nvPr/>
          </p:nvSpPr>
          <p:spPr>
            <a:xfrm>
              <a:off x="533400" y="1457325"/>
              <a:ext cx="7410450" cy="49149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495425"/>
              <a:ext cx="7334250" cy="4837938"/>
            </a:xfrm>
            <a:prstGeom prst="rect">
              <a:avLst/>
            </a:prstGeom>
          </p:spPr>
        </p:pic>
      </p:grpSp>
      <p:grpSp>
        <p:nvGrpSpPr>
          <p:cNvPr id="20" name="Group 20"/>
          <p:cNvGrpSpPr/>
          <p:nvPr/>
        </p:nvGrpSpPr>
        <p:grpSpPr>
          <a:xfrm>
            <a:off x="8172450" y="1552575"/>
            <a:ext cx="3600450" cy="4438650"/>
            <a:chOff x="8172450" y="1552575"/>
            <a:chExt cx="3600450" cy="4438650"/>
          </a:xfrm>
        </p:grpSpPr>
        <p:sp>
          <p:nvSpPr>
            <p:cNvPr id="11" name="Rectangle 11"/>
            <p:cNvSpPr/>
            <p:nvPr/>
          </p:nvSpPr>
          <p:spPr>
            <a:xfrm>
              <a:off x="8172450" y="1552575"/>
              <a:ext cx="3600450" cy="44386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172450" y="1552575"/>
              <a:ext cx="38100" cy="44386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14182" y="172593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六个观测维度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315706" y="23583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各轮初始消息数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15706" y="2891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单轮与累计压缩事件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15706" y="34251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各类消息的压缩数量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5706" y="39585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逐事件压缩率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15706" y="4491990"/>
              <a:ext cx="2439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各轮最终 Buffer 占用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17230" y="5286375"/>
              <a:ext cx="2367915" cy="588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任务：</a:t>
              </a:r>
              <a:br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workforce_scheduling_v1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65404" y="6528435"/>
            <a:ext cx="11290012" cy="234696"/>
            <a:chOff x="565404" y="6528435"/>
            <a:chExt cx="11290012" cy="234696"/>
          </a:xfrm>
        </p:grpSpPr>
        <p:sp>
          <p:nvSpPr>
            <p:cNvPr id="21" name="TextBox 21"/>
            <p:cNvSpPr txBox="1"/>
            <p:nvPr/>
          </p:nvSpPr>
          <p:spPr>
            <a:xfrm>
              <a:off x="565404" y="6528435"/>
              <a:ext cx="4943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p11；原图右下 R1 / R2 显示 0%，原文未说明统计范围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20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455A7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04　已上线方案实验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27435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阈值 0.6 的触发频次与代价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543050"/>
            <a:ext cx="8934450" cy="4848225"/>
            <a:chOff x="533400" y="1543050"/>
            <a:chExt cx="8934450" cy="4848225"/>
          </a:xfrm>
        </p:grpSpPr>
        <p:sp>
          <p:nvSpPr>
            <p:cNvPr id="8" name="Rectangle 8"/>
            <p:cNvSpPr/>
            <p:nvPr/>
          </p:nvSpPr>
          <p:spPr>
            <a:xfrm>
              <a:off x="533400" y="1543050"/>
              <a:ext cx="8934450" cy="4848225"/>
            </a:xfrm>
            <a:prstGeom prst="rect">
              <a:avLst/>
            </a:prstGeom>
            <a:solidFill>
              <a:srgbClr val="0B0D19"/>
            </a:solidFill>
            <a:ln w="11430">
              <a:solidFill>
                <a:srgbClr val="455A7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1581150"/>
              <a:ext cx="8858250" cy="4769358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9601200" y="1609725"/>
            <a:ext cx="2171700" cy="4667250"/>
            <a:chOff x="9601200" y="1609725"/>
            <a:chExt cx="2171700" cy="4667250"/>
          </a:xfrm>
        </p:grpSpPr>
        <p:sp>
          <p:nvSpPr>
            <p:cNvPr id="11" name="Rectangle 11"/>
            <p:cNvSpPr/>
            <p:nvPr/>
          </p:nvSpPr>
          <p:spPr>
            <a:xfrm>
              <a:off x="9601200" y="1609725"/>
              <a:ext cx="2171700" cy="4667250"/>
            </a:xfrm>
            <a:prstGeom prst="rect">
              <a:avLst/>
            </a:prstGeom>
            <a:solidFill>
              <a:srgbClr val="1F497D"/>
            </a:solidFill>
            <a:ln w="11430">
              <a:solidFill>
                <a:srgbClr val="455A7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601200" y="1609725"/>
              <a:ext cx="38100" cy="4667250"/>
            </a:xfrm>
            <a:prstGeom prst="rect">
              <a:avLst/>
            </a:prstGeom>
            <a:solidFill>
              <a:srgbClr val="7CD9CF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932" y="1773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取舍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45980" y="2390775"/>
              <a:ext cx="1463040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更早触发后，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Buffer 长期处于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压缩边界附近。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45980" y="3686175"/>
              <a:ext cx="130111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Compaction 与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Summary 高频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交替。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45980" y="4972050"/>
              <a:ext cx="1729740" cy="11791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成本下降，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总体完成度未提高。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增加延迟，</a:t>
              </a:r>
              <a:br/>
              <a:r>
                <a:rPr lang="zh-CN" sz="1500" dirty="0">
                  <a:solidFill>
                    <a:srgbClr val="D9E5F2"/>
                  </a:solidFill>
                  <a:latin typeface="+mn-lt"/>
                  <a:ea typeface="+mn-ea"/>
                  <a:cs typeface="+mn-cs"/>
                </a:rPr>
                <a:t>体验存在下降风险。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65404" y="6528435"/>
            <a:ext cx="11290012" cy="234696"/>
            <a:chOff x="565404" y="6528435"/>
            <a:chExt cx="1129001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565404" y="6528435"/>
              <a:ext cx="5611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C0D7"/>
                  </a:solidFill>
                  <a:latin typeface="+mn-lt"/>
                  <a:ea typeface="+mn-ea"/>
                  <a:cs typeface="+mn-cs"/>
                </a:rPr>
                <a:t>来源：PDF p11–12；时间成本与用户体验为原文风险判断，未提供量化测量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21 / 32</a:t>
              </a:r>
              <a:endParaRPr lang="zh-CN" sz="1200" dirty="0">
                <a:solidFill>
                  <a:srgbClr val="7CD9C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796290"/>
            <a:chOff x="533400" y="413385"/>
            <a:chExt cx="11125200" cy="79629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0598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后续设计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尚未合入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Prod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1041400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摘要维护的三项设计原则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366510"/>
            <a:ext cx="11290012" cy="346591"/>
            <a:chOff x="565404" y="6366510"/>
            <a:chExt cx="11290012" cy="346591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6366510"/>
              <a:ext cx="624850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方案未合入 </a:t>
              </a:r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</a:t>
              </a:r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；</a:t>
              </a:r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PDF p12 </a:t>
              </a:r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对保护区的描述与近期消息规则存在冲突，线上行为尚未证实。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55352" y="6528435"/>
              <a:ext cx="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p22_intro_bg">
            <a:extLst>
              <a:ext uri="{FF2B5EF4-FFF2-40B4-BE49-F238E27FC236}">
                <a16:creationId xmlns:a16="http://schemas.microsoft.com/office/drawing/2014/main" id="{7EC266B2-F825-CC9D-0D40-CF97358ABA84}"/>
              </a:ext>
            </a:extLst>
          </p:cNvPr>
          <p:cNvSpPr/>
          <p:nvPr/>
        </p:nvSpPr>
        <p:spPr>
          <a:xfrm>
            <a:off x="419100" y="1422400"/>
            <a:ext cx="11353800" cy="558800"/>
          </a:xfrm>
          <a:prstGeom prst="rect">
            <a:avLst/>
          </a:prstGeom>
          <a:solidFill>
            <a:srgbClr val="F6F3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22_intro_accent">
            <a:extLst>
              <a:ext uri="{FF2B5EF4-FFF2-40B4-BE49-F238E27FC236}">
                <a16:creationId xmlns:a16="http://schemas.microsoft.com/office/drawing/2014/main" id="{EF431ACD-1397-1C6D-9777-531326083157}"/>
              </a:ext>
            </a:extLst>
          </p:cNvPr>
          <p:cNvSpPr/>
          <p:nvPr/>
        </p:nvSpPr>
        <p:spPr>
          <a:xfrm>
            <a:off x="419100" y="1422400"/>
            <a:ext cx="50800" cy="5588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p22_intro">
            <a:extLst>
              <a:ext uri="{FF2B5EF4-FFF2-40B4-BE49-F238E27FC236}">
                <a16:creationId xmlns:a16="http://schemas.microsoft.com/office/drawing/2014/main" id="{7FD527B7-A40A-2B61-2831-4D152C537288}"/>
              </a:ext>
            </a:extLst>
          </p:cNvPr>
          <p:cNvSpPr txBox="1"/>
          <p:nvPr/>
        </p:nvSpPr>
        <p:spPr>
          <a:xfrm>
            <a:off x="622300" y="1562100"/>
            <a:ext cx="10909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2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目标：窗口保留当前任务与摘要入口；历史细节沉淀到可追溯、可恢复的磁盘块中。</a:t>
            </a:r>
          </a:p>
        </p:txBody>
      </p:sp>
      <p:sp>
        <p:nvSpPr>
          <p:cNvPr id="29" name="p22_row_1">
            <a:extLst>
              <a:ext uri="{FF2B5EF4-FFF2-40B4-BE49-F238E27FC236}">
                <a16:creationId xmlns:a16="http://schemas.microsoft.com/office/drawing/2014/main" id="{8D1F18A1-9870-C8DF-7B33-78D033CBA184}"/>
              </a:ext>
            </a:extLst>
          </p:cNvPr>
          <p:cNvSpPr/>
          <p:nvPr/>
        </p:nvSpPr>
        <p:spPr>
          <a:xfrm>
            <a:off x="419100" y="2133600"/>
            <a:ext cx="11353800" cy="9398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p22_left_1">
            <a:extLst>
              <a:ext uri="{FF2B5EF4-FFF2-40B4-BE49-F238E27FC236}">
                <a16:creationId xmlns:a16="http://schemas.microsoft.com/office/drawing/2014/main" id="{8419187C-0A1A-934D-279A-376201419CD7}"/>
              </a:ext>
            </a:extLst>
          </p:cNvPr>
          <p:cNvSpPr/>
          <p:nvPr/>
        </p:nvSpPr>
        <p:spPr>
          <a:xfrm>
            <a:off x="457200" y="2146300"/>
            <a:ext cx="2857500" cy="914400"/>
          </a:xfrm>
          <a:prstGeom prst="rect">
            <a:avLst/>
          </a:prstGeom>
          <a:solidFill>
            <a:srgbClr val="F6F3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22_accent_1">
            <a:extLst>
              <a:ext uri="{FF2B5EF4-FFF2-40B4-BE49-F238E27FC236}">
                <a16:creationId xmlns:a16="http://schemas.microsoft.com/office/drawing/2014/main" id="{113BBB45-C05E-5A28-E2D7-392879FCDF2A}"/>
              </a:ext>
            </a:extLst>
          </p:cNvPr>
          <p:cNvSpPr/>
          <p:nvPr/>
        </p:nvSpPr>
        <p:spPr>
          <a:xfrm>
            <a:off x="419100" y="2133600"/>
            <a:ext cx="38100" cy="9398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p22_issue_title_1">
            <a:extLst>
              <a:ext uri="{FF2B5EF4-FFF2-40B4-BE49-F238E27FC236}">
                <a16:creationId xmlns:a16="http://schemas.microsoft.com/office/drawing/2014/main" id="{1E2CD19B-61D8-303B-2425-AAC22C410B5A}"/>
              </a:ext>
            </a:extLst>
          </p:cNvPr>
          <p:cNvSpPr txBox="1"/>
          <p:nvPr/>
        </p:nvSpPr>
        <p:spPr>
          <a:xfrm>
            <a:off x="622300" y="22860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2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全量摘要重写</a:t>
            </a:r>
          </a:p>
        </p:txBody>
      </p:sp>
      <p:sp>
        <p:nvSpPr>
          <p:cNvPr id="33" name="p22_issue_detail_1">
            <a:extLst>
              <a:ext uri="{FF2B5EF4-FFF2-40B4-BE49-F238E27FC236}">
                <a16:creationId xmlns:a16="http://schemas.microsoft.com/office/drawing/2014/main" id="{95055978-90E9-DCA3-1E48-C876B1B5E931}"/>
              </a:ext>
            </a:extLst>
          </p:cNvPr>
          <p:cNvSpPr txBox="1"/>
          <p:nvPr/>
        </p:nvSpPr>
        <p:spPr>
          <a:xfrm>
            <a:off x="622300" y="25908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前缀变化，</a:t>
            </a:r>
            <a:r>
              <a:rPr lang="en-US" altLang="zh-CN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KV Cache </a:t>
            </a:r>
            <a:r>
              <a:rPr lang="zh-CN" altLang="en-US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复用不稳</a:t>
            </a:r>
          </a:p>
        </p:txBody>
      </p:sp>
      <p:sp>
        <p:nvSpPr>
          <p:cNvPr id="34" name="p22_arrow_1">
            <a:extLst>
              <a:ext uri="{FF2B5EF4-FFF2-40B4-BE49-F238E27FC236}">
                <a16:creationId xmlns:a16="http://schemas.microsoft.com/office/drawing/2014/main" id="{E470E176-E54B-1862-170C-8B9991773620}"/>
              </a:ext>
            </a:extLst>
          </p:cNvPr>
          <p:cNvSpPr txBox="1"/>
          <p:nvPr/>
        </p:nvSpPr>
        <p:spPr>
          <a:xfrm>
            <a:off x="3390900" y="23749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35" name="p22_solution_title_1">
            <a:extLst>
              <a:ext uri="{FF2B5EF4-FFF2-40B4-BE49-F238E27FC236}">
                <a16:creationId xmlns:a16="http://schemas.microsoft.com/office/drawing/2014/main" id="{58B8A1FB-FFF0-67CE-6441-CE59FA37E5F7}"/>
              </a:ext>
            </a:extLst>
          </p:cNvPr>
          <p:cNvSpPr txBox="1"/>
          <p:nvPr/>
        </p:nvSpPr>
        <p:spPr>
          <a:xfrm>
            <a:off x="4013200" y="22479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summary.md </a:t>
            </a:r>
            <a:r>
              <a:rPr lang="zh-CN" altLang="en-US" sz="15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增量维护</a:t>
            </a:r>
          </a:p>
        </p:txBody>
      </p:sp>
      <p:sp>
        <p:nvSpPr>
          <p:cNvPr id="36" name="p22_solution_detail_1">
            <a:extLst>
              <a:ext uri="{FF2B5EF4-FFF2-40B4-BE49-F238E27FC236}">
                <a16:creationId xmlns:a16="http://schemas.microsoft.com/office/drawing/2014/main" id="{550CBC15-6CC9-CAAF-0A6A-34D3E187606F}"/>
              </a:ext>
            </a:extLst>
          </p:cNvPr>
          <p:cNvSpPr txBox="1"/>
          <p:nvPr/>
        </p:nvSpPr>
        <p:spPr>
          <a:xfrm>
            <a:off x="4013200" y="25654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围绕新完成的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更新；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App.tsx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router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等保护消息保留原文，不进入摘要。</a:t>
            </a:r>
          </a:p>
        </p:txBody>
      </p:sp>
      <p:sp>
        <p:nvSpPr>
          <p:cNvPr id="37" name="p22_row_2">
            <a:extLst>
              <a:ext uri="{FF2B5EF4-FFF2-40B4-BE49-F238E27FC236}">
                <a16:creationId xmlns:a16="http://schemas.microsoft.com/office/drawing/2014/main" id="{18AD489B-A8B3-6B0C-88EC-7EC258BEC900}"/>
              </a:ext>
            </a:extLst>
          </p:cNvPr>
          <p:cNvSpPr/>
          <p:nvPr/>
        </p:nvSpPr>
        <p:spPr>
          <a:xfrm>
            <a:off x="419100" y="3175000"/>
            <a:ext cx="11353800" cy="9398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p22_left_2">
            <a:extLst>
              <a:ext uri="{FF2B5EF4-FFF2-40B4-BE49-F238E27FC236}">
                <a16:creationId xmlns:a16="http://schemas.microsoft.com/office/drawing/2014/main" id="{CB144C2F-CC86-4923-2D5A-FED080DF7E4A}"/>
              </a:ext>
            </a:extLst>
          </p:cNvPr>
          <p:cNvSpPr/>
          <p:nvPr/>
        </p:nvSpPr>
        <p:spPr>
          <a:xfrm>
            <a:off x="457200" y="3187700"/>
            <a:ext cx="2857500" cy="914400"/>
          </a:xfrm>
          <a:prstGeom prst="rect">
            <a:avLst/>
          </a:prstGeom>
          <a:solidFill>
            <a:srgbClr val="E7F4F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p22_accent_2">
            <a:extLst>
              <a:ext uri="{FF2B5EF4-FFF2-40B4-BE49-F238E27FC236}">
                <a16:creationId xmlns:a16="http://schemas.microsoft.com/office/drawing/2014/main" id="{3AC630D0-93D9-B8EF-F1A8-689353ADBCC5}"/>
              </a:ext>
            </a:extLst>
          </p:cNvPr>
          <p:cNvSpPr/>
          <p:nvPr/>
        </p:nvSpPr>
        <p:spPr>
          <a:xfrm>
            <a:off x="419100" y="3175000"/>
            <a:ext cx="38100" cy="9398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p22_issue_title_2">
            <a:extLst>
              <a:ext uri="{FF2B5EF4-FFF2-40B4-BE49-F238E27FC236}">
                <a16:creationId xmlns:a16="http://schemas.microsoft.com/office/drawing/2014/main" id="{5B1AEC88-6867-1FDE-1AD8-04A79175F427}"/>
              </a:ext>
            </a:extLst>
          </p:cNvPr>
          <p:cNvSpPr txBox="1"/>
          <p:nvPr/>
        </p:nvSpPr>
        <p:spPr>
          <a:xfrm>
            <a:off x="622300" y="33274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2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摘要抹去来源</a:t>
            </a:r>
          </a:p>
        </p:txBody>
      </p:sp>
      <p:sp>
        <p:nvSpPr>
          <p:cNvPr id="41" name="p22_issue_detail_2">
            <a:extLst>
              <a:ext uri="{FF2B5EF4-FFF2-40B4-BE49-F238E27FC236}">
                <a16:creationId xmlns:a16="http://schemas.microsoft.com/office/drawing/2014/main" id="{7282FDD2-5629-924D-9B39-CB649DBA7D04}"/>
              </a:ext>
            </a:extLst>
          </p:cNvPr>
          <p:cNvSpPr txBox="1"/>
          <p:nvPr/>
        </p:nvSpPr>
        <p:spPr>
          <a:xfrm>
            <a:off x="622300" y="36322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压缩后难找回原文细节</a:t>
            </a:r>
          </a:p>
        </p:txBody>
      </p:sp>
      <p:sp>
        <p:nvSpPr>
          <p:cNvPr id="42" name="p22_arrow_2">
            <a:extLst>
              <a:ext uri="{FF2B5EF4-FFF2-40B4-BE49-F238E27FC236}">
                <a16:creationId xmlns:a16="http://schemas.microsoft.com/office/drawing/2014/main" id="{94ACBA3E-49E9-97BE-B134-1B24617C672E}"/>
              </a:ext>
            </a:extLst>
          </p:cNvPr>
          <p:cNvSpPr txBox="1"/>
          <p:nvPr/>
        </p:nvSpPr>
        <p:spPr>
          <a:xfrm>
            <a:off x="3390900" y="34163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3" name="p22_solution_title_2">
            <a:extLst>
              <a:ext uri="{FF2B5EF4-FFF2-40B4-BE49-F238E27FC236}">
                <a16:creationId xmlns:a16="http://schemas.microsoft.com/office/drawing/2014/main" id="{CCC29627-4642-54F9-D5E1-2B26EFE623B1}"/>
              </a:ext>
            </a:extLst>
          </p:cNvPr>
          <p:cNvSpPr txBox="1"/>
          <p:nvPr/>
        </p:nvSpPr>
        <p:spPr>
          <a:xfrm>
            <a:off x="4013200" y="32893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摘要块与压缩块共同落盘</a:t>
            </a:r>
          </a:p>
        </p:txBody>
      </p:sp>
      <p:sp>
        <p:nvSpPr>
          <p:cNvPr id="44" name="p22_solution_detail_2">
            <a:extLst>
              <a:ext uri="{FF2B5EF4-FFF2-40B4-BE49-F238E27FC236}">
                <a16:creationId xmlns:a16="http://schemas.microsoft.com/office/drawing/2014/main" id="{5F58DD6E-1A68-D364-B07F-8E33272FE044}"/>
              </a:ext>
            </a:extLst>
          </p:cNvPr>
          <p:cNvSpPr txBox="1"/>
          <p:nvPr/>
        </p:nvSpPr>
        <p:spPr>
          <a:xfrm>
            <a:off x="4013200" y="36068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block_id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维护来源与层级映射；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Agent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按需读取细节，临时恢复内容用后释放。</a:t>
            </a:r>
          </a:p>
        </p:txBody>
      </p:sp>
      <p:sp>
        <p:nvSpPr>
          <p:cNvPr id="45" name="p22_row_3">
            <a:extLst>
              <a:ext uri="{FF2B5EF4-FFF2-40B4-BE49-F238E27FC236}">
                <a16:creationId xmlns:a16="http://schemas.microsoft.com/office/drawing/2014/main" id="{DB0F33CA-3CBD-FBD4-4C6C-C15B332793CB}"/>
              </a:ext>
            </a:extLst>
          </p:cNvPr>
          <p:cNvSpPr/>
          <p:nvPr/>
        </p:nvSpPr>
        <p:spPr>
          <a:xfrm>
            <a:off x="419100" y="4216400"/>
            <a:ext cx="11353800" cy="9398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p22_left_3">
            <a:extLst>
              <a:ext uri="{FF2B5EF4-FFF2-40B4-BE49-F238E27FC236}">
                <a16:creationId xmlns:a16="http://schemas.microsoft.com/office/drawing/2014/main" id="{3A36E7E2-A360-4737-3C20-88E4BAA165D7}"/>
              </a:ext>
            </a:extLst>
          </p:cNvPr>
          <p:cNvSpPr/>
          <p:nvPr/>
        </p:nvSpPr>
        <p:spPr>
          <a:xfrm>
            <a:off x="457200" y="4229100"/>
            <a:ext cx="2857500" cy="914400"/>
          </a:xfrm>
          <a:prstGeom prst="rect">
            <a:avLst/>
          </a:prstGeom>
          <a:solidFill>
            <a:srgbClr val="FAF6EB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p22_accent_3">
            <a:extLst>
              <a:ext uri="{FF2B5EF4-FFF2-40B4-BE49-F238E27FC236}">
                <a16:creationId xmlns:a16="http://schemas.microsoft.com/office/drawing/2014/main" id="{E25DBFBF-0B0A-2572-C0EA-F7F7AF572E0E}"/>
              </a:ext>
            </a:extLst>
          </p:cNvPr>
          <p:cNvSpPr/>
          <p:nvPr/>
        </p:nvSpPr>
        <p:spPr>
          <a:xfrm>
            <a:off x="419100" y="4216400"/>
            <a:ext cx="38100" cy="939800"/>
          </a:xfrm>
          <a:prstGeom prst="rect">
            <a:avLst/>
          </a:prstGeom>
          <a:solidFill>
            <a:srgbClr val="E4961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p22_issue_title_3">
            <a:extLst>
              <a:ext uri="{FF2B5EF4-FFF2-40B4-BE49-F238E27FC236}">
                <a16:creationId xmlns:a16="http://schemas.microsoft.com/office/drawing/2014/main" id="{32C82ECF-8B5A-E055-C5CE-C231B46CE7A4}"/>
              </a:ext>
            </a:extLst>
          </p:cNvPr>
          <p:cNvSpPr txBox="1"/>
          <p:nvPr/>
        </p:nvSpPr>
        <p:spPr>
          <a:xfrm>
            <a:off x="622300" y="43688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2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开发阶段混叠</a:t>
            </a:r>
          </a:p>
        </p:txBody>
      </p:sp>
      <p:sp>
        <p:nvSpPr>
          <p:cNvPr id="49" name="p22_issue_detail_3">
            <a:extLst>
              <a:ext uri="{FF2B5EF4-FFF2-40B4-BE49-F238E27FC236}">
                <a16:creationId xmlns:a16="http://schemas.microsoft.com/office/drawing/2014/main" id="{8A5B20C4-4758-AB1B-C89F-850BE7B57CB9}"/>
              </a:ext>
            </a:extLst>
          </p:cNvPr>
          <p:cNvSpPr txBox="1"/>
          <p:nvPr/>
        </p:nvSpPr>
        <p:spPr>
          <a:xfrm>
            <a:off x="622300" y="4673600"/>
            <a:ext cx="2501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</a:t>
            </a:r>
            <a:r>
              <a:rPr lang="zh-CN" altLang="en-US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 </a:t>
            </a:r>
            <a:r>
              <a:rPr lang="zh-CN" altLang="en-US" sz="12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需要不同粒度</a:t>
            </a:r>
          </a:p>
        </p:txBody>
      </p:sp>
      <p:sp>
        <p:nvSpPr>
          <p:cNvPr id="50" name="p22_arrow_3">
            <a:extLst>
              <a:ext uri="{FF2B5EF4-FFF2-40B4-BE49-F238E27FC236}">
                <a16:creationId xmlns:a16="http://schemas.microsoft.com/office/drawing/2014/main" id="{007A9651-ED7E-84EB-2750-96D430DF1959}"/>
              </a:ext>
            </a:extLst>
          </p:cNvPr>
          <p:cNvSpPr txBox="1"/>
          <p:nvPr/>
        </p:nvSpPr>
        <p:spPr>
          <a:xfrm>
            <a:off x="3390900" y="4457700"/>
            <a:ext cx="4318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2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51" name="p22_solution_title_3">
            <a:extLst>
              <a:ext uri="{FF2B5EF4-FFF2-40B4-BE49-F238E27FC236}">
                <a16:creationId xmlns:a16="http://schemas.microsoft.com/office/drawing/2014/main" id="{B176AE9C-BD67-B3FD-43DE-35BE92EE484B}"/>
              </a:ext>
            </a:extLst>
          </p:cNvPr>
          <p:cNvSpPr txBox="1"/>
          <p:nvPr/>
        </p:nvSpPr>
        <p:spPr>
          <a:xfrm>
            <a:off x="4013200" y="43307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5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/ T2 / T3 </a:t>
            </a:r>
            <a:r>
              <a:rPr lang="zh-CN" altLang="en-US" sz="15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按业务边界递进</a:t>
            </a:r>
          </a:p>
        </p:txBody>
      </p:sp>
      <p:sp>
        <p:nvSpPr>
          <p:cNvPr id="52" name="p22_solution_detail_3">
            <a:extLst>
              <a:ext uri="{FF2B5EF4-FFF2-40B4-BE49-F238E27FC236}">
                <a16:creationId xmlns:a16="http://schemas.microsoft.com/office/drawing/2014/main" id="{093A66C1-0DC7-5EC6-7742-9086B295F430}"/>
              </a:ext>
            </a:extLst>
          </p:cNvPr>
          <p:cNvSpPr txBox="1"/>
          <p:nvPr/>
        </p:nvSpPr>
        <p:spPr>
          <a:xfrm>
            <a:off x="4013200" y="4648200"/>
            <a:ext cx="7493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对齐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对齐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/ Version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T3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记录项目历史；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可以共存。</a:t>
            </a:r>
          </a:p>
        </p:txBody>
      </p:sp>
      <p:sp>
        <p:nvSpPr>
          <p:cNvPr id="53" name="p22_outcome_bg">
            <a:extLst>
              <a:ext uri="{FF2B5EF4-FFF2-40B4-BE49-F238E27FC236}">
                <a16:creationId xmlns:a16="http://schemas.microsoft.com/office/drawing/2014/main" id="{F125B5EC-9C3C-9194-5929-044F9B32150A}"/>
              </a:ext>
            </a:extLst>
          </p:cNvPr>
          <p:cNvSpPr/>
          <p:nvPr/>
        </p:nvSpPr>
        <p:spPr>
          <a:xfrm>
            <a:off x="419100" y="5295900"/>
            <a:ext cx="11353800" cy="698500"/>
          </a:xfrm>
          <a:prstGeom prst="rect">
            <a:avLst/>
          </a:prstGeom>
          <a:solidFill>
            <a:srgbClr val="EFF1F9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p22_outcome_accent">
            <a:extLst>
              <a:ext uri="{FF2B5EF4-FFF2-40B4-BE49-F238E27FC236}">
                <a16:creationId xmlns:a16="http://schemas.microsoft.com/office/drawing/2014/main" id="{C550DEBC-A080-9E0C-EEEA-D138E6050388}"/>
              </a:ext>
            </a:extLst>
          </p:cNvPr>
          <p:cNvSpPr/>
          <p:nvPr/>
        </p:nvSpPr>
        <p:spPr>
          <a:xfrm>
            <a:off x="419100" y="5295900"/>
            <a:ext cx="50800" cy="6985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p22_outcome">
            <a:extLst>
              <a:ext uri="{FF2B5EF4-FFF2-40B4-BE49-F238E27FC236}">
                <a16:creationId xmlns:a16="http://schemas.microsoft.com/office/drawing/2014/main" id="{32EFD1A5-A021-DB69-43AB-34A82AD2D4A4}"/>
              </a:ext>
            </a:extLst>
          </p:cNvPr>
          <p:cNvSpPr txBox="1"/>
          <p:nvPr/>
        </p:nvSpPr>
        <p:spPr>
          <a:xfrm>
            <a:off x="622300" y="5448300"/>
            <a:ext cx="10922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4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预期：减少重复摘要与 </a:t>
            </a:r>
            <a:r>
              <a:rPr lang="en-US" altLang="zh-CN" sz="14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LLM </a:t>
            </a:r>
            <a:r>
              <a:rPr lang="zh-CN" altLang="en-US" sz="14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介入；摘要前缀与 </a:t>
            </a:r>
            <a:r>
              <a:rPr lang="en-US" altLang="zh-CN" sz="14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KV Cache </a:t>
            </a:r>
            <a:r>
              <a:rPr lang="zh-CN" altLang="en-US" sz="144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收益仍待实验验证。</a:t>
            </a:r>
          </a:p>
        </p:txBody>
      </p:sp>
      <p:sp>
        <p:nvSpPr>
          <p:cNvPr id="8" name="p22_page_number">
            <a:extLst>
              <a:ext uri="{FF2B5EF4-FFF2-40B4-BE49-F238E27FC236}">
                <a16:creationId xmlns:a16="http://schemas.microsoft.com/office/drawing/2014/main" id="{62696F54-7850-B2A5-9064-3E02A2C7C8CA}"/>
              </a:ext>
            </a:extLst>
          </p:cNvPr>
          <p:cNvSpPr txBox="1"/>
          <p:nvPr/>
        </p:nvSpPr>
        <p:spPr>
          <a:xfrm>
            <a:off x="10985500" y="6525260"/>
            <a:ext cx="8699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617187"/>
                </a:solidFill>
                <a:latin typeface="Arial" panose="020B0604020202020204" pitchFamily="34" charset="0"/>
              </a:rPr>
              <a:t>22 / 32</a:t>
            </a:r>
            <a:endParaRPr lang="zh-CN" altLang="en-US" sz="1200">
              <a:solidFill>
                <a:srgbClr val="617187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796290"/>
            <a:chOff x="533400" y="413385"/>
            <a:chExt cx="11125200" cy="79629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0598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后续设计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尚未合入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Prod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1041400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摘要沿 </a:t>
              </a:r>
              <a:r>
                <a:rPr lang="en-US" altLang="zh-CN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Todo / Version </a:t>
              </a:r>
              <a:r>
                <a:rPr lang="zh-CN" altLang="en-US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业务边界递进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366510"/>
            <a:ext cx="11290012" cy="346591"/>
            <a:chOff x="565404" y="6366510"/>
            <a:chExt cx="11290012" cy="346591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6366510"/>
              <a:ext cx="437549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T1 / T2 / T3 </a:t>
              </a:r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为拟议层级；触发门槛与摘要字段仍需实现和验证。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55352" y="6528435"/>
              <a:ext cx="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p23_hierarchy_bg">
            <a:extLst>
              <a:ext uri="{FF2B5EF4-FFF2-40B4-BE49-F238E27FC236}">
                <a16:creationId xmlns:a16="http://schemas.microsoft.com/office/drawing/2014/main" id="{B51C87BF-6659-C150-7C86-A3F209814264}"/>
              </a:ext>
            </a:extLst>
          </p:cNvPr>
          <p:cNvSpPr/>
          <p:nvPr/>
        </p:nvSpPr>
        <p:spPr>
          <a:xfrm>
            <a:off x="419100" y="1435100"/>
            <a:ext cx="11353800" cy="558800"/>
          </a:xfrm>
          <a:prstGeom prst="rect">
            <a:avLst/>
          </a:prstGeom>
          <a:solidFill>
            <a:srgbClr val="F6F3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23_hierarchy_accent">
            <a:extLst>
              <a:ext uri="{FF2B5EF4-FFF2-40B4-BE49-F238E27FC236}">
                <a16:creationId xmlns:a16="http://schemas.microsoft.com/office/drawing/2014/main" id="{E0293427-6009-D20A-0855-6E939E2F2A9B}"/>
              </a:ext>
            </a:extLst>
          </p:cNvPr>
          <p:cNvSpPr/>
          <p:nvPr/>
        </p:nvSpPr>
        <p:spPr>
          <a:xfrm>
            <a:off x="419100" y="1435100"/>
            <a:ext cx="50800" cy="5588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p23_hierarchy">
            <a:extLst>
              <a:ext uri="{FF2B5EF4-FFF2-40B4-BE49-F238E27FC236}">
                <a16:creationId xmlns:a16="http://schemas.microsoft.com/office/drawing/2014/main" id="{89AE2F44-9A55-36BA-3E60-86C1C1F2EE4F}"/>
              </a:ext>
            </a:extLst>
          </p:cNvPr>
          <p:cNvSpPr txBox="1"/>
          <p:nvPr/>
        </p:nvSpPr>
        <p:spPr>
          <a:xfrm>
            <a:off x="622300" y="1562100"/>
            <a:ext cx="10909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一次用户需求 → 一个 </a:t>
            </a:r>
            <a:r>
              <a:rPr lang="en-US" altLang="zh-CN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/ App Version → </a:t>
            </a:r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多个 </a:t>
            </a:r>
            <a:r>
              <a:rPr lang="en-US" altLang="zh-CN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</a:t>
            </a:r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；一个 </a:t>
            </a:r>
            <a:r>
              <a:rPr lang="en-US" altLang="zh-CN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</a:t>
            </a:r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对应一个小型开发过程。</a:t>
            </a:r>
          </a:p>
        </p:txBody>
      </p:sp>
      <p:sp>
        <p:nvSpPr>
          <p:cNvPr id="29" name="p23_layer_1">
            <a:extLst>
              <a:ext uri="{FF2B5EF4-FFF2-40B4-BE49-F238E27FC236}">
                <a16:creationId xmlns:a16="http://schemas.microsoft.com/office/drawing/2014/main" id="{89DDC9B6-987A-00D0-1B49-7122776249DC}"/>
              </a:ext>
            </a:extLst>
          </p:cNvPr>
          <p:cNvSpPr/>
          <p:nvPr/>
        </p:nvSpPr>
        <p:spPr>
          <a:xfrm>
            <a:off x="419100" y="2133600"/>
            <a:ext cx="113538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p23_layer_band_1">
            <a:extLst>
              <a:ext uri="{FF2B5EF4-FFF2-40B4-BE49-F238E27FC236}">
                <a16:creationId xmlns:a16="http://schemas.microsoft.com/office/drawing/2014/main" id="{C4A80337-0DC4-D432-F95E-A1693CF6CA1C}"/>
              </a:ext>
            </a:extLst>
          </p:cNvPr>
          <p:cNvSpPr/>
          <p:nvPr/>
        </p:nvSpPr>
        <p:spPr>
          <a:xfrm>
            <a:off x="419100" y="2146300"/>
            <a:ext cx="2146300" cy="1117600"/>
          </a:xfrm>
          <a:prstGeom prst="rect">
            <a:avLst/>
          </a:prstGeom>
          <a:solidFill>
            <a:srgbClr val="F8F7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23_layer_accent_1">
            <a:extLst>
              <a:ext uri="{FF2B5EF4-FFF2-40B4-BE49-F238E27FC236}">
                <a16:creationId xmlns:a16="http://schemas.microsoft.com/office/drawing/2014/main" id="{B259EC02-4C6C-8712-F853-F2876F9523FA}"/>
              </a:ext>
            </a:extLst>
          </p:cNvPr>
          <p:cNvSpPr/>
          <p:nvPr/>
        </p:nvSpPr>
        <p:spPr>
          <a:xfrm>
            <a:off x="419100" y="2133600"/>
            <a:ext cx="50800" cy="1143000"/>
          </a:xfrm>
          <a:prstGeom prst="rect">
            <a:avLst/>
          </a:prstGeom>
          <a:solidFill>
            <a:srgbClr val="E4961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p23_layer_name_1">
            <a:extLst>
              <a:ext uri="{FF2B5EF4-FFF2-40B4-BE49-F238E27FC236}">
                <a16:creationId xmlns:a16="http://schemas.microsoft.com/office/drawing/2014/main" id="{968B3C36-9986-18ED-5DA7-9EAFC41525BE}"/>
              </a:ext>
            </a:extLst>
          </p:cNvPr>
          <p:cNvSpPr txBox="1"/>
          <p:nvPr/>
        </p:nvSpPr>
        <p:spPr>
          <a:xfrm>
            <a:off x="609600" y="23241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· Todo </a:t>
            </a:r>
            <a:r>
              <a:rPr lang="zh-CN" altLang="en-US" sz="17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</a:t>
            </a:r>
          </a:p>
        </p:txBody>
      </p:sp>
      <p:sp>
        <p:nvSpPr>
          <p:cNvPr id="33" name="p23_layer_scope_1">
            <a:extLst>
              <a:ext uri="{FF2B5EF4-FFF2-40B4-BE49-F238E27FC236}">
                <a16:creationId xmlns:a16="http://schemas.microsoft.com/office/drawing/2014/main" id="{C8F32F53-E2F1-DCDA-D98E-2ED8455BBB9C}"/>
              </a:ext>
            </a:extLst>
          </p:cNvPr>
          <p:cNvSpPr txBox="1"/>
          <p:nvPr/>
        </p:nvSpPr>
        <p:spPr>
          <a:xfrm>
            <a:off x="609600" y="27178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单个 </a:t>
            </a:r>
            <a:r>
              <a:rPr lang="en-US" altLang="zh-CN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</a:t>
            </a:r>
            <a:r>
              <a:rPr lang="zh-CN" altLang="en-US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的开发过程</a:t>
            </a:r>
          </a:p>
        </p:txBody>
      </p:sp>
      <p:sp>
        <p:nvSpPr>
          <p:cNvPr id="34" name="p23_layer_line1_1">
            <a:extLst>
              <a:ext uri="{FF2B5EF4-FFF2-40B4-BE49-F238E27FC236}">
                <a16:creationId xmlns:a16="http://schemas.microsoft.com/office/drawing/2014/main" id="{258809D0-3CF7-F862-3B7D-353FF49DC3B5}"/>
              </a:ext>
            </a:extLst>
          </p:cNvPr>
          <p:cNvSpPr txBox="1"/>
          <p:nvPr/>
        </p:nvSpPr>
        <p:spPr>
          <a:xfrm>
            <a:off x="2794000" y="23241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Compaction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后从旧消息向前扫描；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Token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触发时，只对已完成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生成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35" name="p23_layer_line2_1">
            <a:extLst>
              <a:ext uri="{FF2B5EF4-FFF2-40B4-BE49-F238E27FC236}">
                <a16:creationId xmlns:a16="http://schemas.microsoft.com/office/drawing/2014/main" id="{D634F68C-4AAF-B0A9-22ED-A684AEB5CAAF}"/>
              </a:ext>
            </a:extLst>
          </p:cNvPr>
          <p:cNvSpPr txBox="1"/>
          <p:nvPr/>
        </p:nvSpPr>
        <p:spPr>
          <a:xfrm>
            <a:off x="2794000" y="27432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保留目标、变更文件、关键决策、错误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修复、验证和未完成项，并链接源块。</a:t>
            </a:r>
          </a:p>
        </p:txBody>
      </p:sp>
      <p:sp>
        <p:nvSpPr>
          <p:cNvPr id="36" name="p23_layer_2">
            <a:extLst>
              <a:ext uri="{FF2B5EF4-FFF2-40B4-BE49-F238E27FC236}">
                <a16:creationId xmlns:a16="http://schemas.microsoft.com/office/drawing/2014/main" id="{1AF87C35-C08C-5517-36B4-4AAC675C01A6}"/>
              </a:ext>
            </a:extLst>
          </p:cNvPr>
          <p:cNvSpPr/>
          <p:nvPr/>
        </p:nvSpPr>
        <p:spPr>
          <a:xfrm>
            <a:off x="419100" y="3365500"/>
            <a:ext cx="113538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p23_layer_band_2">
            <a:extLst>
              <a:ext uri="{FF2B5EF4-FFF2-40B4-BE49-F238E27FC236}">
                <a16:creationId xmlns:a16="http://schemas.microsoft.com/office/drawing/2014/main" id="{CB54991C-BD49-3EE4-245B-06B4E1BFC580}"/>
              </a:ext>
            </a:extLst>
          </p:cNvPr>
          <p:cNvSpPr/>
          <p:nvPr/>
        </p:nvSpPr>
        <p:spPr>
          <a:xfrm>
            <a:off x="419100" y="3378200"/>
            <a:ext cx="2146300" cy="1117600"/>
          </a:xfrm>
          <a:prstGeom prst="rect">
            <a:avLst/>
          </a:prstGeom>
          <a:solidFill>
            <a:srgbClr val="F8F7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p23_layer_accent_2">
            <a:extLst>
              <a:ext uri="{FF2B5EF4-FFF2-40B4-BE49-F238E27FC236}">
                <a16:creationId xmlns:a16="http://schemas.microsoft.com/office/drawing/2014/main" id="{77407237-08F1-8385-75B8-E11602702B69}"/>
              </a:ext>
            </a:extLst>
          </p:cNvPr>
          <p:cNvSpPr/>
          <p:nvPr/>
        </p:nvSpPr>
        <p:spPr>
          <a:xfrm>
            <a:off x="419100" y="3365500"/>
            <a:ext cx="50800" cy="11430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p23_layer_name_2">
            <a:extLst>
              <a:ext uri="{FF2B5EF4-FFF2-40B4-BE49-F238E27FC236}">
                <a16:creationId xmlns:a16="http://schemas.microsoft.com/office/drawing/2014/main" id="{C6BCE5C7-626D-899C-9AE6-559D78755828}"/>
              </a:ext>
            </a:extLst>
          </p:cNvPr>
          <p:cNvSpPr txBox="1"/>
          <p:nvPr/>
        </p:nvSpPr>
        <p:spPr>
          <a:xfrm>
            <a:off x="609600" y="35560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 · Version </a:t>
            </a:r>
            <a:r>
              <a:rPr lang="zh-CN" altLang="en-US" sz="17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</a:t>
            </a:r>
          </a:p>
        </p:txBody>
      </p:sp>
      <p:sp>
        <p:nvSpPr>
          <p:cNvPr id="40" name="p23_layer_scope_2">
            <a:extLst>
              <a:ext uri="{FF2B5EF4-FFF2-40B4-BE49-F238E27FC236}">
                <a16:creationId xmlns:a16="http://schemas.microsoft.com/office/drawing/2014/main" id="{E92F7AB9-A1B7-CC5B-0F96-59BB7250F3DC}"/>
              </a:ext>
            </a:extLst>
          </p:cNvPr>
          <p:cNvSpPr txBox="1"/>
          <p:nvPr/>
        </p:nvSpPr>
        <p:spPr>
          <a:xfrm>
            <a:off x="609600" y="39497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同一 </a:t>
            </a:r>
            <a:r>
              <a:rPr lang="en-US" altLang="zh-CN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Plan / Version</a:t>
            </a:r>
            <a:endParaRPr lang="zh-CN" altLang="en-US" sz="1260">
              <a:solidFill>
                <a:srgbClr val="243449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1" name="p23_layer_line1_2">
            <a:extLst>
              <a:ext uri="{FF2B5EF4-FFF2-40B4-BE49-F238E27FC236}">
                <a16:creationId xmlns:a16="http://schemas.microsoft.com/office/drawing/2014/main" id="{A5595337-41F8-5C6D-4AD1-3FF6707C244E}"/>
              </a:ext>
            </a:extLst>
          </p:cNvPr>
          <p:cNvSpPr txBox="1"/>
          <p:nvPr/>
        </p:nvSpPr>
        <p:spPr>
          <a:xfrm>
            <a:off x="2794000" y="35560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合并同一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内多个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Token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触及边界即停止，不跨到下一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。</a:t>
            </a:r>
          </a:p>
        </p:txBody>
      </p:sp>
      <p:sp>
        <p:nvSpPr>
          <p:cNvPr id="42" name="p23_layer_line2_2">
            <a:extLst>
              <a:ext uri="{FF2B5EF4-FFF2-40B4-BE49-F238E27FC236}">
                <a16:creationId xmlns:a16="http://schemas.microsoft.com/office/drawing/2014/main" id="{501AD7DF-2C2D-E8C2-D275-A13E1E05D695}"/>
              </a:ext>
            </a:extLst>
          </p:cNvPr>
          <p:cNvSpPr txBox="1"/>
          <p:nvPr/>
        </p:nvSpPr>
        <p:spPr>
          <a:xfrm>
            <a:off x="2794000" y="39751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宁可少摘要；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与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可以共存，当前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保留更细历史。</a:t>
            </a:r>
          </a:p>
        </p:txBody>
      </p:sp>
      <p:sp>
        <p:nvSpPr>
          <p:cNvPr id="43" name="p23_layer_3">
            <a:extLst>
              <a:ext uri="{FF2B5EF4-FFF2-40B4-BE49-F238E27FC236}">
                <a16:creationId xmlns:a16="http://schemas.microsoft.com/office/drawing/2014/main" id="{5AB4062F-B389-28AD-4CC4-63E38E5DDFEF}"/>
              </a:ext>
            </a:extLst>
          </p:cNvPr>
          <p:cNvSpPr/>
          <p:nvPr/>
        </p:nvSpPr>
        <p:spPr>
          <a:xfrm>
            <a:off x="419100" y="4597400"/>
            <a:ext cx="113538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p23_layer_band_3">
            <a:extLst>
              <a:ext uri="{FF2B5EF4-FFF2-40B4-BE49-F238E27FC236}">
                <a16:creationId xmlns:a16="http://schemas.microsoft.com/office/drawing/2014/main" id="{F36FDF20-4FC8-E231-1691-00A63DDCDFA1}"/>
              </a:ext>
            </a:extLst>
          </p:cNvPr>
          <p:cNvSpPr/>
          <p:nvPr/>
        </p:nvSpPr>
        <p:spPr>
          <a:xfrm>
            <a:off x="419100" y="4610100"/>
            <a:ext cx="2146300" cy="1117600"/>
          </a:xfrm>
          <a:prstGeom prst="rect">
            <a:avLst/>
          </a:prstGeom>
          <a:solidFill>
            <a:srgbClr val="F8F7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p23_layer_accent_3">
            <a:extLst>
              <a:ext uri="{FF2B5EF4-FFF2-40B4-BE49-F238E27FC236}">
                <a16:creationId xmlns:a16="http://schemas.microsoft.com/office/drawing/2014/main" id="{3D4F182C-FF5C-5123-11C2-93BA7DF48D4B}"/>
              </a:ext>
            </a:extLst>
          </p:cNvPr>
          <p:cNvSpPr/>
          <p:nvPr/>
        </p:nvSpPr>
        <p:spPr>
          <a:xfrm>
            <a:off x="419100" y="4597400"/>
            <a:ext cx="50800" cy="11430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p23_layer_name_3">
            <a:extLst>
              <a:ext uri="{FF2B5EF4-FFF2-40B4-BE49-F238E27FC236}">
                <a16:creationId xmlns:a16="http://schemas.microsoft.com/office/drawing/2014/main" id="{7B122AA2-F798-4CAF-89A7-92D0EAEF0969}"/>
              </a:ext>
            </a:extLst>
          </p:cNvPr>
          <p:cNvSpPr txBox="1"/>
          <p:nvPr/>
        </p:nvSpPr>
        <p:spPr>
          <a:xfrm>
            <a:off x="609600" y="47879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7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T3 · </a:t>
            </a:r>
            <a:r>
              <a:rPr lang="zh-CN" altLang="en-US" sz="17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项目历史</a:t>
            </a:r>
          </a:p>
        </p:txBody>
      </p:sp>
      <p:sp>
        <p:nvSpPr>
          <p:cNvPr id="47" name="p23_layer_scope_3">
            <a:extLst>
              <a:ext uri="{FF2B5EF4-FFF2-40B4-BE49-F238E27FC236}">
                <a16:creationId xmlns:a16="http://schemas.microsoft.com/office/drawing/2014/main" id="{8EA76075-7067-E2E9-ADB0-7A763169BA32}"/>
              </a:ext>
            </a:extLst>
          </p:cNvPr>
          <p:cNvSpPr txBox="1"/>
          <p:nvPr/>
        </p:nvSpPr>
        <p:spPr>
          <a:xfrm>
            <a:off x="609600" y="5181600"/>
            <a:ext cx="17907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多个 </a:t>
            </a:r>
            <a:r>
              <a:rPr lang="en-US" altLang="zh-CN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 </a:t>
            </a:r>
            <a:r>
              <a:rPr lang="zh-CN" altLang="en-US" sz="12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的长期演进</a:t>
            </a:r>
          </a:p>
        </p:txBody>
      </p:sp>
      <p:sp>
        <p:nvSpPr>
          <p:cNvPr id="48" name="p23_layer_line1_3">
            <a:extLst>
              <a:ext uri="{FF2B5EF4-FFF2-40B4-BE49-F238E27FC236}">
                <a16:creationId xmlns:a16="http://schemas.microsoft.com/office/drawing/2014/main" id="{7C7B56B3-A61C-7964-83FD-3AE399223BAF}"/>
              </a:ext>
            </a:extLst>
          </p:cNvPr>
          <p:cNvSpPr txBox="1"/>
          <p:nvPr/>
        </p:nvSpPr>
        <p:spPr>
          <a:xfrm>
            <a:off x="2794000" y="47879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合并多个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，概括跨 </a:t>
            </a:r>
            <a:r>
              <a:rPr lang="en-US" altLang="zh-CN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Version </a:t>
            </a:r>
            <a:r>
              <a:rPr lang="zh-CN" altLang="en-US" sz="136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的项目历史、长期目标与关键决策。</a:t>
            </a:r>
          </a:p>
        </p:txBody>
      </p:sp>
      <p:sp>
        <p:nvSpPr>
          <p:cNvPr id="49" name="p23_layer_line2_3">
            <a:extLst>
              <a:ext uri="{FF2B5EF4-FFF2-40B4-BE49-F238E27FC236}">
                <a16:creationId xmlns:a16="http://schemas.microsoft.com/office/drawing/2014/main" id="{6BDF1DAC-7D15-61D1-FF47-85D0C594DEA5}"/>
              </a:ext>
            </a:extLst>
          </p:cNvPr>
          <p:cNvSpPr txBox="1"/>
          <p:nvPr/>
        </p:nvSpPr>
        <p:spPr>
          <a:xfrm>
            <a:off x="2794000" y="5207000"/>
            <a:ext cx="87249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保留子块来源；需要细节时可沿映射返回 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6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或原始消息。</a:t>
            </a:r>
          </a:p>
        </p:txBody>
      </p:sp>
      <p:sp>
        <p:nvSpPr>
          <p:cNvPr id="8" name="p23_page_number">
            <a:extLst>
              <a:ext uri="{FF2B5EF4-FFF2-40B4-BE49-F238E27FC236}">
                <a16:creationId xmlns:a16="http://schemas.microsoft.com/office/drawing/2014/main" id="{A2B654BA-1C78-C144-1B4F-8C0449D8D2A2}"/>
              </a:ext>
            </a:extLst>
          </p:cNvPr>
          <p:cNvSpPr txBox="1"/>
          <p:nvPr/>
        </p:nvSpPr>
        <p:spPr>
          <a:xfrm>
            <a:off x="10985500" y="6525260"/>
            <a:ext cx="8699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617187"/>
                </a:solidFill>
                <a:latin typeface="Arial" panose="020B0604020202020204" pitchFamily="34" charset="0"/>
              </a:rPr>
              <a:t>23 / 32</a:t>
            </a:r>
            <a:endParaRPr lang="zh-CN" altLang="en-US" sz="1200">
              <a:solidFill>
                <a:srgbClr val="61718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69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796290"/>
            <a:chOff x="533400" y="413385"/>
            <a:chExt cx="11125200" cy="79629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0598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后续设计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尚未合入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Prod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6463308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受保护上下文：独立维护，按序组装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366510"/>
            <a:ext cx="11290012" cy="346591"/>
            <a:chOff x="565404" y="6366510"/>
            <a:chExt cx="11290012" cy="346591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6366510"/>
              <a:ext cx="602729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方案将受保护数据结构与 </a:t>
              </a:r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Memory </a:t>
              </a:r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摘要链解耦；实时更新与内容读取策略仍需实现验证。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55352" y="6528435"/>
              <a:ext cx="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p24_intro_bg">
            <a:extLst>
              <a:ext uri="{FF2B5EF4-FFF2-40B4-BE49-F238E27FC236}">
                <a16:creationId xmlns:a16="http://schemas.microsoft.com/office/drawing/2014/main" id="{12FDA325-21A2-0C6B-7B7F-50600D2193F6}"/>
              </a:ext>
            </a:extLst>
          </p:cNvPr>
          <p:cNvSpPr/>
          <p:nvPr/>
        </p:nvSpPr>
        <p:spPr>
          <a:xfrm>
            <a:off x="419100" y="1435100"/>
            <a:ext cx="11353800" cy="558800"/>
          </a:xfrm>
          <a:prstGeom prst="rect">
            <a:avLst/>
          </a:prstGeom>
          <a:solidFill>
            <a:srgbClr val="E7F4F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24_intro_accent">
            <a:extLst>
              <a:ext uri="{FF2B5EF4-FFF2-40B4-BE49-F238E27FC236}">
                <a16:creationId xmlns:a16="http://schemas.microsoft.com/office/drawing/2014/main" id="{22B16A6C-8616-6071-977D-BB397F15ABD0}"/>
              </a:ext>
            </a:extLst>
          </p:cNvPr>
          <p:cNvSpPr/>
          <p:nvPr/>
        </p:nvSpPr>
        <p:spPr>
          <a:xfrm>
            <a:off x="419100" y="1435100"/>
            <a:ext cx="50800" cy="5588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p24_intro">
            <a:extLst>
              <a:ext uri="{FF2B5EF4-FFF2-40B4-BE49-F238E27FC236}">
                <a16:creationId xmlns:a16="http://schemas.microsoft.com/office/drawing/2014/main" id="{7B690782-AC32-B4DF-EDCE-0E8829CA8031}"/>
              </a:ext>
            </a:extLst>
          </p:cNvPr>
          <p:cNvSpPr txBox="1"/>
          <p:nvPr/>
        </p:nvSpPr>
        <p:spPr>
          <a:xfrm>
            <a:off x="622300" y="1562100"/>
            <a:ext cx="10909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保护文件脱离 </a:t>
            </a:r>
            <a:r>
              <a:rPr lang="en-US" altLang="zh-CN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Memory </a:t>
            </a:r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摘要链，由独立数据结构实时维护；原消息列表顺序保持不变。</a:t>
            </a:r>
          </a:p>
        </p:txBody>
      </p:sp>
      <p:sp>
        <p:nvSpPr>
          <p:cNvPr id="29" name="p24_step_1">
            <a:extLst>
              <a:ext uri="{FF2B5EF4-FFF2-40B4-BE49-F238E27FC236}">
                <a16:creationId xmlns:a16="http://schemas.microsoft.com/office/drawing/2014/main" id="{81EDBC88-068A-A8B4-8B9E-CBDC7C3374CE}"/>
              </a:ext>
            </a:extLst>
          </p:cNvPr>
          <p:cNvSpPr/>
          <p:nvPr/>
        </p:nvSpPr>
        <p:spPr>
          <a:xfrm>
            <a:off x="419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p24_step_accent_1">
            <a:extLst>
              <a:ext uri="{FF2B5EF4-FFF2-40B4-BE49-F238E27FC236}">
                <a16:creationId xmlns:a16="http://schemas.microsoft.com/office/drawing/2014/main" id="{2DD9679A-8507-22FA-D53A-82440AA3FBF6}"/>
              </a:ext>
            </a:extLst>
          </p:cNvPr>
          <p:cNvSpPr/>
          <p:nvPr/>
        </p:nvSpPr>
        <p:spPr>
          <a:xfrm>
            <a:off x="419100" y="2197100"/>
            <a:ext cx="50800" cy="24384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24_step_heading_1">
            <a:extLst>
              <a:ext uri="{FF2B5EF4-FFF2-40B4-BE49-F238E27FC236}">
                <a16:creationId xmlns:a16="http://schemas.microsoft.com/office/drawing/2014/main" id="{EA198F30-264E-98F9-81D6-2FB726BBA852}"/>
              </a:ext>
            </a:extLst>
          </p:cNvPr>
          <p:cNvSpPr txBox="1"/>
          <p:nvPr/>
        </p:nvSpPr>
        <p:spPr>
          <a:xfrm>
            <a:off x="609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 · System Prompt</a:t>
            </a:r>
            <a:endParaRPr lang="zh-CN" altLang="en-US" sz="1600" b="1">
              <a:solidFill>
                <a:srgbClr val="7454C7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p24_step_body_1">
            <a:extLst>
              <a:ext uri="{FF2B5EF4-FFF2-40B4-BE49-F238E27FC236}">
                <a16:creationId xmlns:a16="http://schemas.microsoft.com/office/drawing/2014/main" id="{C12422D7-C4DD-21C7-FAA4-713FA52D6EE6}"/>
              </a:ext>
            </a:extLst>
          </p:cNvPr>
          <p:cNvSpPr txBox="1"/>
          <p:nvPr/>
        </p:nvSpPr>
        <p:spPr>
          <a:xfrm>
            <a:off x="609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系统约束与工具说明作为固定前缀，始终位于历史视图之前。</a:t>
            </a:r>
          </a:p>
        </p:txBody>
      </p:sp>
      <p:sp>
        <p:nvSpPr>
          <p:cNvPr id="33" name="p24_step_2">
            <a:extLst>
              <a:ext uri="{FF2B5EF4-FFF2-40B4-BE49-F238E27FC236}">
                <a16:creationId xmlns:a16="http://schemas.microsoft.com/office/drawing/2014/main" id="{A2126267-7D08-3D22-B899-C35903719101}"/>
              </a:ext>
            </a:extLst>
          </p:cNvPr>
          <p:cNvSpPr/>
          <p:nvPr/>
        </p:nvSpPr>
        <p:spPr>
          <a:xfrm>
            <a:off x="3340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p24_step_accent_2">
            <a:extLst>
              <a:ext uri="{FF2B5EF4-FFF2-40B4-BE49-F238E27FC236}">
                <a16:creationId xmlns:a16="http://schemas.microsoft.com/office/drawing/2014/main" id="{0E1F0E2C-F31F-3C5B-EBAE-E1C555BEB4A1}"/>
              </a:ext>
            </a:extLst>
          </p:cNvPr>
          <p:cNvSpPr/>
          <p:nvPr/>
        </p:nvSpPr>
        <p:spPr>
          <a:xfrm>
            <a:off x="3340100" y="2197100"/>
            <a:ext cx="50800" cy="24384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24_step_heading_2">
            <a:extLst>
              <a:ext uri="{FF2B5EF4-FFF2-40B4-BE49-F238E27FC236}">
                <a16:creationId xmlns:a16="http://schemas.microsoft.com/office/drawing/2014/main" id="{D42C329E-1623-BC05-891C-B7FFB0753827}"/>
              </a:ext>
            </a:extLst>
          </p:cNvPr>
          <p:cNvSpPr txBox="1"/>
          <p:nvPr/>
        </p:nvSpPr>
        <p:spPr>
          <a:xfrm>
            <a:off x="3530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 · </a:t>
            </a:r>
            <a:r>
              <a:rPr lang="zh-CN" altLang="en-US" sz="16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历史视图</a:t>
            </a:r>
          </a:p>
        </p:txBody>
      </p:sp>
      <p:sp>
        <p:nvSpPr>
          <p:cNvPr id="36" name="p24_step_body_2">
            <a:extLst>
              <a:ext uri="{FF2B5EF4-FFF2-40B4-BE49-F238E27FC236}">
                <a16:creationId xmlns:a16="http://schemas.microsoft.com/office/drawing/2014/main" id="{764FC466-ABD4-C64A-4598-39F5562682AA}"/>
              </a:ext>
            </a:extLst>
          </p:cNvPr>
          <p:cNvSpPr txBox="1"/>
          <p:nvPr/>
        </p:nvSpPr>
        <p:spPr>
          <a:xfrm>
            <a:off x="3530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T3 / T2 / T1 +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尚未摘要的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raw / T0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消息；摘要只映射原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Memory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的对应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Message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，列表顺序保持连续。</a:t>
            </a:r>
          </a:p>
        </p:txBody>
      </p:sp>
      <p:sp>
        <p:nvSpPr>
          <p:cNvPr id="37" name="p24_step_3">
            <a:extLst>
              <a:ext uri="{FF2B5EF4-FFF2-40B4-BE49-F238E27FC236}">
                <a16:creationId xmlns:a16="http://schemas.microsoft.com/office/drawing/2014/main" id="{0D57C4AD-1CA6-EA9C-8D15-654DFDFB9D8E}"/>
              </a:ext>
            </a:extLst>
          </p:cNvPr>
          <p:cNvSpPr/>
          <p:nvPr/>
        </p:nvSpPr>
        <p:spPr>
          <a:xfrm>
            <a:off x="6261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p24_step_accent_3">
            <a:extLst>
              <a:ext uri="{FF2B5EF4-FFF2-40B4-BE49-F238E27FC236}">
                <a16:creationId xmlns:a16="http://schemas.microsoft.com/office/drawing/2014/main" id="{B8547A2C-393F-AF73-E9C6-97847C9ADBEE}"/>
              </a:ext>
            </a:extLst>
          </p:cNvPr>
          <p:cNvSpPr/>
          <p:nvPr/>
        </p:nvSpPr>
        <p:spPr>
          <a:xfrm>
            <a:off x="6261100" y="2197100"/>
            <a:ext cx="50800" cy="2438400"/>
          </a:xfrm>
          <a:prstGeom prst="rect">
            <a:avLst/>
          </a:prstGeom>
          <a:solidFill>
            <a:srgbClr val="397BC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p24_step_heading_3">
            <a:extLst>
              <a:ext uri="{FF2B5EF4-FFF2-40B4-BE49-F238E27FC236}">
                <a16:creationId xmlns:a16="http://schemas.microsoft.com/office/drawing/2014/main" id="{E23B3229-023D-FA57-81D9-FED90AC189C8}"/>
              </a:ext>
            </a:extLst>
          </p:cNvPr>
          <p:cNvSpPr txBox="1"/>
          <p:nvPr/>
        </p:nvSpPr>
        <p:spPr>
          <a:xfrm>
            <a:off x="6451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397BC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· </a:t>
            </a:r>
            <a:r>
              <a:rPr lang="zh-CN" altLang="en-US" sz="1600" b="1">
                <a:solidFill>
                  <a:srgbClr val="397BC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受保护文件</a:t>
            </a:r>
          </a:p>
        </p:txBody>
      </p:sp>
      <p:sp>
        <p:nvSpPr>
          <p:cNvPr id="40" name="p24_step_body_3">
            <a:extLst>
              <a:ext uri="{FF2B5EF4-FFF2-40B4-BE49-F238E27FC236}">
                <a16:creationId xmlns:a16="http://schemas.microsoft.com/office/drawing/2014/main" id="{ED0653CB-A312-474F-850D-72B78987B306}"/>
              </a:ext>
            </a:extLst>
          </p:cNvPr>
          <p:cNvSpPr txBox="1"/>
          <p:nvPr/>
        </p:nvSpPr>
        <p:spPr>
          <a:xfrm>
            <a:off x="6451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App.tsx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router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、注册表由独立结构实时维护；组装时注入简短摘要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/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索引，必要时放入完整内容。</a:t>
            </a:r>
          </a:p>
        </p:txBody>
      </p:sp>
      <p:sp>
        <p:nvSpPr>
          <p:cNvPr id="41" name="p24_step_4">
            <a:extLst>
              <a:ext uri="{FF2B5EF4-FFF2-40B4-BE49-F238E27FC236}">
                <a16:creationId xmlns:a16="http://schemas.microsoft.com/office/drawing/2014/main" id="{62685F6C-B1D4-4EA4-3F5B-FDA055C59FA7}"/>
              </a:ext>
            </a:extLst>
          </p:cNvPr>
          <p:cNvSpPr/>
          <p:nvPr/>
        </p:nvSpPr>
        <p:spPr>
          <a:xfrm>
            <a:off x="9182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p24_step_accent_4">
            <a:extLst>
              <a:ext uri="{FF2B5EF4-FFF2-40B4-BE49-F238E27FC236}">
                <a16:creationId xmlns:a16="http://schemas.microsoft.com/office/drawing/2014/main" id="{F78B7DCE-6C80-38BB-CB0B-F25EB9C41187}"/>
              </a:ext>
            </a:extLst>
          </p:cNvPr>
          <p:cNvSpPr/>
          <p:nvPr/>
        </p:nvSpPr>
        <p:spPr>
          <a:xfrm>
            <a:off x="9182100" y="2197100"/>
            <a:ext cx="50800" cy="2438400"/>
          </a:xfrm>
          <a:prstGeom prst="rect">
            <a:avLst/>
          </a:prstGeom>
          <a:solidFill>
            <a:srgbClr val="E4961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p24_step_heading_4">
            <a:extLst>
              <a:ext uri="{FF2B5EF4-FFF2-40B4-BE49-F238E27FC236}">
                <a16:creationId xmlns:a16="http://schemas.microsoft.com/office/drawing/2014/main" id="{785D3FA3-9B10-F294-8E66-AEC5BBA66558}"/>
              </a:ext>
            </a:extLst>
          </p:cNvPr>
          <p:cNvSpPr txBox="1"/>
          <p:nvPr/>
        </p:nvSpPr>
        <p:spPr>
          <a:xfrm>
            <a:off x="9372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 · </a:t>
            </a:r>
            <a:r>
              <a:rPr lang="zh-CN" altLang="en-US" sz="16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本轮 </a:t>
            </a:r>
            <a:r>
              <a:rPr lang="en-US" altLang="zh-CN" sz="16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Prompt</a:t>
            </a:r>
            <a:endParaRPr lang="zh-CN" altLang="en-US" sz="1600" b="1">
              <a:solidFill>
                <a:srgbClr val="E49614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44" name="p24_step_body_4">
            <a:extLst>
              <a:ext uri="{FF2B5EF4-FFF2-40B4-BE49-F238E27FC236}">
                <a16:creationId xmlns:a16="http://schemas.microsoft.com/office/drawing/2014/main" id="{227CE28F-A122-8A85-0125-A633B4BAC720}"/>
              </a:ext>
            </a:extLst>
          </p:cNvPr>
          <p:cNvSpPr txBox="1"/>
          <p:nvPr/>
        </p:nvSpPr>
        <p:spPr>
          <a:xfrm>
            <a:off x="9372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当前用户需求放在最后，明确本轮的目标与任务边界。</a:t>
            </a:r>
          </a:p>
        </p:txBody>
      </p:sp>
      <p:sp>
        <p:nvSpPr>
          <p:cNvPr id="45" name="p24_arrow_1">
            <a:extLst>
              <a:ext uri="{FF2B5EF4-FFF2-40B4-BE49-F238E27FC236}">
                <a16:creationId xmlns:a16="http://schemas.microsoft.com/office/drawing/2014/main" id="{DAEAFEB7-082D-BD5F-8E64-9E4ABFE3A635}"/>
              </a:ext>
            </a:extLst>
          </p:cNvPr>
          <p:cNvSpPr txBox="1"/>
          <p:nvPr/>
        </p:nvSpPr>
        <p:spPr>
          <a:xfrm>
            <a:off x="3009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 dirty="0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6" name="p24_arrow_2">
            <a:extLst>
              <a:ext uri="{FF2B5EF4-FFF2-40B4-BE49-F238E27FC236}">
                <a16:creationId xmlns:a16="http://schemas.microsoft.com/office/drawing/2014/main" id="{861DD516-541E-6805-18F4-2144A138E895}"/>
              </a:ext>
            </a:extLst>
          </p:cNvPr>
          <p:cNvSpPr txBox="1"/>
          <p:nvPr/>
        </p:nvSpPr>
        <p:spPr>
          <a:xfrm>
            <a:off x="5930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7" name="p24_arrow_3">
            <a:extLst>
              <a:ext uri="{FF2B5EF4-FFF2-40B4-BE49-F238E27FC236}">
                <a16:creationId xmlns:a16="http://schemas.microsoft.com/office/drawing/2014/main" id="{ABDEF640-DB4C-9E03-A735-EF215EFE4E82}"/>
              </a:ext>
            </a:extLst>
          </p:cNvPr>
          <p:cNvSpPr txBox="1"/>
          <p:nvPr/>
        </p:nvSpPr>
        <p:spPr>
          <a:xfrm>
            <a:off x="8851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8" name="p24_context_bg">
            <a:extLst>
              <a:ext uri="{FF2B5EF4-FFF2-40B4-BE49-F238E27FC236}">
                <a16:creationId xmlns:a16="http://schemas.microsoft.com/office/drawing/2014/main" id="{5654CCDC-6543-9F84-9F79-2DC5B2298695}"/>
              </a:ext>
            </a:extLst>
          </p:cNvPr>
          <p:cNvSpPr/>
          <p:nvPr/>
        </p:nvSpPr>
        <p:spPr>
          <a:xfrm>
            <a:off x="419100" y="4826000"/>
            <a:ext cx="11353800" cy="546100"/>
          </a:xfrm>
          <a:prstGeom prst="rect">
            <a:avLst/>
          </a:prstGeom>
          <a:solidFill>
            <a:srgbClr val="F6F3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p24_context_accent">
            <a:extLst>
              <a:ext uri="{FF2B5EF4-FFF2-40B4-BE49-F238E27FC236}">
                <a16:creationId xmlns:a16="http://schemas.microsoft.com/office/drawing/2014/main" id="{CA078BF6-C7B9-A4E2-9D88-7A52380A6F73}"/>
              </a:ext>
            </a:extLst>
          </p:cNvPr>
          <p:cNvSpPr/>
          <p:nvPr/>
        </p:nvSpPr>
        <p:spPr>
          <a:xfrm>
            <a:off x="419100" y="4826000"/>
            <a:ext cx="50800" cy="5461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p24_context">
            <a:extLst>
              <a:ext uri="{FF2B5EF4-FFF2-40B4-BE49-F238E27FC236}">
                <a16:creationId xmlns:a16="http://schemas.microsoft.com/office/drawing/2014/main" id="{31343D4D-F674-6FA4-7C3B-1F43C12135CA}"/>
              </a:ext>
            </a:extLst>
          </p:cNvPr>
          <p:cNvSpPr txBox="1"/>
          <p:nvPr/>
        </p:nvSpPr>
        <p:spPr>
          <a:xfrm>
            <a:off x="622300" y="4953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 dirty="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上下文顺序：</a:t>
            </a:r>
            <a:r>
              <a:rPr lang="en-US" altLang="zh-CN" sz="1500" b="1" dirty="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System Prompt → </a:t>
            </a:r>
            <a:r>
              <a:rPr lang="zh-CN" altLang="en-US" sz="1500" b="1" dirty="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历史视图 → 受保护文件 → 本轮 </a:t>
            </a:r>
            <a:r>
              <a:rPr lang="en-US" altLang="zh-CN" sz="1500" b="1" dirty="0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Prompt</a:t>
            </a:r>
            <a:endParaRPr lang="zh-CN" altLang="en-US" sz="1500" b="1" dirty="0">
              <a:solidFill>
                <a:srgbClr val="142D4E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51" name="p24_outcome_bg">
            <a:extLst>
              <a:ext uri="{FF2B5EF4-FFF2-40B4-BE49-F238E27FC236}">
                <a16:creationId xmlns:a16="http://schemas.microsoft.com/office/drawing/2014/main" id="{3A828872-2F60-720D-3A5E-8A25DC167B35}"/>
              </a:ext>
            </a:extLst>
          </p:cNvPr>
          <p:cNvSpPr/>
          <p:nvPr/>
        </p:nvSpPr>
        <p:spPr>
          <a:xfrm>
            <a:off x="419100" y="5448300"/>
            <a:ext cx="11353800" cy="5969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p24_outcome">
            <a:extLst>
              <a:ext uri="{FF2B5EF4-FFF2-40B4-BE49-F238E27FC236}">
                <a16:creationId xmlns:a16="http://schemas.microsoft.com/office/drawing/2014/main" id="{77A3C22C-7B55-CDCC-D4CB-9F26D26382B5}"/>
              </a:ext>
            </a:extLst>
          </p:cNvPr>
          <p:cNvSpPr txBox="1"/>
          <p:nvPr/>
        </p:nvSpPr>
        <p:spPr>
          <a:xfrm>
            <a:off x="622300" y="5575300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Memory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主链不插入受保护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Message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T1–T3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仍对原列表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Message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摘要，保护内容在组装时后置。</a:t>
            </a:r>
          </a:p>
        </p:txBody>
      </p:sp>
      <p:sp>
        <p:nvSpPr>
          <p:cNvPr id="8" name="p24_page_number">
            <a:extLst>
              <a:ext uri="{FF2B5EF4-FFF2-40B4-BE49-F238E27FC236}">
                <a16:creationId xmlns:a16="http://schemas.microsoft.com/office/drawing/2014/main" id="{50A0A4C9-6024-AC95-49E4-BFF3028F876B}"/>
              </a:ext>
            </a:extLst>
          </p:cNvPr>
          <p:cNvSpPr txBox="1"/>
          <p:nvPr/>
        </p:nvSpPr>
        <p:spPr>
          <a:xfrm>
            <a:off x="10985500" y="6525260"/>
            <a:ext cx="8699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617187"/>
                </a:solidFill>
                <a:latin typeface="Arial" panose="020B0604020202020204" pitchFamily="34" charset="0"/>
              </a:rPr>
              <a:t>24 / 32</a:t>
            </a:r>
            <a:endParaRPr lang="zh-CN" altLang="en-US" sz="1200">
              <a:solidFill>
                <a:srgbClr val="61718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72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796290"/>
            <a:chOff x="533400" y="413385"/>
            <a:chExt cx="11125200" cy="79629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05985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　后续设计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· </a:t>
              </a:r>
              <a:r>
                <a:rPr lang="zh-CN" altLang="en-US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尚未合入 </a:t>
              </a:r>
              <a:r>
                <a:rPr lang="en-US" altLang="zh-CN" sz="120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Prod</a:t>
              </a:r>
              <a:endParaRPr lang="zh-CN" sz="12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10414000" cy="48474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3150" b="1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历史留在磁盘，细节按需恢复</a:t>
              </a:r>
              <a:endParaRPr lang="zh-CN" sz="31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65404" y="6366510"/>
            <a:ext cx="11290012" cy="346591"/>
            <a:chOff x="565404" y="6366510"/>
            <a:chExt cx="11290012" cy="346591"/>
          </a:xfrm>
        </p:grpSpPr>
        <p:sp>
          <p:nvSpPr>
            <p:cNvPr id="23" name="TextBox 23"/>
            <p:cNvSpPr txBox="1"/>
            <p:nvPr/>
          </p:nvSpPr>
          <p:spPr>
            <a:xfrm>
              <a:off x="565404" y="6366510"/>
              <a:ext cx="4924425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“用后即弃”只释放临时上下文；磁盘原文保留，收益仍待实现与验证。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855352" y="6528435"/>
              <a:ext cx="64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6" name="p24_intro_bg">
            <a:extLst>
              <a:ext uri="{FF2B5EF4-FFF2-40B4-BE49-F238E27FC236}">
                <a16:creationId xmlns:a16="http://schemas.microsoft.com/office/drawing/2014/main" id="{12FDA325-21A2-0C6B-7B7F-50600D2193F6}"/>
              </a:ext>
            </a:extLst>
          </p:cNvPr>
          <p:cNvSpPr/>
          <p:nvPr/>
        </p:nvSpPr>
        <p:spPr>
          <a:xfrm>
            <a:off x="419100" y="1435100"/>
            <a:ext cx="11353800" cy="558800"/>
          </a:xfrm>
          <a:prstGeom prst="rect">
            <a:avLst/>
          </a:prstGeom>
          <a:solidFill>
            <a:srgbClr val="E7F4F2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24_intro_accent">
            <a:extLst>
              <a:ext uri="{FF2B5EF4-FFF2-40B4-BE49-F238E27FC236}">
                <a16:creationId xmlns:a16="http://schemas.microsoft.com/office/drawing/2014/main" id="{22B16A6C-8616-6071-977D-BB397F15ABD0}"/>
              </a:ext>
            </a:extLst>
          </p:cNvPr>
          <p:cNvSpPr/>
          <p:nvPr/>
        </p:nvSpPr>
        <p:spPr>
          <a:xfrm>
            <a:off x="419100" y="1435100"/>
            <a:ext cx="50800" cy="5588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p24_intro">
            <a:extLst>
              <a:ext uri="{FF2B5EF4-FFF2-40B4-BE49-F238E27FC236}">
                <a16:creationId xmlns:a16="http://schemas.microsoft.com/office/drawing/2014/main" id="{7B690782-AC32-B4DF-EDCE-0E8829CA8031}"/>
              </a:ext>
            </a:extLst>
          </p:cNvPr>
          <p:cNvSpPr txBox="1"/>
          <p:nvPr/>
        </p:nvSpPr>
        <p:spPr>
          <a:xfrm>
            <a:off x="622300" y="1562100"/>
            <a:ext cx="109093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摘要常驻轻量入口；磁盘保存原始细节，</a:t>
            </a:r>
            <a:r>
              <a:rPr lang="en-US" altLang="zh-CN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Agent </a:t>
            </a:r>
            <a:r>
              <a:rPr lang="zh-CN" altLang="en-US" sz="16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只在任务需要时逐级展开。</a:t>
            </a:r>
          </a:p>
        </p:txBody>
      </p:sp>
      <p:sp>
        <p:nvSpPr>
          <p:cNvPr id="29" name="p24_step_1">
            <a:extLst>
              <a:ext uri="{FF2B5EF4-FFF2-40B4-BE49-F238E27FC236}">
                <a16:creationId xmlns:a16="http://schemas.microsoft.com/office/drawing/2014/main" id="{81EDBC88-068A-A8B4-8B9E-CBDC7C3374CE}"/>
              </a:ext>
            </a:extLst>
          </p:cNvPr>
          <p:cNvSpPr/>
          <p:nvPr/>
        </p:nvSpPr>
        <p:spPr>
          <a:xfrm>
            <a:off x="419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p24_step_accent_1">
            <a:extLst>
              <a:ext uri="{FF2B5EF4-FFF2-40B4-BE49-F238E27FC236}">
                <a16:creationId xmlns:a16="http://schemas.microsoft.com/office/drawing/2014/main" id="{2DD9679A-8507-22FA-D53A-82440AA3FBF6}"/>
              </a:ext>
            </a:extLst>
          </p:cNvPr>
          <p:cNvSpPr/>
          <p:nvPr/>
        </p:nvSpPr>
        <p:spPr>
          <a:xfrm>
            <a:off x="419100" y="2197100"/>
            <a:ext cx="50800" cy="24384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24_step_heading_1">
            <a:extLst>
              <a:ext uri="{FF2B5EF4-FFF2-40B4-BE49-F238E27FC236}">
                <a16:creationId xmlns:a16="http://schemas.microsoft.com/office/drawing/2014/main" id="{EA198F30-264E-98F9-81D6-2FB726BBA852}"/>
              </a:ext>
            </a:extLst>
          </p:cNvPr>
          <p:cNvSpPr txBox="1"/>
          <p:nvPr/>
        </p:nvSpPr>
        <p:spPr>
          <a:xfrm>
            <a:off x="609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01 · </a:t>
            </a:r>
            <a:r>
              <a:rPr lang="zh-CN" altLang="en-US" sz="16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磁盘归档</a:t>
            </a:r>
          </a:p>
        </p:txBody>
      </p:sp>
      <p:sp>
        <p:nvSpPr>
          <p:cNvPr id="32" name="p24_step_body_1">
            <a:extLst>
              <a:ext uri="{FF2B5EF4-FFF2-40B4-BE49-F238E27FC236}">
                <a16:creationId xmlns:a16="http://schemas.microsoft.com/office/drawing/2014/main" id="{C12422D7-C4DD-21C7-FAA4-713FA52D6EE6}"/>
              </a:ext>
            </a:extLst>
          </p:cNvPr>
          <p:cNvSpPr txBox="1"/>
          <p:nvPr/>
        </p:nvSpPr>
        <p:spPr>
          <a:xfrm>
            <a:off x="609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保存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Raw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消息、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T0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压缩块与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/ T2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摘要；记录类型、时间和源消息范围。</a:t>
            </a:r>
          </a:p>
        </p:txBody>
      </p:sp>
      <p:sp>
        <p:nvSpPr>
          <p:cNvPr id="33" name="p24_step_2">
            <a:extLst>
              <a:ext uri="{FF2B5EF4-FFF2-40B4-BE49-F238E27FC236}">
                <a16:creationId xmlns:a16="http://schemas.microsoft.com/office/drawing/2014/main" id="{A2126267-7D08-3D22-B899-C35903719101}"/>
              </a:ext>
            </a:extLst>
          </p:cNvPr>
          <p:cNvSpPr/>
          <p:nvPr/>
        </p:nvSpPr>
        <p:spPr>
          <a:xfrm>
            <a:off x="3340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p24_step_accent_2">
            <a:extLst>
              <a:ext uri="{FF2B5EF4-FFF2-40B4-BE49-F238E27FC236}">
                <a16:creationId xmlns:a16="http://schemas.microsoft.com/office/drawing/2014/main" id="{0E1F0E2C-F31F-3C5B-EBAE-E1C555BEB4A1}"/>
              </a:ext>
            </a:extLst>
          </p:cNvPr>
          <p:cNvSpPr/>
          <p:nvPr/>
        </p:nvSpPr>
        <p:spPr>
          <a:xfrm>
            <a:off x="3340100" y="2197100"/>
            <a:ext cx="50800" cy="2438400"/>
          </a:xfrm>
          <a:prstGeom prst="rect">
            <a:avLst/>
          </a:prstGeom>
          <a:solidFill>
            <a:srgbClr val="00948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24_step_heading_2">
            <a:extLst>
              <a:ext uri="{FF2B5EF4-FFF2-40B4-BE49-F238E27FC236}">
                <a16:creationId xmlns:a16="http://schemas.microsoft.com/office/drawing/2014/main" id="{D42C329E-1623-BC05-891C-B7FFB0753827}"/>
              </a:ext>
            </a:extLst>
          </p:cNvPr>
          <p:cNvSpPr txBox="1"/>
          <p:nvPr/>
        </p:nvSpPr>
        <p:spPr>
          <a:xfrm>
            <a:off x="3530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02 · </a:t>
            </a:r>
            <a:r>
              <a:rPr lang="zh-CN" altLang="en-US" sz="1600" b="1">
                <a:solidFill>
                  <a:srgbClr val="00948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来源映射</a:t>
            </a:r>
          </a:p>
        </p:txBody>
      </p:sp>
      <p:sp>
        <p:nvSpPr>
          <p:cNvPr id="36" name="p24_step_body_2">
            <a:extLst>
              <a:ext uri="{FF2B5EF4-FFF2-40B4-BE49-F238E27FC236}">
                <a16:creationId xmlns:a16="http://schemas.microsoft.com/office/drawing/2014/main" id="{764FC466-ABD4-C64A-4598-39F5562682AA}"/>
              </a:ext>
            </a:extLst>
          </p:cNvPr>
          <p:cNvSpPr txBox="1"/>
          <p:nvPr/>
        </p:nvSpPr>
        <p:spPr>
          <a:xfrm>
            <a:off x="3530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为每块保留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block_id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、父子关系与来源区间；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summary.md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保存摘要到源块的引用。</a:t>
            </a:r>
          </a:p>
        </p:txBody>
      </p:sp>
      <p:sp>
        <p:nvSpPr>
          <p:cNvPr id="37" name="p24_step_3">
            <a:extLst>
              <a:ext uri="{FF2B5EF4-FFF2-40B4-BE49-F238E27FC236}">
                <a16:creationId xmlns:a16="http://schemas.microsoft.com/office/drawing/2014/main" id="{0D57C4AD-1CA6-EA9C-8D15-654DFDFB9D8E}"/>
              </a:ext>
            </a:extLst>
          </p:cNvPr>
          <p:cNvSpPr/>
          <p:nvPr/>
        </p:nvSpPr>
        <p:spPr>
          <a:xfrm>
            <a:off x="6261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p24_step_accent_3">
            <a:extLst>
              <a:ext uri="{FF2B5EF4-FFF2-40B4-BE49-F238E27FC236}">
                <a16:creationId xmlns:a16="http://schemas.microsoft.com/office/drawing/2014/main" id="{B8547A2C-393F-AF73-E9C6-97847C9ADBEE}"/>
              </a:ext>
            </a:extLst>
          </p:cNvPr>
          <p:cNvSpPr/>
          <p:nvPr/>
        </p:nvSpPr>
        <p:spPr>
          <a:xfrm>
            <a:off x="6261100" y="2197100"/>
            <a:ext cx="50800" cy="2438400"/>
          </a:xfrm>
          <a:prstGeom prst="rect">
            <a:avLst/>
          </a:prstGeom>
          <a:solidFill>
            <a:srgbClr val="397BCA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p24_step_heading_3">
            <a:extLst>
              <a:ext uri="{FF2B5EF4-FFF2-40B4-BE49-F238E27FC236}">
                <a16:creationId xmlns:a16="http://schemas.microsoft.com/office/drawing/2014/main" id="{E23B3229-023D-FA57-81D9-FED90AC189C8}"/>
              </a:ext>
            </a:extLst>
          </p:cNvPr>
          <p:cNvSpPr txBox="1"/>
          <p:nvPr/>
        </p:nvSpPr>
        <p:spPr>
          <a:xfrm>
            <a:off x="6451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397BC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03 · Agent </a:t>
            </a:r>
            <a:r>
              <a:rPr lang="zh-CN" altLang="en-US" sz="1600" b="1">
                <a:solidFill>
                  <a:srgbClr val="397BCA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按需展开</a:t>
            </a:r>
          </a:p>
        </p:txBody>
      </p:sp>
      <p:sp>
        <p:nvSpPr>
          <p:cNvPr id="40" name="p24_step_body_3">
            <a:extLst>
              <a:ext uri="{FF2B5EF4-FFF2-40B4-BE49-F238E27FC236}">
                <a16:creationId xmlns:a16="http://schemas.microsoft.com/office/drawing/2014/main" id="{ED0653CB-A312-474F-850D-72B78987B306}"/>
              </a:ext>
            </a:extLst>
          </p:cNvPr>
          <p:cNvSpPr txBox="1"/>
          <p:nvPr/>
        </p:nvSpPr>
        <p:spPr>
          <a:xfrm>
            <a:off x="6451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调用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Editor.read / expand(block_id)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，沿 </a:t>
            </a:r>
            <a:r>
              <a:rPr lang="en-US" altLang="zh-CN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T2 → T1 → </a:t>
            </a:r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原始消息逐级读取当前所需细节。</a:t>
            </a:r>
          </a:p>
        </p:txBody>
      </p:sp>
      <p:sp>
        <p:nvSpPr>
          <p:cNvPr id="41" name="p24_step_4">
            <a:extLst>
              <a:ext uri="{FF2B5EF4-FFF2-40B4-BE49-F238E27FC236}">
                <a16:creationId xmlns:a16="http://schemas.microsoft.com/office/drawing/2014/main" id="{62685F6C-B1D4-4EA4-3F5B-FDA055C59FA7}"/>
              </a:ext>
            </a:extLst>
          </p:cNvPr>
          <p:cNvSpPr/>
          <p:nvPr/>
        </p:nvSpPr>
        <p:spPr>
          <a:xfrm>
            <a:off x="9182100" y="2197100"/>
            <a:ext cx="2590800" cy="24384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p24_step_accent_4">
            <a:extLst>
              <a:ext uri="{FF2B5EF4-FFF2-40B4-BE49-F238E27FC236}">
                <a16:creationId xmlns:a16="http://schemas.microsoft.com/office/drawing/2014/main" id="{F78B7DCE-6C80-38BB-CB0B-F25EB9C41187}"/>
              </a:ext>
            </a:extLst>
          </p:cNvPr>
          <p:cNvSpPr/>
          <p:nvPr/>
        </p:nvSpPr>
        <p:spPr>
          <a:xfrm>
            <a:off x="9182100" y="2197100"/>
            <a:ext cx="50800" cy="2438400"/>
          </a:xfrm>
          <a:prstGeom prst="rect">
            <a:avLst/>
          </a:prstGeom>
          <a:solidFill>
            <a:srgbClr val="E49614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p24_step_heading_4">
            <a:extLst>
              <a:ext uri="{FF2B5EF4-FFF2-40B4-BE49-F238E27FC236}">
                <a16:creationId xmlns:a16="http://schemas.microsoft.com/office/drawing/2014/main" id="{785D3FA3-9B10-F294-8E66-AEC5BBA66558}"/>
              </a:ext>
            </a:extLst>
          </p:cNvPr>
          <p:cNvSpPr txBox="1"/>
          <p:nvPr/>
        </p:nvSpPr>
        <p:spPr>
          <a:xfrm>
            <a:off x="9372600" y="23876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zh-CN" sz="16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04 · </a:t>
            </a:r>
            <a:r>
              <a:rPr lang="zh-CN" altLang="en-US" sz="1600" b="1">
                <a:solidFill>
                  <a:srgbClr val="E49614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用后释放</a:t>
            </a:r>
          </a:p>
        </p:txBody>
      </p:sp>
      <p:sp>
        <p:nvSpPr>
          <p:cNvPr id="44" name="p24_step_body_4">
            <a:extLst>
              <a:ext uri="{FF2B5EF4-FFF2-40B4-BE49-F238E27FC236}">
                <a16:creationId xmlns:a16="http://schemas.microsoft.com/office/drawing/2014/main" id="{227CE28F-A122-8A85-0125-A633B4BAC720}"/>
              </a:ext>
            </a:extLst>
          </p:cNvPr>
          <p:cNvSpPr txBox="1"/>
          <p:nvPr/>
        </p:nvSpPr>
        <p:spPr>
          <a:xfrm>
            <a:off x="9372600" y="28702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4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只把当前决策需要的原文临时放回上下文；用完释放临时内容，磁盘原档继续保留。</a:t>
            </a:r>
          </a:p>
        </p:txBody>
      </p:sp>
      <p:sp>
        <p:nvSpPr>
          <p:cNvPr id="45" name="p24_arrow_1">
            <a:extLst>
              <a:ext uri="{FF2B5EF4-FFF2-40B4-BE49-F238E27FC236}">
                <a16:creationId xmlns:a16="http://schemas.microsoft.com/office/drawing/2014/main" id="{DAEAFEB7-082D-BD5F-8E64-9E4ABFE3A635}"/>
              </a:ext>
            </a:extLst>
          </p:cNvPr>
          <p:cNvSpPr txBox="1"/>
          <p:nvPr/>
        </p:nvSpPr>
        <p:spPr>
          <a:xfrm>
            <a:off x="3009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6" name="p24_arrow_2">
            <a:extLst>
              <a:ext uri="{FF2B5EF4-FFF2-40B4-BE49-F238E27FC236}">
                <a16:creationId xmlns:a16="http://schemas.microsoft.com/office/drawing/2014/main" id="{861DD516-541E-6805-18F4-2144A138E895}"/>
              </a:ext>
            </a:extLst>
          </p:cNvPr>
          <p:cNvSpPr txBox="1"/>
          <p:nvPr/>
        </p:nvSpPr>
        <p:spPr>
          <a:xfrm>
            <a:off x="5930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7" name="p24_arrow_3">
            <a:extLst>
              <a:ext uri="{FF2B5EF4-FFF2-40B4-BE49-F238E27FC236}">
                <a16:creationId xmlns:a16="http://schemas.microsoft.com/office/drawing/2014/main" id="{ABDEF640-DB4C-9E03-A735-EF215EFE4E82}"/>
              </a:ext>
            </a:extLst>
          </p:cNvPr>
          <p:cNvSpPr txBox="1"/>
          <p:nvPr/>
        </p:nvSpPr>
        <p:spPr>
          <a:xfrm>
            <a:off x="8851900" y="3175000"/>
            <a:ext cx="330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zh-CN" altLang="en-US" sz="2100" b="1">
                <a:solidFill>
                  <a:srgbClr val="7454C7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→</a:t>
            </a:r>
          </a:p>
        </p:txBody>
      </p:sp>
      <p:sp>
        <p:nvSpPr>
          <p:cNvPr id="48" name="p24_context_bg">
            <a:extLst>
              <a:ext uri="{FF2B5EF4-FFF2-40B4-BE49-F238E27FC236}">
                <a16:creationId xmlns:a16="http://schemas.microsoft.com/office/drawing/2014/main" id="{5654CCDC-6543-9F84-9F79-2DC5B2298695}"/>
              </a:ext>
            </a:extLst>
          </p:cNvPr>
          <p:cNvSpPr/>
          <p:nvPr/>
        </p:nvSpPr>
        <p:spPr>
          <a:xfrm>
            <a:off x="419100" y="4826000"/>
            <a:ext cx="11353800" cy="546100"/>
          </a:xfrm>
          <a:prstGeom prst="rect">
            <a:avLst/>
          </a:prstGeom>
          <a:solidFill>
            <a:srgbClr val="F6F3FC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p24_context_accent">
            <a:extLst>
              <a:ext uri="{FF2B5EF4-FFF2-40B4-BE49-F238E27FC236}">
                <a16:creationId xmlns:a16="http://schemas.microsoft.com/office/drawing/2014/main" id="{CA078BF6-C7B9-A4E2-9D88-7A52380A6F73}"/>
              </a:ext>
            </a:extLst>
          </p:cNvPr>
          <p:cNvSpPr/>
          <p:nvPr/>
        </p:nvSpPr>
        <p:spPr>
          <a:xfrm>
            <a:off x="419100" y="4826000"/>
            <a:ext cx="50800" cy="546100"/>
          </a:xfrm>
          <a:prstGeom prst="rect">
            <a:avLst/>
          </a:prstGeom>
          <a:solidFill>
            <a:srgbClr val="7454C7"/>
          </a:solidFill>
          <a:ln w="952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accent1">
                    <a:shade val="95000"/>
                    <a:satMod val="105000"/>
                  </a:schemeClr>
                </a:solidFill>
                <a:prstDash val="soli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p24_context">
            <a:extLst>
              <a:ext uri="{FF2B5EF4-FFF2-40B4-BE49-F238E27FC236}">
                <a16:creationId xmlns:a16="http://schemas.microsoft.com/office/drawing/2014/main" id="{31343D4D-F674-6FA4-7C3B-1F43C12135CA}"/>
              </a:ext>
            </a:extLst>
          </p:cNvPr>
          <p:cNvSpPr txBox="1"/>
          <p:nvPr/>
        </p:nvSpPr>
        <p:spPr>
          <a:xfrm>
            <a:off x="622300" y="4953000"/>
            <a:ext cx="1092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活跃上下文 </a:t>
            </a:r>
            <a:r>
              <a:rPr lang="en-US" altLang="zh-CN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= </a:t>
            </a:r>
            <a:r>
              <a:rPr lang="zh-CN" altLang="en-US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当前 </a:t>
            </a:r>
            <a:r>
              <a:rPr lang="en-US" altLang="zh-CN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Todo + </a:t>
            </a:r>
            <a:r>
              <a:rPr lang="zh-CN" altLang="en-US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最近受保护消息 </a:t>
            </a:r>
            <a:r>
              <a:rPr lang="en-US" altLang="zh-CN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 T1 / T2 </a:t>
            </a:r>
            <a:r>
              <a:rPr lang="zh-CN" altLang="en-US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摘要 </a:t>
            </a:r>
            <a:r>
              <a:rPr lang="en-US" altLang="zh-CN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+ </a:t>
            </a:r>
            <a:r>
              <a:rPr lang="zh-CN" altLang="en-US" sz="1500" b="1">
                <a:solidFill>
                  <a:srgbClr val="142D4E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按需展开的短时原文</a:t>
            </a:r>
          </a:p>
        </p:txBody>
      </p:sp>
      <p:sp>
        <p:nvSpPr>
          <p:cNvPr id="51" name="p24_outcome_bg">
            <a:extLst>
              <a:ext uri="{FF2B5EF4-FFF2-40B4-BE49-F238E27FC236}">
                <a16:creationId xmlns:a16="http://schemas.microsoft.com/office/drawing/2014/main" id="{3A828872-2F60-720D-3A5E-8A25DC167B35}"/>
              </a:ext>
            </a:extLst>
          </p:cNvPr>
          <p:cNvSpPr/>
          <p:nvPr/>
        </p:nvSpPr>
        <p:spPr>
          <a:xfrm>
            <a:off x="419100" y="5448300"/>
            <a:ext cx="11353800" cy="596900"/>
          </a:xfrm>
          <a:prstGeom prst="rect">
            <a:avLst/>
          </a:prstGeom>
          <a:solidFill>
            <a:srgbClr val="FFFFFF"/>
          </a:solidFill>
          <a:ln w="8890">
            <a:solidFill>
              <a:srgbClr val="DAE3EE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p24_outcome">
            <a:extLst>
              <a:ext uri="{FF2B5EF4-FFF2-40B4-BE49-F238E27FC236}">
                <a16:creationId xmlns:a16="http://schemas.microsoft.com/office/drawing/2014/main" id="{77A3C22C-7B55-CDCC-D4CB-9F26D26382B5}"/>
              </a:ext>
            </a:extLst>
          </p:cNvPr>
          <p:cNvSpPr txBox="1"/>
          <p:nvPr/>
        </p:nvSpPr>
        <p:spPr>
          <a:xfrm>
            <a:off x="622300" y="5575300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无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时，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Compaction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收益递减，最终依赖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MetaGPT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近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30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条已处理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Memory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；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T1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预期减少摘要频次与 </a:t>
            </a:r>
            <a:r>
              <a:rPr lang="en-US" altLang="zh-CN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LLM </a:t>
            </a:r>
            <a:r>
              <a:rPr lang="zh-CN" altLang="en-US" sz="1320">
                <a:solidFill>
                  <a:srgbClr val="243449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介入，仍待验证。</a:t>
            </a:r>
          </a:p>
        </p:txBody>
      </p:sp>
      <p:sp>
        <p:nvSpPr>
          <p:cNvPr id="8" name="p24_page_number">
            <a:extLst>
              <a:ext uri="{FF2B5EF4-FFF2-40B4-BE49-F238E27FC236}">
                <a16:creationId xmlns:a16="http://schemas.microsoft.com/office/drawing/2014/main" id="{50A0A4C9-6024-AC95-49E4-BFF3028F876B}"/>
              </a:ext>
            </a:extLst>
          </p:cNvPr>
          <p:cNvSpPr txBox="1"/>
          <p:nvPr/>
        </p:nvSpPr>
        <p:spPr>
          <a:xfrm>
            <a:off x="10985500" y="6525260"/>
            <a:ext cx="86995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1200">
                <a:solidFill>
                  <a:srgbClr val="617187"/>
                </a:solidFill>
                <a:latin typeface="Arial" panose="020B0604020202020204" pitchFamily="34" charset="0"/>
              </a:rPr>
              <a:t>25 / 32</a:t>
            </a:r>
            <a:endParaRPr lang="zh-CN" altLang="en-US" sz="1200">
              <a:solidFill>
                <a:srgbClr val="617187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37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1206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实验优化版的分层记忆流程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3400" y="1362075"/>
            <a:ext cx="8858250" cy="5029200"/>
            <a:chOff x="533400" y="1362075"/>
            <a:chExt cx="8858250" cy="5029200"/>
          </a:xfrm>
        </p:grpSpPr>
        <p:sp>
          <p:nvSpPr>
            <p:cNvPr id="8" name="Rectangle 8"/>
            <p:cNvSpPr/>
            <p:nvPr/>
          </p:nvSpPr>
          <p:spPr>
            <a:xfrm>
              <a:off x="533400" y="1362075"/>
              <a:ext cx="8858250" cy="50292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9713" y="1400175"/>
              <a:ext cx="8708475" cy="4898517"/>
            </a:xfrm>
            <a:prstGeom prst="rect">
              <a:avLst/>
            </a:prstGeom>
          </p:spPr>
        </p:pic>
      </p:grpSp>
      <p:grpSp>
        <p:nvGrpSpPr>
          <p:cNvPr id="21" name="Group 21"/>
          <p:cNvGrpSpPr/>
          <p:nvPr/>
        </p:nvGrpSpPr>
        <p:grpSpPr>
          <a:xfrm>
            <a:off x="9353550" y="1504950"/>
            <a:ext cx="2419350" cy="4552950"/>
            <a:chOff x="9353550" y="1504950"/>
            <a:chExt cx="2419350" cy="4552950"/>
          </a:xfrm>
        </p:grpSpPr>
        <p:sp>
          <p:nvSpPr>
            <p:cNvPr id="11" name="Rectangle 11"/>
            <p:cNvSpPr/>
            <p:nvPr/>
          </p:nvSpPr>
          <p:spPr>
            <a:xfrm>
              <a:off x="9353550" y="1504950"/>
              <a:ext cx="2419350" cy="45529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353550" y="1504950"/>
              <a:ext cx="38100" cy="45529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95282" y="1640205"/>
              <a:ext cx="185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T0　局部压缩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98330" y="21526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消息级局部压缩。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95282" y="2811780"/>
              <a:ext cx="185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T1　开发摘要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98330" y="3324225"/>
              <a:ext cx="1915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Development Digest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95282" y="3983355"/>
              <a:ext cx="185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T2　合并摘要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98330" y="4495800"/>
              <a:ext cx="16937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Composite Digest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95282" y="5154930"/>
              <a:ext cx="185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T3　项目历史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98330" y="5667375"/>
              <a:ext cx="17132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Project Chronicle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5404" y="6528435"/>
            <a:ext cx="11290012" cy="234696"/>
            <a:chOff x="565404" y="6528435"/>
            <a:chExt cx="1129001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565404" y="6528435"/>
              <a:ext cx="41548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p13；完整原图保留，按需恢复内容用后释放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26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实验优化版的预算与层级门槛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19100" y="1476375"/>
            <a:ext cx="5314950" cy="4572000"/>
            <a:chOff x="419100" y="1476375"/>
            <a:chExt cx="5314950" cy="4572000"/>
          </a:xfrm>
        </p:grpSpPr>
        <p:sp>
          <p:nvSpPr>
            <p:cNvPr id="8" name="Rectangle 8"/>
            <p:cNvSpPr/>
            <p:nvPr/>
          </p:nvSpPr>
          <p:spPr>
            <a:xfrm>
              <a:off x="419100" y="1476375"/>
              <a:ext cx="5314950" cy="45720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9"/>
            <p:cNvSpPr/>
            <p:nvPr/>
          </p:nvSpPr>
          <p:spPr>
            <a:xfrm>
              <a:off x="419100" y="1476375"/>
              <a:ext cx="38100" cy="45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0832" y="1649730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全局预算与保护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2356" y="2282190"/>
              <a:ext cx="16938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Context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61611" y="2282190"/>
              <a:ext cx="5815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128K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2356" y="2815590"/>
              <a:ext cx="251856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Reserved / Effective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44721" y="2815590"/>
              <a:ext cx="1298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15K / 113K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2356" y="3348990"/>
              <a:ext cx="16559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Global Trigger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4332" y="3348990"/>
              <a:ext cx="1208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80% ≈ 90K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62356" y="3882390"/>
              <a:ext cx="82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Target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34332" y="3882390"/>
              <a:ext cx="1208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50% ≈ 56K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2356" y="4415790"/>
              <a:ext cx="21779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Recent Protection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76596" y="4415790"/>
              <a:ext cx="466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条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2356" y="4949190"/>
              <a:ext cx="29251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Current Task Protection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249" y="4949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2356" y="5482590"/>
              <a:ext cx="1299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 min gain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209870" y="5482590"/>
              <a:ext cx="333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8%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096000" y="1476375"/>
            <a:ext cx="5676900" cy="4572000"/>
            <a:chOff x="6096000" y="1476375"/>
            <a:chExt cx="5676900" cy="4572000"/>
          </a:xfrm>
        </p:grpSpPr>
        <p:sp>
          <p:nvSpPr>
            <p:cNvPr id="26" name="Rectangle 26"/>
            <p:cNvSpPr/>
            <p:nvPr/>
          </p:nvSpPr>
          <p:spPr>
            <a:xfrm>
              <a:off x="6096000" y="1476375"/>
              <a:ext cx="5676900" cy="45720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096000" y="1476375"/>
              <a:ext cx="38100" cy="4572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37732" y="164973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层级蒸馏门槛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9256" y="2463165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T1 → T2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9256" y="2920365"/>
              <a:ext cx="2132838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 总量 ≥ 8K tokens</a:t>
              </a:r>
              <a:br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且 ≥ 4 blocks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6248400" y="3667125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39256" y="3910965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T2 → T3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39256" y="4368165"/>
              <a:ext cx="3828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T2 总量 ≥ 4K tokens 且 ≥ 3 blocks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6248400" y="4895850"/>
              <a:ext cx="5372100" cy="9525"/>
            </a:xfrm>
            <a:custGeom>
              <a:avLst/>
              <a:gdLst/>
              <a:ahLst/>
              <a:cxnLst/>
              <a:rect l="l" t="t" r="r" b="b"/>
              <a:pathLst>
                <a:path w="5372100" h="9525">
                  <a:moveTo>
                    <a:pt x="0" y="0"/>
                  </a:moveTo>
                  <a:lnTo>
                    <a:pt x="5372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39256" y="5139690"/>
              <a:ext cx="918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T3 → T3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39256" y="5596890"/>
              <a:ext cx="3828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T3 总量 ≥ 2K tokens 且 ≥ 2 blocks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65404" y="6385560"/>
            <a:ext cx="11290012" cy="327541"/>
            <a:chOff x="565404" y="6385560"/>
            <a:chExt cx="11290012" cy="327541"/>
          </a:xfrm>
        </p:grpSpPr>
        <p:sp>
          <p:nvSpPr>
            <p:cNvPr id="38" name="TextBox 38"/>
            <p:cNvSpPr txBox="1"/>
            <p:nvPr/>
          </p:nvSpPr>
          <p:spPr>
            <a:xfrm>
              <a:off x="565404" y="6385560"/>
              <a:ext cx="58417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p13–14；K 与约数沿用原表，升层由 token 总量和 block 数共同决定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85737" y="6528435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27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68168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优化版时间线：低收益时再分块摘要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1400175"/>
            <a:ext cx="10363200" cy="4810125"/>
            <a:chOff x="914400" y="1400175"/>
            <a:chExt cx="10363200" cy="4810125"/>
          </a:xfrm>
        </p:grpSpPr>
        <p:sp>
          <p:nvSpPr>
            <p:cNvPr id="8" name="Rectangle 8"/>
            <p:cNvSpPr/>
            <p:nvPr/>
          </p:nvSpPr>
          <p:spPr>
            <a:xfrm>
              <a:off x="914400" y="1400175"/>
              <a:ext cx="10363200" cy="4810125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1438275"/>
              <a:ext cx="10287000" cy="4731544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563880" y="6229350"/>
            <a:ext cx="8226569" cy="293370"/>
            <a:chOff x="563880" y="6229350"/>
            <a:chExt cx="8226569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6229350"/>
              <a:ext cx="82265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前三次 Compaction 达到目标；第六轮局部收益仅 6.6%，再由 T1 将 78.8% 降至 45.3%。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5404" y="6537960"/>
            <a:ext cx="11290012" cy="234696"/>
            <a:chOff x="565404" y="6537960"/>
            <a:chExt cx="1129001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6537960"/>
              <a:ext cx="4348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p14；首次三次回落至 47.7%、49.1%、49.6%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5737" y="65379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28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625788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优化版的压缩类型与 Token 节省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9150" y="1390650"/>
            <a:ext cx="10553700" cy="4876800"/>
            <a:chOff x="819150" y="1390650"/>
            <a:chExt cx="10553700" cy="4876800"/>
          </a:xfrm>
        </p:grpSpPr>
        <p:sp>
          <p:nvSpPr>
            <p:cNvPr id="8" name="Rectangle 8"/>
            <p:cNvSpPr/>
            <p:nvPr/>
          </p:nvSpPr>
          <p:spPr>
            <a:xfrm>
              <a:off x="819150" y="1390650"/>
              <a:ext cx="10553700" cy="48768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7250" y="1428750"/>
              <a:ext cx="10477500" cy="4794599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563880" y="6267450"/>
            <a:ext cx="8611743" cy="293370"/>
            <a:chOff x="563880" y="6267450"/>
            <a:chExt cx="8611743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6267450"/>
              <a:ext cx="861174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R3–R6 分别释放 42.3K、39.0K、36.1K、6.3K tokens；末轮局部压缩的边际收益明显降低。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5404" y="6537960"/>
            <a:ext cx="11290012" cy="234696"/>
            <a:chOff x="565404" y="6537960"/>
            <a:chExt cx="1129001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6537960"/>
              <a:ext cx="4118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p14；左侧为消息数量，右侧为移除 token 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5737" y="65379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29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54469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上下文组成与摘要层级的演变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1323975"/>
            <a:ext cx="10363200" cy="4876800"/>
            <a:chOff x="914400" y="1323975"/>
            <a:chExt cx="10363200" cy="4876800"/>
          </a:xfrm>
        </p:grpSpPr>
        <p:sp>
          <p:nvSpPr>
            <p:cNvPr id="8" name="Rectangle 8"/>
            <p:cNvSpPr/>
            <p:nvPr/>
          </p:nvSpPr>
          <p:spPr>
            <a:xfrm>
              <a:off x="914400" y="1323975"/>
              <a:ext cx="10363200" cy="487680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500" y="1362075"/>
              <a:ext cx="10287000" cy="4793266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563880" y="6238875"/>
            <a:ext cx="8147533" cy="293370"/>
            <a:chOff x="563880" y="6238875"/>
            <a:chExt cx="8147533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6238875"/>
              <a:ext cx="81475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Raw 占主要窗口，旧历史逐步形成 T1；达到预算后蒸馏为 T2，升层由实际积累量决定。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5404" y="6537960"/>
            <a:ext cx="11290012" cy="234696"/>
            <a:chOff x="565404" y="6537960"/>
            <a:chExt cx="1129001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6537960"/>
              <a:ext cx="43597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p15；图示实验展示到 T2，未展示 T3 实际形成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5737" y="65379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30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533400" y="413385"/>
            <a:ext cx="11125200" cy="891350"/>
            <a:chOff x="533400" y="413385"/>
            <a:chExt cx="11125200" cy="891350"/>
          </a:xfrm>
        </p:grpSpPr>
        <p:sp>
          <p:nvSpPr>
            <p:cNvPr id="2" name="Rectangle 2"/>
            <p:cNvSpPr/>
            <p:nvPr/>
          </p:nvSpPr>
          <p:spPr>
            <a:xfrm>
              <a:off x="533400" y="419100"/>
              <a:ext cx="38100" cy="209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Line 3"/>
            <p:cNvSpPr/>
            <p:nvPr/>
          </p:nvSpPr>
          <p:spPr>
            <a:xfrm>
              <a:off x="533400" y="12001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Line 4"/>
            <p:cNvSpPr/>
            <p:nvPr/>
          </p:nvSpPr>
          <p:spPr>
            <a:xfrm>
              <a:off x="533400" y="1200150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65404" y="413385"/>
              <a:ext cx="2264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05　后续优化 · 尚未合入 Prod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5498" y="688658"/>
              <a:ext cx="596874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摘要压缩与按需恢复的生命周期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6275" y="1447800"/>
            <a:ext cx="10839450" cy="4819650"/>
            <a:chOff x="676275" y="1447800"/>
            <a:chExt cx="10839450" cy="4819650"/>
          </a:xfrm>
        </p:grpSpPr>
        <p:sp>
          <p:nvSpPr>
            <p:cNvPr id="8" name="Rectangle 8"/>
            <p:cNvSpPr/>
            <p:nvPr/>
          </p:nvSpPr>
          <p:spPr>
            <a:xfrm>
              <a:off x="676275" y="1447800"/>
              <a:ext cx="10839450" cy="4819650"/>
            </a:xfrm>
            <a:prstGeom prst="rect">
              <a:avLst/>
            </a:prstGeom>
            <a:solidFill>
              <a:schemeClr val="lt1"/>
            </a:solidFill>
            <a:ln w="11430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4375" y="1485900"/>
              <a:ext cx="10763250" cy="4772692"/>
            </a:xfrm>
            <a:prstGeom prst="rect">
              <a:avLst/>
            </a:prstGeom>
          </p:spPr>
        </p:pic>
      </p:grpSp>
      <p:grpSp>
        <p:nvGrpSpPr>
          <p:cNvPr id="12" name="Group 12"/>
          <p:cNvGrpSpPr/>
          <p:nvPr/>
        </p:nvGrpSpPr>
        <p:grpSpPr>
          <a:xfrm>
            <a:off x="563880" y="6296025"/>
            <a:ext cx="7933944" cy="293370"/>
            <a:chOff x="563880" y="6296025"/>
            <a:chExt cx="7933944" cy="293370"/>
          </a:xfrm>
        </p:grpSpPr>
        <p:sp>
          <p:nvSpPr>
            <p:cNvPr id="11" name="TextBox 11"/>
            <p:cNvSpPr txBox="1"/>
            <p:nvPr/>
          </p:nvSpPr>
          <p:spPr>
            <a:xfrm>
              <a:off x="563880" y="6296025"/>
              <a:ext cx="7933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 / T2 局部源 token 缩减 87.9% / 90.2%；逐级恢复细节后释放，窗口回到 55.4K。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5404" y="6537960"/>
            <a:ext cx="11290012" cy="234696"/>
            <a:chOff x="565404" y="6537960"/>
            <a:chExt cx="11290012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565404" y="6537960"/>
              <a:ext cx="52126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来源：PDF p15；恢复占用为 55.4K、61.2K、70.0K、70.7K、55.4K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85737" y="65379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31 / 32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45998" y="650558"/>
            <a:ext cx="3848481" cy="616077"/>
            <a:chOff x="745998" y="650558"/>
            <a:chExt cx="3848481" cy="616077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650558"/>
              <a:ext cx="384848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结论与当前实现状态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5998" y="1936432"/>
            <a:ext cx="5632704" cy="1244727"/>
            <a:chOff x="745998" y="1936432"/>
            <a:chExt cx="5632704" cy="1244727"/>
          </a:xfrm>
        </p:grpSpPr>
        <p:sp>
          <p:nvSpPr>
            <p:cNvPr id="4" name="TextBox 4"/>
            <p:cNvSpPr txBox="1"/>
            <p:nvPr/>
          </p:nvSpPr>
          <p:spPr>
            <a:xfrm>
              <a:off x="745998" y="1936432"/>
              <a:ext cx="5632704" cy="12447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950"/>
                </a:lnSpc>
              </a:pPr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按需触发，优先保留可恢复入口</a:t>
              </a:r>
              <a:br/>
              <a:r>
                <a:rPr lang="zh-CN" sz="31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与决策依据，收益不足时再摘要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50570" y="3938588"/>
            <a:ext cx="3506724" cy="1295971"/>
            <a:chOff x="750570" y="3938588"/>
            <a:chExt cx="3506724" cy="1295971"/>
          </a:xfrm>
        </p:grpSpPr>
        <p:sp>
          <p:nvSpPr>
            <p:cNvPr id="6" name="TextBox 6"/>
            <p:cNvSpPr txBox="1"/>
            <p:nvPr/>
          </p:nvSpPr>
          <p:spPr>
            <a:xfrm>
              <a:off x="750570" y="3938588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7CD9CF"/>
                  </a:solidFill>
                  <a:latin typeface="+mn-lt"/>
                  <a:ea typeface="+mn-ea"/>
                  <a:cs typeface="+mn-cs"/>
                </a:rPr>
                <a:t>已上线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4520565"/>
              <a:ext cx="350443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Compaction + Summary</a:t>
              </a:r>
              <a:br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阈值 0.8 是原文实验的折中选择。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389370" y="3938588"/>
            <a:ext cx="2535174" cy="1295971"/>
            <a:chOff x="6389370" y="3938588"/>
            <a:chExt cx="2535174" cy="1295971"/>
          </a:xfrm>
        </p:grpSpPr>
        <p:sp>
          <p:nvSpPr>
            <p:cNvPr id="9" name="TextBox 9"/>
            <p:cNvSpPr txBox="1"/>
            <p:nvPr/>
          </p:nvSpPr>
          <p:spPr>
            <a:xfrm>
              <a:off x="6389370" y="3938588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7B7EF"/>
                  </a:solidFill>
                  <a:latin typeface="+mn-lt"/>
                  <a:ea typeface="+mn-ea"/>
                  <a:cs typeface="+mn-cs"/>
                </a:rPr>
                <a:t>实验优化版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391656" y="4520565"/>
              <a:ext cx="2532888" cy="7139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850"/>
                </a:lnSpc>
              </a:pPr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三层蒸馏与磁盘按需恢复</a:t>
              </a:r>
              <a:br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尚未合入 Prod 分支。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55904" y="6195060"/>
            <a:ext cx="10909012" cy="375166"/>
            <a:chOff x="755904" y="6195060"/>
            <a:chExt cx="10909012" cy="375166"/>
          </a:xfrm>
        </p:grpSpPr>
        <p:sp>
          <p:nvSpPr>
            <p:cNvPr id="12" name="TextBox 12"/>
            <p:cNvSpPr txBox="1"/>
            <p:nvPr/>
          </p:nvSpPr>
          <p:spPr>
            <a:xfrm>
              <a:off x="755904" y="6195060"/>
              <a:ext cx="51755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AAC0D7"/>
                  </a:solidFill>
                  <a:latin typeface="+mn-lt"/>
                  <a:ea typeface="+mn-ea"/>
                  <a:cs typeface="+mn-cs"/>
                </a:rPr>
                <a:t>实验结论限于 PDF 所示样本，成本单位与完成度统计口径仍需核对。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195237" y="6385560"/>
              <a:ext cx="46967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altLang="zh-CN" sz="1200">
                  <a:solidFill>
                    <a:srgbClr val="AAC0D7"/>
                  </a:solidFill>
                  <a:latin typeface="+mn-lt"/>
                  <a:ea typeface="+mn-ea"/>
                  <a:cs typeface="+mn-cs"/>
                </a:rPr>
                <a:t>32 / 32</a:t>
              </a:r>
              <a:endParaRPr lang="zh-CN" sz="1200" dirty="0">
                <a:solidFill>
                  <a:srgbClr val="AAC0D7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adaptive_compression_beautified_20261006">
  <a:themeElements>
    <a:clrScheme name="adaptive_compression_beautified_20261006">
      <a:dk1>
        <a:srgbClr val="243449"/>
      </a:dk1>
      <a:lt1>
        <a:srgbClr val="FFFFFF"/>
      </a:lt1>
      <a:dk2>
        <a:srgbClr val="1F497D"/>
      </a:dk2>
      <a:lt2>
        <a:srgbClr val="F1F5F9"/>
      </a:lt2>
      <a:accent1>
        <a:srgbClr val="142D4E"/>
      </a:accent1>
      <a:accent2>
        <a:srgbClr val="008E83"/>
      </a:accent2>
      <a:accent3>
        <a:srgbClr val="7454C7"/>
      </a:accent3>
      <a:accent4>
        <a:srgbClr val="142D4E"/>
      </a:accent4>
      <a:accent5>
        <a:srgbClr val="617187"/>
      </a:accent5>
      <a:accent6>
        <a:srgbClr val="D6DFE8"/>
      </a:accent6>
      <a:hlink>
        <a:srgbClr val="008E83"/>
      </a:hlink>
      <a:folHlink>
        <a:srgbClr val="7454C7"/>
      </a:folHlink>
    </a:clrScheme>
    <a:fontScheme name="adaptive_compression_beautified_2026100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aptive_compression_beautified_2026100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adaptive_compression_beautified_20261006">
  <a:themeElements>
    <a:clrScheme name="adaptive_compression_beautified_20261006">
      <a:dk1>
        <a:srgbClr val="243449"/>
      </a:dk1>
      <a:lt1>
        <a:srgbClr val="FFFFFF"/>
      </a:lt1>
      <a:dk2>
        <a:srgbClr val="1F497D"/>
      </a:dk2>
      <a:lt2>
        <a:srgbClr val="F1F5F9"/>
      </a:lt2>
      <a:accent1>
        <a:srgbClr val="142D4E"/>
      </a:accent1>
      <a:accent2>
        <a:srgbClr val="008E83"/>
      </a:accent2>
      <a:accent3>
        <a:srgbClr val="7454C7"/>
      </a:accent3>
      <a:accent4>
        <a:srgbClr val="142D4E"/>
      </a:accent4>
      <a:accent5>
        <a:srgbClr val="617187"/>
      </a:accent5>
      <a:accent6>
        <a:srgbClr val="D6DFE8"/>
      </a:accent6>
      <a:hlink>
        <a:srgbClr val="008E83"/>
      </a:hlink>
      <a:folHlink>
        <a:srgbClr val="7454C7"/>
      </a:folHlink>
    </a:clrScheme>
    <a:fontScheme name="adaptive_compression_beautified_2026100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aptive_compression_beautified_2026100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7838</Words>
  <Application>Microsoft Office PowerPoint</Application>
  <PresentationFormat>宽屏</PresentationFormat>
  <Paragraphs>421</Paragraphs>
  <Slides>32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5" baseType="lpstr">
      <vt:lpstr>Arial</vt:lpstr>
      <vt:lpstr>Consolas</vt:lpstr>
      <vt:lpstr>adaptive_compression_beautified_20261006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Nariyuki WL_</cp:lastModifiedBy>
  <cp:revision>7</cp:revision>
  <dcterms:created xsi:type="dcterms:W3CDTF">2026-10-05T17:41:06Z</dcterms:created>
  <dcterms:modified xsi:type="dcterms:W3CDTF">2026-10-06T17:47:00Z</dcterms:modified>
  <cp:category/>
  <cp:contentStatus/>
  <dc:language>zh-CN</dc:language>
</cp:coreProperties>
</file>