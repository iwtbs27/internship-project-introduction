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4" r:id="rId4"/>
    <p:sldId id="275" r:id="rId5"/>
    <p:sldId id="276" r:id="rId6"/>
    <p:sldId id="257" r:id="rId7"/>
    <p:sldId id="258" r:id="rId8"/>
    <p:sldId id="277" r:id="rId9"/>
    <p:sldId id="278" r:id="rId10"/>
    <p:sldId id="279" r:id="rId11"/>
    <p:sldId id="259" r:id="rId12"/>
    <p:sldId id="260" r:id="rId13"/>
    <p:sldId id="261" r:id="rId14"/>
    <p:sldId id="262" r:id="rId15"/>
    <p:sldId id="263" r:id="rId16"/>
    <p:sldId id="264" r:id="rId17"/>
    <p:sldId id="281" r:id="rId18"/>
    <p:sldId id="271" r:id="rId19"/>
    <p:sldId id="265" r:id="rId20"/>
    <p:sldId id="280" r:id="rId21"/>
    <p:sldId id="270" r:id="rId22"/>
    <p:sldId id="272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96" y="136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的分数只能告诉我们一个 case 失败了，却不能告诉我们下一步该改模型、改工具还是改执行流程。归因把低分 case 转成根因，再把根因连接到算法或架构迭代；同样，它也可以把失败轨迹转成 Reflection 下一轮真正可用的经验，避免难 case 原样重试。线上真实 case 也能复用这套能力，但数据链路会与 Benchmark 不同。这里要强调边界：轨迹级 checkpoint 重试和 Harness 自进化是长期方向，不是当前已经交付的结果。既然归因必要，下一步就要看旧方案为什么还不够。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旧基线其实已经能完整跑通：扫描结果、筛低分 case、分发给 sub agent、拼接上下文、调用 review_code，最后输出 JSON。问题在于主 Agent 主要承担分发，每个 case 的归因仍然是单 Agent 在粗糙上下文上工作。代码文件只从 Editor.write 重建，同一路径只留下最后一次写入；日志兜底也只看末尾七十五行，文件查询还依赖模型猜路径。虚拟文件系统和 review_code 是有价值的起点，但它们无法弥补输入证据缺失。由此可以把问题从“多 Agent 是否足够”转向“证据环境是否可靠”。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这页的判断是：继续调 Prompt 之前，必须先修证据环境。原始统计里 Editor.write 有六万三千一百三十四次，而 edit_file_by_replace 有两万四千七百四十次；在写类操作中，replace 约占百分之二十八，所以只保留最后一次 write 是结构性遗漏，不是小误差。末尾七十五行会把注意力推向后期级联现象，猜文件名又削弱检索，同时未利用每一步 think 中的操作意图。再加上重复调用模型写 JSON 和错误 domain prompt 污染，上下文即使被更强模型读取，也可能得到流畅但错误的解释。这个诊断直接决定了后续调研必须回答：怎样压缩日志、恢复文件、提供约束，并让假设可验证。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我没有把调研做成论文列表，而是要求每个研究发现必须对应一个已观察问题和一个实现边界。All-at-once、Binary Search 与 logdx_ci 支持把全量输入改成工具化的按需取证；AgentRX 和 AgentDebug 启发了先验约束、验证摘要与异常信号；Dover 则说明单次猜测不够，需要假设和证据循环。V5 因此实现了 Step 摘要、证据查询、确定性约束与串行假设验证，但 checkpoint 重放还没有完成。AgentTracer 和 StepFinder 代表后续的强化学习与时序建模方向，也没有被包装成当前成果。调研最后落成的系统原则是：先整理证据，再让模型推理。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这张原始架构图可以从四层理解。数据层接收日志、Trace、GUI 现象和评估信息；证据层把它们整理成 Step 化日志、约束信号、文件状态与可信度；推理层再执行提出假设、查询证据、判断假设和收敛结论；输出层同时保留紧凑根因和完整轨迹。这个顺序不能颠倒，因为模型推理是否可信，首先取决于它看到的证据是否完整、能否回查、是否知道可靠程度。右侧的循环说明模型不再一次性生成答案，而是在证据接口上推进判断。接下来我会拆开三项最关键的证据工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第一项设计是把一次 think 加一次 act 或工具调用定义成一个编号 Step。压缩版保留 think、工具名、路径、状态和耗时，把 read 或 write 中的长代码参数移出主上下文；完整版则不丢内容，仍按 Step 编号保存，必要时由 query_evidence 精确回查。样例中 Step 一记录需求分析，Step 十九记录写文件和 lint，Step 二十一记录没有产生有效命令，这些时序线索在简单 tail 中很容易失去前因。这里的压缩不是删除证据，而是把证据从默认占用注意力改成按索引访问。日志有了结构以后，代码内容本身还必须被可信地恢复。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第二项设计是按日志顺序重放文件事件，而不是只保留最后一次 write。完整 write 建立基线，replace 和 insert 在基线上依序应用；增量版本缺少 write 时，可以用此前的 Editor.read 快照补基线。事件重放覆盖约百分之九十九点九六的写类命令调用，但这是文件重建覆盖率，不是归因准确率。每个文件还会被标成四级可信度：exact 和成功解析的 stale_resolved 可以作为强代码证据，未知基线或只能确认存在的文件只能引导后续搜索。只有先说明代码是否可信，模型对代码的因果解释才有资格进入最终结论。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第三项设计是把确定性约束和 LLM 因果推理解耦。程序检查结束前是否构建、最后改代码后是否重验、前端是否冒烟、构建失败后是否修复重跑，以及工具连续失败后是否切换解法，并统一输出 satisfied、violated 或 not_applicable。它们只是进入 validation_summary 的事实信号，单个 violated 不能直接成为 root cause。模型随后提出假设，查询 step、code、grep、项目结构和评估摘要，再用 support、contradict 或 inconclusive 判断；证据不足就继续取证或换假设，证据收敛后才 conclude。当前采用串行循环，是因为相同上下文下的并行分支容易产生同质假设，后续还需要角色化与明确的收敛机制。下一页用真实输出看这套边界是否真的改善了归因粒度。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这个案例的主路由是从现象进入 execution_process，先定位相关 Step，再读取代码、判断假设并形成结论；如果 Step 和目录树还不够，才用 grep 缩小候选文件。旧版输出主要停留在页面不可访问或功能异常等现象和宽泛原因上，对具体修复帮助有限。V5 则把问题定位到 Step 一：Agent 从一开始就把研究报告理解成 Web 展示任务，并在输出中给出 root_cause_step 和 process_evidence。这里比较的不是哪一版文字更长，而是哪一版能找到更早、可修复、还能被日志和代码复核的节点。案例说明机制方向有效，但成果还需要与验证边界一起陈述。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 GUI case 用来检查这种提升是否只发生在单个案例。旧版主要复述页面空白、静态蛋糕和动画未实现；V5 继续追到需求误解：用户要的是食材在空中飞舞并重新组合，但实现被简化成静态图片和基础三维悬停。输出进一步关联 Step 二的需求处理与 Step 八的 ExplodingCake 组件实现，因此修复方向可以落到需求澄清和组件方案，而不是笼统地补动画。跨案例稳定的价值不是措辞更具体，而是结论能够回到执行步骤和代码实现被复核。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这五类约束都只读取执行轨迹中的确定性事实。build_before_end 检查结束前是否构建，validate_after_last_write 检查最后修改后是否重验，frontend_browser_smoke_before_end 检查前端运行时验证，build_error_not_fixed 检查构建失败是否修复重跑，最后一项检查连续失败后是否切换解法。每项统一输出 satisfied、violated 或 not_applicable，便于进入 validation_summary。violated 的含义只是指出一个可疑方向，仍需与日志、代码和评估证据共同验证，不能让规则替模型完成因果判断。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ttribution_agent_v5_int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3504" y="422910"/>
            <a:ext cx="10984992" cy="234696"/>
            <a:chOff x="603504" y="42291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2910"/>
              <a:ext cx="3363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ATTRIBUTION AGENT · INTERVIEW DOSSIER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8817" y="42291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971550"/>
            <a:ext cx="656082" cy="4476750"/>
            <a:chOff x="552450" y="971550"/>
            <a:chExt cx="656082" cy="4476750"/>
          </a:xfrm>
        </p:grpSpPr>
        <p:sp>
          <p:nvSpPr>
            <p:cNvPr id="5" name="Rectangle 5"/>
            <p:cNvSpPr/>
            <p:nvPr/>
          </p:nvSpPr>
          <p:spPr>
            <a:xfrm>
              <a:off x="609600" y="971550"/>
              <a:ext cx="38100" cy="447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Ellipse 6"/>
            <p:cNvSpPr/>
            <p:nvPr/>
          </p:nvSpPr>
          <p:spPr>
            <a:xfrm>
              <a:off x="552450" y="1847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Ellipse 7"/>
            <p:cNvSpPr/>
            <p:nvPr/>
          </p:nvSpPr>
          <p:spPr>
            <a:xfrm>
              <a:off x="571500" y="327660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Ellipse 8"/>
            <p:cNvSpPr/>
            <p:nvPr/>
          </p:nvSpPr>
          <p:spPr>
            <a:xfrm>
              <a:off x="571500" y="468630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1835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3245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4654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1577498"/>
            <a:ext cx="3451860" cy="2114550"/>
            <a:chOff x="1676400" y="1558290"/>
            <a:chExt cx="3451860" cy="2114550"/>
          </a:xfrm>
        </p:grpSpPr>
        <p:sp>
          <p:nvSpPr>
            <p:cNvPr id="13" name="TextBox 13"/>
            <p:cNvSpPr txBox="1"/>
            <p:nvPr/>
          </p:nvSpPr>
          <p:spPr>
            <a:xfrm>
              <a:off x="1686306" y="1558290"/>
              <a:ext cx="11712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归因 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6400" y="2005965"/>
              <a:ext cx="3451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从长日志到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6400" y="2739390"/>
              <a:ext cx="3451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可行动根因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95450" y="5067300"/>
            <a:ext cx="7010400" cy="533400"/>
            <a:chOff x="1695450" y="5067300"/>
            <a:chExt cx="7010400" cy="533400"/>
          </a:xfrm>
        </p:grpSpPr>
        <p:sp>
          <p:nvSpPr>
            <p:cNvPr id="21" name="Rectangle 21"/>
            <p:cNvSpPr/>
            <p:nvPr/>
          </p:nvSpPr>
          <p:spPr>
            <a:xfrm>
              <a:off x="16954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911350" y="5233988"/>
              <a:ext cx="177801" cy="200025"/>
              <a:chOff x="1911350" y="5233988"/>
              <a:chExt cx="177801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911350" y="52339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911350" y="52673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1911350" y="53340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2259330" y="5248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结构化日志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957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300538" y="5233988"/>
              <a:ext cx="200025" cy="200025"/>
              <a:chOff x="4300538" y="5233988"/>
              <a:chExt cx="200025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300538" y="53895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4456113" y="5233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322763" y="52562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65963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证据路由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60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685841" y="5233988"/>
              <a:ext cx="217008" cy="200025"/>
              <a:chOff x="6685841" y="5233988"/>
              <a:chExt cx="217008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85841" y="52339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834188" y="53895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05993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假设验证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846298-DD61-CD92-3230-5957196BBE47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METAGPT BUSINESS SCENARIOS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BFDADE5-214F-6260-C83C-49F20C714AAD}"/>
              </a:ext>
            </a:extLst>
          </p:cNvPr>
          <p:cNvCxnSpPr/>
          <p:nvPr/>
        </p:nvCxnSpPr>
        <p:spPr>
          <a:xfrm>
            <a:off x="2921000" y="482600"/>
            <a:ext cx="79756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14437EB-D9D6-06B6-B9E4-9ADB5CF6BF79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02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E9BE7D-1E97-3A01-C79D-8B40A0295A6F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MetaGPT 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的业务场景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7C41B8-6EAA-A10C-19FA-EC22ABE3D647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5E6A73"/>
                </a:solidFill>
                <a:latin typeface="Arial" panose="020B0604020202020204" pitchFamily="34" charset="0"/>
              </a:rPr>
              <a:t>Atoms </a:t>
            </a:r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将创意转化为软件、内容和数字体验。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5BC4E2-067B-5A6D-90AC-78DC34B1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32000"/>
            <a:ext cx="5334000" cy="3073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A1A595-308E-43C4-F945-65ED5ECF2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32000"/>
            <a:ext cx="5334000" cy="2667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3B9570-404C-7CCB-8944-01C55F8FEDE9}"/>
              </a:ext>
            </a:extLst>
          </p:cNvPr>
          <p:cNvSpPr txBox="1"/>
          <p:nvPr/>
        </p:nvSpPr>
        <p:spPr>
          <a:xfrm>
            <a:off x="609600" y="5334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C2733"/>
                </a:solidFill>
                <a:latin typeface="Arial" panose="020B0604020202020204" pitchFamily="34" charset="0"/>
              </a:rPr>
              <a:t>Atoms </a:t>
            </a:r>
            <a:r>
              <a:rPr lang="zh-CN" altLang="en-US" sz="1600">
                <a:solidFill>
                  <a:srgbClr val="1C2733"/>
                </a:solidFill>
                <a:latin typeface="Arial" panose="020B0604020202020204" pitchFamily="34" charset="0"/>
              </a:rPr>
              <a:t>将规划、设计、代码与执行连成一条工作流。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BC0869-6C1E-153E-9034-16471191552E}"/>
              </a:ext>
            </a:extLst>
          </p:cNvPr>
          <p:cNvSpPr txBox="1"/>
          <p:nvPr/>
        </p:nvSpPr>
        <p:spPr>
          <a:xfrm>
            <a:off x="6248400" y="4953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>
                <a:solidFill>
                  <a:srgbClr val="1C2733"/>
                </a:solidFill>
                <a:latin typeface="Arial" panose="020B0604020202020204" pitchFamily="34" charset="0"/>
              </a:rPr>
              <a:t>SaaS </a:t>
            </a:r>
            <a:r>
              <a:rPr lang="zh-CN" altLang="en-US" sz="1550">
                <a:solidFill>
                  <a:srgbClr val="1C2733"/>
                </a:solidFill>
                <a:latin typeface="Arial" panose="020B0604020202020204" pitchFamily="34" charset="0"/>
              </a:rPr>
              <a:t>落地页、独立品牌与批发、影视工作室网站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61DFC4-8869-C0FF-2779-18A417E2B7C9}"/>
              </a:ext>
            </a:extLst>
          </p:cNvPr>
          <p:cNvSpPr txBox="1"/>
          <p:nvPr/>
        </p:nvSpPr>
        <p:spPr>
          <a:xfrm>
            <a:off x="6248400" y="53467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50">
                <a:solidFill>
                  <a:srgbClr val="1C2733"/>
                </a:solidFill>
                <a:latin typeface="Arial" panose="020B0604020202020204" pitchFamily="34" charset="0"/>
              </a:rPr>
              <a:t>热门推荐平台、创意视频、射击游戏</a:t>
            </a:r>
          </a:p>
        </p:txBody>
      </p:sp>
    </p:spTree>
    <p:extLst>
      <p:ext uri="{BB962C8B-B14F-4D97-AF65-F5344CB8AC3E}">
        <p14:creationId xmlns:p14="http://schemas.microsoft.com/office/powerpoint/2010/main" val="100673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327A64-48F8-24A1-7281-AC0B04075D80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A TASK EXAMPLE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08A4B53-CCBA-0FC0-FBD1-C4CF7DEDDD0E}"/>
              </a:ext>
            </a:extLst>
          </p:cNvPr>
          <p:cNvCxnSpPr/>
          <p:nvPr/>
        </p:nvCxnSpPr>
        <p:spPr>
          <a:xfrm>
            <a:off x="1968500" y="482600"/>
            <a:ext cx="89281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9036128-591F-E044-D3F4-63332462CFCB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03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2C8D92-FB0A-1BD2-C9A8-8562FFC5209D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从需求到可运行产品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28F97D-31FB-1E39-BF46-3D789C03683B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5E6A73"/>
                </a:solidFill>
                <a:latin typeface="Arial" panose="020B0604020202020204" pitchFamily="34" charset="0"/>
              </a:rPr>
              <a:t>Atoms </a:t>
            </a:r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处理整条软件开发任务，而不只是补全一段代码。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28D949-F019-EAD1-E2B9-7668CDCA01AC}"/>
              </a:ext>
            </a:extLst>
          </p:cNvPr>
          <p:cNvSpPr txBox="1"/>
          <p:nvPr/>
        </p:nvSpPr>
        <p:spPr>
          <a:xfrm>
            <a:off x="609600" y="21590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E4572E"/>
                </a:solidFill>
                <a:latin typeface="Arial" panose="020B0604020202020204" pitchFamily="34" charset="0"/>
              </a:rPr>
              <a:t>示例需求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D9DA51-F138-A8E1-1B71-13471C695A08}"/>
              </a:ext>
            </a:extLst>
          </p:cNvPr>
          <p:cNvSpPr/>
          <p:nvPr/>
        </p:nvSpPr>
        <p:spPr>
          <a:xfrm>
            <a:off x="609600" y="2514600"/>
            <a:ext cx="5461000" cy="88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5DAD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B07B2E-9D74-248E-CADF-8D920F4F6020}"/>
              </a:ext>
            </a:extLst>
          </p:cNvPr>
          <p:cNvSpPr txBox="1"/>
          <p:nvPr/>
        </p:nvSpPr>
        <p:spPr>
          <a:xfrm>
            <a:off x="838200" y="27559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 b="1">
                <a:solidFill>
                  <a:srgbClr val="1C2733"/>
                </a:solidFill>
                <a:latin typeface="Georgia" panose="02040502050405020303" pitchFamily="18" charset="0"/>
              </a:rPr>
              <a:t>帮我实现一个 </a:t>
            </a:r>
            <a:r>
              <a:rPr lang="en-US" altLang="zh-CN" sz="2100" b="1">
                <a:solidFill>
                  <a:srgbClr val="1C2733"/>
                </a:solidFill>
                <a:latin typeface="Georgia" panose="02040502050405020303" pitchFamily="18" charset="0"/>
              </a:rPr>
              <a:t>AI </a:t>
            </a:r>
            <a:r>
              <a:rPr lang="zh-CN" altLang="en-US" sz="2100" b="1">
                <a:solidFill>
                  <a:srgbClr val="1C2733"/>
                </a:solidFill>
                <a:latin typeface="Georgia" panose="02040502050405020303" pitchFamily="18" charset="0"/>
              </a:rPr>
              <a:t>漫剧制作平台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A4C3CE-BF50-96E5-7135-47E619053D17}"/>
              </a:ext>
            </a:extLst>
          </p:cNvPr>
          <p:cNvSpPr txBox="1"/>
          <p:nvPr/>
        </p:nvSpPr>
        <p:spPr>
          <a:xfrm>
            <a:off x="609600" y="3733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E4572E"/>
                </a:solidFill>
                <a:latin typeface="Arial" panose="020B0604020202020204" pitchFamily="34" charset="0"/>
              </a:rPr>
              <a:t>需求与规划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1180F6-F176-64FB-344C-F1D60C9E6950}"/>
              </a:ext>
            </a:extLst>
          </p:cNvPr>
          <p:cNvSpPr txBox="1"/>
          <p:nvPr/>
        </p:nvSpPr>
        <p:spPr>
          <a:xfrm>
            <a:off x="609600" y="40259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C2733"/>
                </a:solidFill>
                <a:latin typeface="Arial" panose="020B0604020202020204" pitchFamily="34" charset="0"/>
              </a:rPr>
              <a:t>拆解高层需求，形成开发计划。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03502A-F1F5-774B-C078-D60DB4B3776B}"/>
              </a:ext>
            </a:extLst>
          </p:cNvPr>
          <p:cNvSpPr txBox="1"/>
          <p:nvPr/>
        </p:nvSpPr>
        <p:spPr>
          <a:xfrm>
            <a:off x="609600" y="4584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E4572E"/>
                </a:solidFill>
                <a:latin typeface="Arial" panose="020B0604020202020204" pitchFamily="34" charset="0"/>
              </a:rPr>
              <a:t>实现与验证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F364A1-70C1-3AB8-B8B3-FD86EC4171E6}"/>
              </a:ext>
            </a:extLst>
          </p:cNvPr>
          <p:cNvSpPr txBox="1"/>
          <p:nvPr/>
        </p:nvSpPr>
        <p:spPr>
          <a:xfrm>
            <a:off x="609600" y="4876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C2733"/>
                </a:solidFill>
                <a:latin typeface="Arial" panose="020B0604020202020204" pitchFamily="34" charset="0"/>
              </a:rPr>
              <a:t>编写代码、调用工具，运行测试并验证结果。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2A4D01-56DE-4154-67F8-501FC28EEF86}"/>
              </a:ext>
            </a:extLst>
          </p:cNvPr>
          <p:cNvSpPr txBox="1"/>
          <p:nvPr/>
        </p:nvSpPr>
        <p:spPr>
          <a:xfrm>
            <a:off x="609600" y="5537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C2733"/>
                </a:solidFill>
                <a:latin typeface="Arial" panose="020B0604020202020204" pitchFamily="34" charset="0"/>
              </a:rPr>
              <a:t>遇到问题后调整方案，交付可运行的软件产品。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605D735-28D0-FC00-4829-6C1634F89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68500"/>
            <a:ext cx="48768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8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D262F5-4471-6066-C96F-56B992EA4247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AGENT EXECUTION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3B8B10-ADDA-0F2D-CE9A-408DBB547353}"/>
              </a:ext>
            </a:extLst>
          </p:cNvPr>
          <p:cNvCxnSpPr/>
          <p:nvPr/>
        </p:nvCxnSpPr>
        <p:spPr>
          <a:xfrm>
            <a:off x="1968500" y="482600"/>
            <a:ext cx="89281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CADA9D5-0828-EC4E-A25D-A5606BD53BEF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04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4ED3C-D71B-F8DD-F8A6-5C39F4B8D4F6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Agent 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循环与项目工作区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9EB6B0-6D36-4AAC-AA81-CFF0D198D0AF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一次任务由观察、行动和反馈推进，结果落在可检查的项目目录中。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D57B5F-4A5A-2FCF-FBDE-70E7F66A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0100"/>
            <a:ext cx="5892800" cy="44196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A5793D5-A883-0EAC-F4B2-8F943EAD607E}"/>
              </a:ext>
            </a:extLst>
          </p:cNvPr>
          <p:cNvSpPr txBox="1"/>
          <p:nvPr/>
        </p:nvSpPr>
        <p:spPr>
          <a:xfrm>
            <a:off x="7035800" y="2387600"/>
            <a:ext cx="454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C2733"/>
                </a:solidFill>
                <a:latin typeface="Arial" panose="020B0604020202020204" pitchFamily="34" charset="0"/>
              </a:rPr>
              <a:t>项目文件结构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7A33521-F049-F42A-635C-46C75EC9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2844800"/>
            <a:ext cx="4546600" cy="28067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AAD3A4B-6D16-F276-EAE6-819EE8DFC546}"/>
              </a:ext>
            </a:extLst>
          </p:cNvPr>
          <p:cNvSpPr txBox="1"/>
          <p:nvPr/>
        </p:nvSpPr>
        <p:spPr>
          <a:xfrm>
            <a:off x="7035800" y="5791200"/>
            <a:ext cx="454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>
                <a:solidFill>
                  <a:srgbClr val="5E6A73"/>
                </a:solidFill>
                <a:latin typeface="Arial" panose="020B0604020202020204" pitchFamily="34" charset="0"/>
              </a:rPr>
              <a:t>Workspace </a:t>
            </a:r>
            <a:r>
              <a:rPr lang="zh-CN" altLang="en-US" sz="1550">
                <a:solidFill>
                  <a:srgbClr val="5E6A73"/>
                </a:solidFill>
                <a:latin typeface="Arial" panose="020B0604020202020204" pitchFamily="34" charset="0"/>
              </a:rPr>
              <a:t>按项目组织 </a:t>
            </a:r>
            <a:r>
              <a:rPr lang="en-US" altLang="zh-CN" sz="1550">
                <a:solidFill>
                  <a:srgbClr val="5E6A73"/>
                </a:solidFill>
                <a:latin typeface="Arial" panose="020B0604020202020204" pitchFamily="34" charset="0"/>
              </a:rPr>
              <a:t>assets</a:t>
            </a:r>
            <a:r>
              <a:rPr lang="zh-CN" altLang="en-US" sz="1550">
                <a:solidFill>
                  <a:srgbClr val="5E6A73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50">
                <a:solidFill>
                  <a:srgbClr val="5E6A73"/>
                </a:solidFill>
                <a:latin typeface="Arial" panose="020B0604020202020204" pitchFamily="34" charset="0"/>
              </a:rPr>
              <a:t>app</a:t>
            </a:r>
            <a:r>
              <a:rPr lang="zh-CN" altLang="en-US" sz="1550">
                <a:solidFill>
                  <a:srgbClr val="5E6A73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50">
                <a:solidFill>
                  <a:srgbClr val="5E6A73"/>
                </a:solidFill>
                <a:latin typeface="Arial" panose="020B0604020202020204" pitchFamily="34" charset="0"/>
              </a:rPr>
              <a:t>docs</a:t>
            </a:r>
            <a:r>
              <a:rPr lang="zh-CN" altLang="en-US" sz="1550">
                <a:solidFill>
                  <a:srgbClr val="5E6A73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50">
                <a:solidFill>
                  <a:srgbClr val="5E6A73"/>
                </a:solidFill>
                <a:latin typeface="Arial" panose="020B0604020202020204" pitchFamily="34" charset="0"/>
              </a:rPr>
              <a:t>.atoms </a:t>
            </a:r>
            <a:r>
              <a:rPr lang="zh-CN" altLang="en-US" sz="1550">
                <a:solidFill>
                  <a:srgbClr val="5E6A73"/>
                </a:solidFill>
                <a:latin typeface="Arial" panose="020B0604020202020204" pitchFamily="34" charset="0"/>
              </a:rPr>
              <a:t>等内容。</a:t>
            </a:r>
          </a:p>
        </p:txBody>
      </p:sp>
    </p:spTree>
    <p:extLst>
      <p:ext uri="{BB962C8B-B14F-4D97-AF65-F5344CB8AC3E}">
        <p14:creationId xmlns:p14="http://schemas.microsoft.com/office/powerpoint/2010/main" val="330349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5EA589-AA8F-F883-0836-E5AA14B09A0C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LOG EVIDENCE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0D23AC1-49F4-45BB-92C2-EE3E285B661C}"/>
              </a:ext>
            </a:extLst>
          </p:cNvPr>
          <p:cNvCxnSpPr/>
          <p:nvPr/>
        </p:nvCxnSpPr>
        <p:spPr>
          <a:xfrm>
            <a:off x="1968500" y="482600"/>
            <a:ext cx="89281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3E182B7-A9DE-F0DD-E5A9-92B6AFAA2A90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05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240F2E-AF9A-EB37-556D-AC57D43C9ACF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执行轨迹留下哪些归因线索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1ECC0B-8E00-0D07-A646-C10D788A79D8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日志记录运行顺序、模块位置、工具行为和异常信息。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7A6036-3D89-1B05-0FD5-40541164C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06600"/>
            <a:ext cx="6858000" cy="472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827D1BB-77AD-2532-C5BF-31688B574366}"/>
              </a:ext>
            </a:extLst>
          </p:cNvPr>
          <p:cNvSpPr txBox="1"/>
          <p:nvPr/>
        </p:nvSpPr>
        <p:spPr>
          <a:xfrm>
            <a:off x="7823200" y="21590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C2733"/>
                </a:solidFill>
                <a:latin typeface="Arial" panose="020B0604020202020204" pitchFamily="34" charset="0"/>
              </a:rPr>
              <a:t>日志中可回查的信息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F1A6D9-D013-FEB3-5F43-248CFA67ED5F}"/>
              </a:ext>
            </a:extLst>
          </p:cNvPr>
          <p:cNvSpPr txBox="1"/>
          <p:nvPr/>
        </p:nvSpPr>
        <p:spPr>
          <a:xfrm>
            <a:off x="7823200" y="2768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发生时间与执行顺序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7E2815-B03E-1BEE-B46D-8C503F7AE81D}"/>
              </a:ext>
            </a:extLst>
          </p:cNvPr>
          <p:cNvSpPr txBox="1"/>
          <p:nvPr/>
        </p:nvSpPr>
        <p:spPr>
          <a:xfrm>
            <a:off x="7823200" y="3276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模块、函数或代码位置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4CEC72-6A96-8D16-27F8-E80386708358}"/>
              </a:ext>
            </a:extLst>
          </p:cNvPr>
          <p:cNvSpPr txBox="1"/>
          <p:nvPr/>
        </p:nvSpPr>
        <p:spPr>
          <a:xfrm>
            <a:off x="7823200" y="3784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的工具调用与输出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BCCB02-F0C5-B6B8-34C3-A143BD8C40E2}"/>
              </a:ext>
            </a:extLst>
          </p:cNvPr>
          <p:cNvSpPr txBox="1"/>
          <p:nvPr/>
        </p:nvSpPr>
        <p:spPr>
          <a:xfrm>
            <a:off x="7823200" y="42926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WARNING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、错误栈与回退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0E86CC-AC96-E08C-A06F-2032E50FE2CB}"/>
              </a:ext>
            </a:extLst>
          </p:cNvPr>
          <p:cNvSpPr/>
          <p:nvPr/>
        </p:nvSpPr>
        <p:spPr>
          <a:xfrm>
            <a:off x="7823200" y="5092700"/>
            <a:ext cx="3759200" cy="1016000"/>
          </a:xfrm>
          <a:prstGeom prst="rect">
            <a:avLst/>
          </a:prstGeom>
          <a:solidFill>
            <a:srgbClr val="FDF1EC"/>
          </a:solidFill>
          <a:ln w="8890">
            <a:solidFill>
              <a:srgbClr val="E4572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C989C9-ED8E-03DC-FC87-6E8FB10FEBB6}"/>
              </a:ext>
            </a:extLst>
          </p:cNvPr>
          <p:cNvSpPr txBox="1"/>
          <p:nvPr/>
        </p:nvSpPr>
        <p:spPr>
          <a:xfrm>
            <a:off x="8026400" y="53340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E4572E"/>
                </a:solidFill>
                <a:latin typeface="Arial" panose="020B0604020202020204" pitchFamily="34" charset="0"/>
              </a:rPr>
              <a:t>归因需要从失败现象回到具体执行步骤。</a:t>
            </a:r>
          </a:p>
        </p:txBody>
      </p:sp>
    </p:spTree>
    <p:extLst>
      <p:ext uri="{BB962C8B-B14F-4D97-AF65-F5344CB8AC3E}">
        <p14:creationId xmlns:p14="http://schemas.microsoft.com/office/powerpoint/2010/main" val="298104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329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981200" y="447675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917258"/>
            <a:ext cx="4688205" cy="823912"/>
            <a:chOff x="593598" y="917258"/>
            <a:chExt cx="4688205" cy="823912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917258"/>
              <a:ext cx="401129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为什么需要归因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447800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评分告诉我们“失败了”，根因决定下一步该改哪里。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2171700"/>
            <a:ext cx="4724400" cy="838200"/>
            <a:chOff x="685800" y="2171700"/>
            <a:chExt cx="4724400" cy="838200"/>
          </a:xfrm>
        </p:grpSpPr>
        <p:sp>
          <p:nvSpPr>
            <p:cNvPr id="9" name="Rectangle 9"/>
            <p:cNvSpPr/>
            <p:nvPr/>
          </p:nvSpPr>
          <p:spPr>
            <a:xfrm>
              <a:off x="685800" y="2171700"/>
              <a:ext cx="1428750" cy="8382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2401" y="2340292"/>
              <a:ext cx="955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Benchmark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746" y="2577465"/>
              <a:ext cx="1154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低分 Case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114550" y="25908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971800" y="2171700"/>
              <a:ext cx="1676400" cy="838200"/>
            </a:xfrm>
            <a:prstGeom prst="roundRect">
              <a:avLst>
                <a:gd name="adj" fmla="val 4545"/>
              </a:avLst>
            </a:prstGeom>
            <a:solidFill>
              <a:srgbClr val="FFF3EE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3162300" y="2419350"/>
              <a:ext cx="228599" cy="228599"/>
              <a:chOff x="3162300" y="2419350"/>
              <a:chExt cx="228599" cy="2285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263900" y="25209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3213100" y="24701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3162300" y="24193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1682" y="24593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5908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62600" y="2133600"/>
            <a:ext cx="5429250" cy="1219200"/>
            <a:chOff x="5562600" y="2133600"/>
            <a:chExt cx="5429250" cy="1219200"/>
          </a:xfrm>
        </p:grpSpPr>
        <p:sp>
          <p:nvSpPr>
            <p:cNvPr id="21" name="Rectangle 21"/>
            <p:cNvSpPr/>
            <p:nvPr/>
          </p:nvSpPr>
          <p:spPr>
            <a:xfrm>
              <a:off x="5562600" y="2133600"/>
              <a:ext cx="54292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41492" y="2311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迭代优化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8444" y="2570798"/>
              <a:ext cx="24368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算法优化 / 架构优化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40730" y="2943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定位链路中最早、可修复、能改变后续轨迹的问题。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3771900"/>
            <a:ext cx="4724400" cy="838200"/>
            <a:chOff x="685800" y="3771900"/>
            <a:chExt cx="4724400" cy="838200"/>
          </a:xfrm>
        </p:grpSpPr>
        <p:sp>
          <p:nvSpPr>
            <p:cNvPr id="26" name="Rectangle 26"/>
            <p:cNvSpPr/>
            <p:nvPr/>
          </p:nvSpPr>
          <p:spPr>
            <a:xfrm>
              <a:off x="685800" y="3771900"/>
              <a:ext cx="1428750" cy="8382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9843" y="39404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失败轨迹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18" y="4177665"/>
              <a:ext cx="909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 Case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114550" y="41910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971800" y="3771900"/>
              <a:ext cx="1676400" cy="838200"/>
            </a:xfrm>
            <a:prstGeom prst="roundRect">
              <a:avLst>
                <a:gd name="adj" fmla="val 4545"/>
              </a:avLst>
            </a:prstGeom>
            <a:solidFill>
              <a:srgbClr val="EAF5F4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3162300" y="4019550"/>
              <a:ext cx="228599" cy="228599"/>
              <a:chOff x="3162300" y="4019550"/>
              <a:chExt cx="228599" cy="2285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263900" y="4121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213100" y="40703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162300" y="40195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551682" y="4059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648200" y="41910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562600" y="3733800"/>
            <a:ext cx="5429250" cy="1219200"/>
            <a:chOff x="5562600" y="3733800"/>
            <a:chExt cx="5429250" cy="1219200"/>
          </a:xfrm>
        </p:grpSpPr>
        <p:sp>
          <p:nvSpPr>
            <p:cNvPr id="38" name="Rectangle 38"/>
            <p:cNvSpPr/>
            <p:nvPr/>
          </p:nvSpPr>
          <p:spPr>
            <a:xfrm>
              <a:off x="5562600" y="3733800"/>
              <a:ext cx="54292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41492" y="3911918"/>
              <a:ext cx="1396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Reflection 输入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38444" y="417099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给下一轮尝试有效经验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40730" y="45434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避免难 case 沿原路径重复失败。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8942" y="5391150"/>
            <a:ext cx="10312908" cy="721995"/>
            <a:chOff x="678942" y="5391150"/>
            <a:chExt cx="10312908" cy="721995"/>
          </a:xfrm>
        </p:grpSpPr>
        <p:sp>
          <p:nvSpPr>
            <p:cNvPr id="43" name="Line 43"/>
            <p:cNvSpPr/>
            <p:nvPr/>
          </p:nvSpPr>
          <p:spPr>
            <a:xfrm>
              <a:off x="685800" y="5391150"/>
              <a:ext cx="10306050" cy="9525"/>
            </a:xfrm>
            <a:custGeom>
              <a:avLst/>
              <a:gdLst/>
              <a:ahLst/>
              <a:cxnLst/>
              <a:rect l="l" t="t" r="r" b="b"/>
              <a:pathLst>
                <a:path w="10306050" h="9525">
                  <a:moveTo>
                    <a:pt x="0" y="0"/>
                  </a:moveTo>
                  <a:lnTo>
                    <a:pt x="103060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8942" y="5559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延伸方向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02130" y="5543550"/>
              <a:ext cx="4937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线上真实 case 与 Harness 自进化可以复用归因能力；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02130" y="581977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当前尚未实现轨迹级 checkpoint 重试。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141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OLD BASELINE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847850" y="447675"/>
              <a:ext cx="9182100" cy="9525"/>
            </a:xfrm>
            <a:custGeom>
              <a:avLst/>
              <a:gdLst/>
              <a:ahLst/>
              <a:cxnLst/>
              <a:rect l="l" t="t" r="r" b="b"/>
              <a:pathLst>
                <a:path w="9182100" h="9525">
                  <a:moveTo>
                    <a:pt x="0" y="0"/>
                  </a:moveTo>
                  <a:lnTo>
                    <a:pt x="9182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60108"/>
            <a:ext cx="6232289" cy="795337"/>
            <a:chOff x="593598" y="860108"/>
            <a:chExt cx="6232289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60108"/>
              <a:ext cx="321564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旧基线的设计方案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62075"/>
              <a:ext cx="6223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 Agent 负责分发，真正归因仍是每个 case 的单 Agent 工具调用。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866900"/>
            <a:ext cx="10972800" cy="781050"/>
            <a:chOff x="609600" y="1866900"/>
            <a:chExt cx="10972800" cy="78105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7648" y="2015014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SCAN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474" y="22698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扫描结果目录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22885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4795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68620" y="2015014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FILTER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15632" y="2269808"/>
              <a:ext cx="1283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筛低分 Case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2672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8630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06833" y="2015014"/>
              <a:ext cx="1178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DISPATCH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0953" y="2269808"/>
              <a:ext cx="1649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分发 Sub Agent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30555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2465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54286" y="2015014"/>
              <a:ext cx="1159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CONTEXT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9524" y="22698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拼接粗上下文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439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63000" y="1866900"/>
              <a:ext cx="13335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81760" y="2015014"/>
              <a:ext cx="895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TOOL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1681" y="22698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review_code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0965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515600" y="1866900"/>
              <a:ext cx="10668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47751" y="20150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44901" y="2269808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3276600"/>
            <a:ext cx="6477000" cy="2381250"/>
            <a:chOff x="609600" y="3276600"/>
            <a:chExt cx="64770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" y="3276600"/>
              <a:ext cx="6477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392" y="3473768"/>
              <a:ext cx="2145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注入 Sub Agent 的上下文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7250" y="375285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9630" y="3924300"/>
              <a:ext cx="1782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user_requirement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99780" y="39404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用户需求与后续追问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630" y="42576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code_file_map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99780" y="4273868"/>
              <a:ext cx="341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只抽取 Editor.write；同路径取最后一次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9630" y="4591050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reply_to_human / evaluation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99780" y="46072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最终回复、评分与人工评语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9630" y="49244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terminal_return_messages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99780" y="494061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install / add / build 回显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9630" y="5257800"/>
              <a:ext cx="1679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tail_n_lines = 75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99780" y="5273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只在兜底时看日志末尾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391400" y="3276600"/>
            <a:ext cx="4191000" cy="2381250"/>
            <a:chOff x="7391400" y="3276600"/>
            <a:chExt cx="4191000" cy="2381250"/>
          </a:xfrm>
        </p:grpSpPr>
        <p:sp>
          <p:nvSpPr>
            <p:cNvPr id="47" name="Rectangle 47"/>
            <p:cNvSpPr/>
            <p:nvPr/>
          </p:nvSpPr>
          <p:spPr>
            <a:xfrm>
              <a:off x="7391400" y="3276600"/>
              <a:ext cx="4191000" cy="2381250"/>
            </a:xfrm>
            <a:prstGeom prst="roundRect">
              <a:avLst>
                <a:gd name="adj" fmla="val 16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70292" y="3492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真正创新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68006" y="3787140"/>
              <a:ext cx="32913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虚拟文件系统 + review_code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69911" y="4189571"/>
              <a:ext cx="3224530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线上 workspace 难访问时，允许 Agent</a:t>
              </a:r>
              <a:br>
                <a:rPr dirty="0"/>
              </a:br>
              <a:r>
                <a:rPr lang="zh-CN" sz="14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从内存字典按需读取代码。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677150" y="48768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53606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70292" y="5045392"/>
              <a:ext cx="2681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但主 Agent 只做分发与结果写入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70292" y="5331142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没有参与跨 case 协作推理。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5867400"/>
            <a:ext cx="10972800" cy="419100"/>
            <a:chOff x="609600" y="5867400"/>
            <a:chExt cx="10972800" cy="419100"/>
          </a:xfrm>
        </p:grpSpPr>
        <p:sp>
          <p:nvSpPr>
            <p:cNvPr id="55" name="Rectangle 55"/>
            <p:cNvSpPr/>
            <p:nvPr/>
          </p:nvSpPr>
          <p:spPr>
            <a:xfrm>
              <a:off x="609600" y="5867400"/>
              <a:ext cx="10972800" cy="41910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0580" y="5981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516380" y="5981700"/>
              <a:ext cx="6295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旧方案“有工具”，但提供给工具的证据不完整，检索入口也依赖猜测。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254202-4066-97E4-2EAA-8AFB1E069FD3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OLD BASELINE · SUCCESS PATH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6AB3611-DD2E-EC9C-A79C-8FEBA34CC80A}"/>
              </a:ext>
            </a:extLst>
          </p:cNvPr>
          <p:cNvCxnSpPr/>
          <p:nvPr/>
        </p:nvCxnSpPr>
        <p:spPr>
          <a:xfrm>
            <a:off x="3009900" y="482600"/>
            <a:ext cx="78867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361FF6F-4791-26E9-AAF2-32BD5CD1CEC6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08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5A6091-40AC-41B8-03FB-B3E98B51DE7B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旧 </a:t>
            </a:r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Baseline 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的成功路径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9021AB-BDEA-DE61-9D68-4E6196D37A58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单文件证据清晰时，</a:t>
            </a:r>
            <a:r>
              <a:rPr lang="en-US" altLang="zh-CN" sz="1500">
                <a:solidFill>
                  <a:srgbClr val="5E6A73"/>
                </a:solidFill>
                <a:latin typeface="Arial" panose="020B0604020202020204" pitchFamily="34" charset="0"/>
              </a:rPr>
              <a:t>review_code </a:t>
            </a:r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能返回关键代码并定位根因。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F030C9-D942-2164-4A8A-305AD1DFA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5000"/>
            <a:ext cx="7112000" cy="4737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88B52F2-E61F-D1E1-83EC-10DEC9C03D30}"/>
              </a:ext>
            </a:extLst>
          </p:cNvPr>
          <p:cNvSpPr txBox="1"/>
          <p:nvPr/>
        </p:nvSpPr>
        <p:spPr>
          <a:xfrm>
            <a:off x="8102600" y="21336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现象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23727C-A6AB-D8C8-591B-2CFCA72F84AF}"/>
              </a:ext>
            </a:extLst>
          </p:cNvPr>
          <p:cNvSpPr txBox="1"/>
          <p:nvPr/>
        </p:nvSpPr>
        <p:spPr>
          <a:xfrm>
            <a:off x="8102600" y="23876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点击商品后，购物车数量仍为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0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410BE2-27F0-11C5-71A3-3675D52FFDE5}"/>
              </a:ext>
            </a:extLst>
          </p:cNvPr>
          <p:cNvSpPr txBox="1"/>
          <p:nvPr/>
        </p:nvSpPr>
        <p:spPr>
          <a:xfrm>
            <a:off x="8102600" y="30734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检索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2E2324-0645-6355-34CB-CC78CCA01828}"/>
              </a:ext>
            </a:extLst>
          </p:cNvPr>
          <p:cNvSpPr txBox="1"/>
          <p:nvPr/>
        </p:nvSpPr>
        <p:spPr>
          <a:xfrm>
            <a:off x="8102600" y="33274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review_code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读取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Shop.tsx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C41F6B-01C6-B8C7-C0C9-AF01993A8DB2}"/>
              </a:ext>
            </a:extLst>
          </p:cNvPr>
          <p:cNvSpPr txBox="1"/>
          <p:nvPr/>
        </p:nvSpPr>
        <p:spPr>
          <a:xfrm>
            <a:off x="8102600" y="40132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根因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76BC7B-8647-38CE-6EC7-8916B32931DE}"/>
              </a:ext>
            </a:extLst>
          </p:cNvPr>
          <p:cNvSpPr txBox="1"/>
          <p:nvPr/>
        </p:nvSpPr>
        <p:spPr>
          <a:xfrm>
            <a:off x="8102600" y="42672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addToCart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只执行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setCart(cart)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，把状态重置为原数组，没有追加商品。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68BE08-C509-9AC4-B6B7-859F0A467326}"/>
              </a:ext>
            </a:extLst>
          </p:cNvPr>
          <p:cNvSpPr/>
          <p:nvPr/>
        </p:nvSpPr>
        <p:spPr>
          <a:xfrm>
            <a:off x="8102600" y="5499100"/>
            <a:ext cx="3479800" cy="1041400"/>
          </a:xfrm>
          <a:prstGeom prst="rect">
            <a:avLst/>
          </a:prstGeom>
          <a:solidFill>
            <a:srgbClr val="1C2733"/>
          </a:solidFill>
          <a:ln w="8890">
            <a:solidFill>
              <a:srgbClr val="1C2733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E139AC-CA42-1619-3899-6289B04A62DB}"/>
              </a:ext>
            </a:extLst>
          </p:cNvPr>
          <p:cNvSpPr txBox="1"/>
          <p:nvPr/>
        </p:nvSpPr>
        <p:spPr>
          <a:xfrm>
            <a:off x="8318500" y="571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FFFFFF"/>
                </a:solidFill>
                <a:latin typeface="Arial" panose="020B0604020202020204" pitchFamily="34" charset="0"/>
              </a:rPr>
              <a:t>单文件证据链清晰时，旧方案能给出可行动根因。</a:t>
            </a:r>
          </a:p>
        </p:txBody>
      </p:sp>
    </p:spTree>
    <p:extLst>
      <p:ext uri="{BB962C8B-B14F-4D97-AF65-F5344CB8AC3E}">
        <p14:creationId xmlns:p14="http://schemas.microsoft.com/office/powerpoint/2010/main" val="342051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0E3915-B5DB-7494-BC46-937D62F87CCD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OLD BASELINE · FAILURE 01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6FF1768-541C-F624-0809-0BA8DD55C958}"/>
              </a:ext>
            </a:extLst>
          </p:cNvPr>
          <p:cNvCxnSpPr/>
          <p:nvPr/>
        </p:nvCxnSpPr>
        <p:spPr>
          <a:xfrm>
            <a:off x="2844800" y="482600"/>
            <a:ext cx="80518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57BA5ABE-6B42-F6E6-8D1C-23B4D709128A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09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63CA9-2900-8B5E-7B2A-82AF2BC02DD4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失败路径 </a:t>
            </a:r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1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：</a:t>
            </a:r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Agent 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没走到真实逻辑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61A174-77B7-6674-54B3-96DB3372ACF0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分类筛选无效，旧基线却把问题归因到数据字段匹配。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17FF35-C02F-EF44-4E1C-95840AC81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5000"/>
            <a:ext cx="7112000" cy="4737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34667A7-C3A4-2D09-1AF2-6DF20FD3F17F}"/>
              </a:ext>
            </a:extLst>
          </p:cNvPr>
          <p:cNvSpPr txBox="1"/>
          <p:nvPr/>
        </p:nvSpPr>
        <p:spPr>
          <a:xfrm>
            <a:off x="8102600" y="20828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现象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91CBF9-C51F-8240-64FE-452A5E9E56E0}"/>
              </a:ext>
            </a:extLst>
          </p:cNvPr>
          <p:cNvSpPr txBox="1"/>
          <p:nvPr/>
        </p:nvSpPr>
        <p:spPr>
          <a:xfrm>
            <a:off x="8102600" y="23368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选择“家具”后，商品列表仍显示全部商品。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1FFB14-0DAB-B5AC-A60E-D83D35692889}"/>
              </a:ext>
            </a:extLst>
          </p:cNvPr>
          <p:cNvSpPr txBox="1"/>
          <p:nvPr/>
        </p:nvSpPr>
        <p:spPr>
          <a:xfrm>
            <a:off x="8102600" y="29845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检索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7E902D-E87F-9792-1C1F-61044558B3C1}"/>
              </a:ext>
            </a:extLst>
          </p:cNvPr>
          <p:cNvSpPr txBox="1"/>
          <p:nvPr/>
        </p:nvSpPr>
        <p:spPr>
          <a:xfrm>
            <a:off x="8102600" y="32385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只读取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App.tsx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和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helpers.ts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640132-E139-C1E9-6BDF-3F396A39B0A9}"/>
              </a:ext>
            </a:extLst>
          </p:cNvPr>
          <p:cNvSpPr txBox="1"/>
          <p:nvPr/>
        </p:nvSpPr>
        <p:spPr>
          <a:xfrm>
            <a:off x="8102600" y="38862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遗漏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402AE-6835-C909-B41B-BFD625616AC3}"/>
              </a:ext>
            </a:extLst>
          </p:cNvPr>
          <p:cNvSpPr txBox="1"/>
          <p:nvPr/>
        </p:nvSpPr>
        <p:spPr>
          <a:xfrm>
            <a:off x="8102600" y="41402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Section.tsx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中分类按钮的点击处理。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56EECD-3693-C85F-E02B-FA6E064EC31E}"/>
              </a:ext>
            </a:extLst>
          </p:cNvPr>
          <p:cNvSpPr txBox="1"/>
          <p:nvPr/>
        </p:nvSpPr>
        <p:spPr>
          <a:xfrm>
            <a:off x="8102600" y="47879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真实根因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DEC7B5-DCA6-2446-04F2-AB64C4BE1F5A}"/>
              </a:ext>
            </a:extLst>
          </p:cNvPr>
          <p:cNvSpPr txBox="1"/>
          <p:nvPr/>
        </p:nvSpPr>
        <p:spPr>
          <a:xfrm>
            <a:off x="8102600" y="50419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按钮点击后总把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activeCategory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设置为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"all"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F74E8B-A30F-CC0E-ECB4-C3DAF06A80C5}"/>
              </a:ext>
            </a:extLst>
          </p:cNvPr>
          <p:cNvSpPr/>
          <p:nvPr/>
        </p:nvSpPr>
        <p:spPr>
          <a:xfrm>
            <a:off x="8102600" y="5842000"/>
            <a:ext cx="3479800" cy="711200"/>
          </a:xfrm>
          <a:prstGeom prst="rect">
            <a:avLst/>
          </a:prstGeom>
          <a:solidFill>
            <a:srgbClr val="FDF1EC"/>
          </a:solidFill>
          <a:ln w="8890">
            <a:solidFill>
              <a:srgbClr val="E4572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16ECA0-D435-6401-4786-3694650EF24D}"/>
              </a:ext>
            </a:extLst>
          </p:cNvPr>
          <p:cNvSpPr txBox="1"/>
          <p:nvPr/>
        </p:nvSpPr>
        <p:spPr>
          <a:xfrm>
            <a:off x="8318500" y="6045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E4572E"/>
                </a:solidFill>
                <a:latin typeface="Arial" panose="020B0604020202020204" pitchFamily="34" charset="0"/>
              </a:rPr>
              <a:t>局部证据让 </a:t>
            </a:r>
            <a:r>
              <a:rPr lang="en-US" altLang="zh-CN" sz="1600" b="1">
                <a:solidFill>
                  <a:srgbClr val="E4572E"/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00" b="1">
                <a:solidFill>
                  <a:srgbClr val="E4572E"/>
                </a:solidFill>
                <a:latin typeface="Arial" panose="020B0604020202020204" pitchFamily="34" charset="0"/>
              </a:rPr>
              <a:t>过早收敛。</a:t>
            </a:r>
          </a:p>
        </p:txBody>
      </p:sp>
    </p:spTree>
    <p:extLst>
      <p:ext uri="{BB962C8B-B14F-4D97-AF65-F5344CB8AC3E}">
        <p14:creationId xmlns:p14="http://schemas.microsoft.com/office/powerpoint/2010/main" val="298377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D0A292-729D-94E9-6606-6B4D78AE735B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E4572E"/>
                </a:solidFill>
                <a:latin typeface="Arial" panose="020B0604020202020204" pitchFamily="34" charset="0"/>
              </a:rPr>
              <a:t>OLD BASELINE · FAILURE 02</a:t>
            </a:r>
            <a:endParaRPr lang="zh-CN" altLang="en-US" sz="1200" b="1">
              <a:solidFill>
                <a:srgbClr val="E4572E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121F6D-F4B4-2DBA-314C-16AE314784C4}"/>
              </a:ext>
            </a:extLst>
          </p:cNvPr>
          <p:cNvCxnSpPr/>
          <p:nvPr/>
        </p:nvCxnSpPr>
        <p:spPr>
          <a:xfrm>
            <a:off x="2844800" y="482600"/>
            <a:ext cx="80518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A7C2A50-9909-247D-3179-B8549B3BA94A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10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C6095D-4717-9C42-6ABF-37497A9CE7E0}"/>
              </a:ext>
            </a:extLst>
          </p:cNvPr>
          <p:cNvSpPr txBox="1"/>
          <p:nvPr/>
        </p:nvSpPr>
        <p:spPr>
          <a:xfrm>
            <a:off x="593090" y="91694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失败路径 </a:t>
            </a:r>
            <a:r>
              <a:rPr lang="en-US" altLang="zh-CN" sz="3150" b="1">
                <a:solidFill>
                  <a:srgbClr val="1C2733"/>
                </a:solidFill>
                <a:latin typeface="Georgia" panose="02040502050405020303" pitchFamily="18" charset="0"/>
              </a:rPr>
              <a:t>2</a:t>
            </a:r>
            <a:r>
              <a:rPr lang="zh-CN" altLang="en-US" sz="3150" b="1">
                <a:solidFill>
                  <a:srgbClr val="1C2733"/>
                </a:solidFill>
                <a:latin typeface="Georgia" panose="02040502050405020303" pitchFamily="18" charset="0"/>
              </a:rPr>
              <a:t>：根因跨越多个文件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AB6C6A-6B81-82DD-5D1F-9F91F02EF968}"/>
              </a:ext>
            </a:extLst>
          </p:cNvPr>
          <p:cNvSpPr txBox="1"/>
          <p:nvPr/>
        </p:nvSpPr>
        <p:spPr>
          <a:xfrm>
            <a:off x="601980" y="14478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E6A73"/>
                </a:solidFill>
                <a:latin typeface="Arial" panose="020B0604020202020204" pitchFamily="34" charset="0"/>
              </a:rPr>
              <a:t>商品页加入成功，结账页却显示空购物车。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79C2AE-AC52-216E-3263-9446D525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5000"/>
            <a:ext cx="7112000" cy="4737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89C3848-3DD6-1465-2D98-C729FA497FDD}"/>
              </a:ext>
            </a:extLst>
          </p:cNvPr>
          <p:cNvSpPr txBox="1"/>
          <p:nvPr/>
        </p:nvSpPr>
        <p:spPr>
          <a:xfrm>
            <a:off x="8102600" y="20066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检索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CAD59F-0280-3A17-8528-B95BD69E2644}"/>
              </a:ext>
            </a:extLst>
          </p:cNvPr>
          <p:cNvSpPr txBox="1"/>
          <p:nvPr/>
        </p:nvSpPr>
        <p:spPr>
          <a:xfrm>
            <a:off x="8102600" y="22606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查看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Checkout.tsx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与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CartContext.tsx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E25885-BF19-38CE-3C2B-A521F4D53177}"/>
              </a:ext>
            </a:extLst>
          </p:cNvPr>
          <p:cNvSpPr txBox="1"/>
          <p:nvPr/>
        </p:nvSpPr>
        <p:spPr>
          <a:xfrm>
            <a:off x="8102600" y="29083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遗漏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04616C-5DF6-AF19-9EED-41A98A441AF2}"/>
              </a:ext>
            </a:extLst>
          </p:cNvPr>
          <p:cNvSpPr txBox="1"/>
          <p:nvPr/>
        </p:nvSpPr>
        <p:spPr>
          <a:xfrm>
            <a:off x="8102600" y="31623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App.tsx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中的路由结构和 </a:t>
            </a:r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CartProvider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范围。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327E70-29C4-6323-BABA-35CC0FC50DBE}"/>
              </a:ext>
            </a:extLst>
          </p:cNvPr>
          <p:cNvSpPr txBox="1"/>
          <p:nvPr/>
        </p:nvSpPr>
        <p:spPr>
          <a:xfrm>
            <a:off x="8102600" y="38100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真实根因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BFCD8A-C2DE-22C3-C4FE-9FA1142AF481}"/>
              </a:ext>
            </a:extLst>
          </p:cNvPr>
          <p:cNvSpPr txBox="1"/>
          <p:nvPr/>
        </p:nvSpPr>
        <p:spPr>
          <a:xfrm>
            <a:off x="8102600" y="40640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Provider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只包裹商店路由，没有覆盖结账页。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180F69-3A5F-DA28-D3C5-4044D7B678E7}"/>
              </a:ext>
            </a:extLst>
          </p:cNvPr>
          <p:cNvSpPr txBox="1"/>
          <p:nvPr/>
        </p:nvSpPr>
        <p:spPr>
          <a:xfrm>
            <a:off x="8102600" y="47117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 b="1">
                <a:solidFill>
                  <a:srgbClr val="E4572E"/>
                </a:solidFill>
                <a:latin typeface="Arial" panose="020B0604020202020204" pitchFamily="34" charset="0"/>
              </a:rPr>
              <a:t>错误结论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ACB3BF-A6C5-C5D4-35D2-374C00375F87}"/>
              </a:ext>
            </a:extLst>
          </p:cNvPr>
          <p:cNvSpPr txBox="1"/>
          <p:nvPr/>
        </p:nvSpPr>
        <p:spPr>
          <a:xfrm>
            <a:off x="8102600" y="4965700"/>
            <a:ext cx="347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>
                <a:solidFill>
                  <a:srgbClr val="1C2733"/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50">
                <a:solidFill>
                  <a:srgbClr val="1C2733"/>
                </a:solidFill>
                <a:latin typeface="Arial" panose="020B0604020202020204" pitchFamily="34" charset="0"/>
              </a:rPr>
              <a:t>将空购物车归因于页面加载时状态重置。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161B14-CC77-DBD2-182B-6731EDEBA398}"/>
              </a:ext>
            </a:extLst>
          </p:cNvPr>
          <p:cNvSpPr/>
          <p:nvPr/>
        </p:nvSpPr>
        <p:spPr>
          <a:xfrm>
            <a:off x="8102600" y="5765800"/>
            <a:ext cx="3479800" cy="787400"/>
          </a:xfrm>
          <a:prstGeom prst="rect">
            <a:avLst/>
          </a:prstGeom>
          <a:solidFill>
            <a:srgbClr val="FDF1EC"/>
          </a:solidFill>
          <a:ln w="8890">
            <a:solidFill>
              <a:srgbClr val="E4572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C0C500-88F2-50A7-53F7-B28576FB9C5C}"/>
              </a:ext>
            </a:extLst>
          </p:cNvPr>
          <p:cNvSpPr txBox="1"/>
          <p:nvPr/>
        </p:nvSpPr>
        <p:spPr>
          <a:xfrm>
            <a:off x="8318500" y="5981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E4572E"/>
                </a:solidFill>
                <a:latin typeface="Arial" panose="020B0604020202020204" pitchFamily="34" charset="0"/>
              </a:rPr>
              <a:t>局部文件无法解释跨页面状态。</a:t>
            </a:r>
          </a:p>
        </p:txBody>
      </p:sp>
    </p:spTree>
    <p:extLst>
      <p:ext uri="{BB962C8B-B14F-4D97-AF65-F5344CB8AC3E}">
        <p14:creationId xmlns:p14="http://schemas.microsoft.com/office/powerpoint/2010/main" val="331480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293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ROOT PROBLEM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924050" y="447675"/>
              <a:ext cx="9105900" cy="9525"/>
            </a:xfrm>
            <a:custGeom>
              <a:avLst/>
              <a:gdLst/>
              <a:ahLst/>
              <a:cxnLst/>
              <a:rect l="l" t="t" r="r" b="b"/>
              <a:pathLst>
                <a:path w="9105900" h="9525">
                  <a:moveTo>
                    <a:pt x="0" y="0"/>
                  </a:moveTo>
                  <a:lnTo>
                    <a:pt x="910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30230" y="365760"/>
              <a:ext cx="4582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7637145" cy="795337"/>
            <a:chOff x="593598" y="841058"/>
            <a:chExt cx="7637145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763714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旧基线上下文不合理，虚拟系统重建不可信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885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在不可靠的证据环境上调 Prompt，只会更流畅地解释错误信息。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828800"/>
            <a:ext cx="4970678" cy="3577970"/>
            <a:chOff x="609600" y="1828800"/>
            <a:chExt cx="4970678" cy="3577970"/>
          </a:xfrm>
        </p:grpSpPr>
        <p:sp>
          <p:nvSpPr>
            <p:cNvPr id="9" name="Rectangle 9"/>
            <p:cNvSpPr/>
            <p:nvPr/>
          </p:nvSpPr>
          <p:spPr>
            <a:xfrm>
              <a:off x="609600" y="18288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19850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证据丢失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22885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只取最后一次 write，漏掉 replace / insert。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27051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28613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时序偏差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3105150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tail 75 行偏向后期现象，忽略早期根因。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5814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3737610"/>
              <a:ext cx="1201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注意力稀释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3981450"/>
              <a:ext cx="47496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Review_code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只能猜文件名，没有利用每步 think 路由。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4457699"/>
              <a:ext cx="4914900" cy="949071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4613910"/>
              <a:ext cx="1558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工程冗余 / 污染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839843"/>
              <a:ext cx="296265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再写 JSON；错误 domain prompt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进入上下文。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05500" y="1790700"/>
            <a:ext cx="5676900" cy="3714750"/>
            <a:chOff x="5905500" y="1790700"/>
            <a:chExt cx="5676900" cy="3714750"/>
          </a:xfrm>
        </p:grpSpPr>
        <p:sp>
          <p:nvSpPr>
            <p:cNvPr id="22" name="Rectangle 22"/>
            <p:cNvSpPr/>
            <p:nvPr/>
          </p:nvSpPr>
          <p:spPr>
            <a:xfrm>
              <a:off x="5905500" y="1790700"/>
              <a:ext cx="5676900" cy="3714750"/>
            </a:xfrm>
            <a:prstGeom prst="roundRect">
              <a:avLst>
                <a:gd name="adj" fmla="val 10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65342" y="1949768"/>
              <a:ext cx="1759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Editor 工具调用次数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3428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原始统计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175096" y="2381250"/>
              <a:ext cx="5251658" cy="2822734"/>
              <a:chOff x="6175096" y="2381250"/>
              <a:chExt cx="5251658" cy="2822734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91515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rgbClr val="87919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915150" y="485775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87919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910590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1129665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867972" y="49839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75796" y="49839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35k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166546" y="49839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70k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01257" y="2546985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read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15150" y="2505075"/>
                <a:ext cx="4317873" cy="228600"/>
              </a:xfrm>
              <a:prstGeom prst="rect">
                <a:avLst/>
              </a:prstGeom>
              <a:solidFill>
                <a:srgbClr val="AAB2B9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597454" y="25469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68,984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20485" y="3004185"/>
                <a:ext cx="448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915150" y="2962275"/>
                <a:ext cx="3951732" cy="228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235504" y="30041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63,134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175096" y="3461385"/>
                <a:ext cx="5937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replace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915150" y="3419475"/>
                <a:ext cx="1548575" cy="228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547354" y="34613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24,740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63945" y="3918585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insert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915150" y="3876675"/>
                <a:ext cx="2381" cy="228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6905625" y="3962400"/>
                <a:ext cx="57150" cy="571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61454" y="39185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23559" y="4375785"/>
                <a:ext cx="5452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append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061454" y="43757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165723" y="5215414"/>
              <a:ext cx="2141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replace 约占写类操作 28%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4885" y="523160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仅看 write 是结构性遗漏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5676900"/>
            <a:ext cx="10972800" cy="628650"/>
            <a:chOff x="609600" y="5676900"/>
            <a:chExt cx="10972800" cy="628650"/>
          </a:xfrm>
        </p:grpSpPr>
        <p:sp>
          <p:nvSpPr>
            <p:cNvPr id="51" name="Rectangle 51"/>
            <p:cNvSpPr/>
            <p:nvPr/>
          </p:nvSpPr>
          <p:spPr>
            <a:xfrm>
              <a:off x="609600" y="5676900"/>
              <a:ext cx="109728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8106" y="5873115"/>
              <a:ext cx="36933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FFFF"/>
                  </a:solidFill>
                </a:rPr>
                <a:t>所以，上下文上面有很大的优化空间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741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 → DECISION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533650" y="447675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5697855" cy="795337"/>
            <a:chOff x="593598" y="841058"/>
            <a:chExt cx="5697855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从调研中获取相关思想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每条研究发现都要回答一个已观察问题，并标清“做到哪一步”。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1809750"/>
            <a:ext cx="10972800" cy="3943350"/>
            <a:chOff x="609600" y="1809750"/>
            <a:chExt cx="10972800" cy="3943350"/>
          </a:xfrm>
        </p:grpSpPr>
        <p:sp>
          <p:nvSpPr>
            <p:cNvPr id="9" name="Rectangle 9"/>
            <p:cNvSpPr/>
            <p:nvPr/>
          </p:nvSpPr>
          <p:spPr>
            <a:xfrm>
              <a:off x="609600" y="1809750"/>
              <a:ext cx="10972800" cy="3943350"/>
            </a:xfrm>
            <a:prstGeom prst="roundRect">
              <a:avLst>
                <a:gd name="adj" fmla="val 9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809750"/>
              <a:ext cx="109728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95786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研究来源 / 发现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8173" y="1957864"/>
              <a:ext cx="114454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我们能学到什么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23323" y="1957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实现边界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68605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Line 15"/>
            <p:cNvSpPr/>
            <p:nvPr/>
          </p:nvSpPr>
          <p:spPr>
            <a:xfrm>
              <a:off x="960120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2838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419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4000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581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516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2247900"/>
              <a:ext cx="109728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723" y="2338864"/>
              <a:ext cx="1148029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All-at-once /</a:t>
              </a:r>
              <a:b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Binary Search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8173" y="2338864"/>
              <a:ext cx="4269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 chat 归因有限 → 工具化取证与 iterator 式循环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08554" y="256603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按需查询，不把全量日志一次灌入模型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3323" y="24341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" y="3045142"/>
              <a:ext cx="766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AgentRX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8173" y="292941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先验、工具 schema、验证日志可引导注意力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8554" y="3156585"/>
              <a:ext cx="3356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约束引擎 + validation_summary + 证据入口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23323" y="29294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4085" y="3164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规则仍需业务化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3419475"/>
              <a:ext cx="10972800" cy="581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3635692"/>
              <a:ext cx="14763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Dover</a:t>
              </a:r>
              <a:r>
                <a:rPr lang="en-US" alt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/ VerifyMAS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8173" y="35104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单次猜测不足，多假设需要验证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08554" y="373761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串行 propose / query / judge / conclude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23323" y="3510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部分实现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24085" y="374570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未做 checkpoint 重放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342" y="421671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AgentDebug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08173" y="40914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按模块预定义错误与异常分类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8554" y="4318635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确定性约束给方向，不直接给根因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23323" y="42248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4581525"/>
              <a:ext cx="10972800" cy="581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342" y="4797742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logdx_ci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08173" y="4672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压缩与工具检索配合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8554" y="4899660"/>
              <a:ext cx="3182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Step 摘要进主上下文，完整日志按需查询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23323" y="46724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24085" y="4907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不虚构压缩率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1723" y="5272564"/>
              <a:ext cx="1190701" cy="458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AgentTracer /</a:t>
              </a:r>
              <a:b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StepFinder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08173" y="52725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强化学习、步骤奖励与时序模型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08554" y="5499735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保留为可验证的后续研究路线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23323" y="5377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未来方向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27660"/>
            <a:ext cx="10984992" cy="234696"/>
            <a:chOff x="603504" y="3276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275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V5 SYSTEM MAP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038350" y="409575"/>
              <a:ext cx="8991600" cy="9525"/>
            </a:xfrm>
            <a:custGeom>
              <a:avLst/>
              <a:gdLst/>
              <a:ahLst/>
              <a:cxnLst/>
              <a:rect l="l" t="t" r="r" b="b"/>
              <a:pathLst>
                <a:path w="8991600" h="9525">
                  <a:moveTo>
                    <a:pt x="0" y="0"/>
                  </a:moveTo>
                  <a:lnTo>
                    <a:pt x="899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276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3598" y="726758"/>
            <a:ext cx="5272277" cy="484748"/>
            <a:chOff x="593598" y="726758"/>
            <a:chExt cx="5272277" cy="484748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726758"/>
              <a:ext cx="527227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总体架构：证据工程先于推理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1584960"/>
            <a:ext cx="1934994" cy="4418307"/>
            <a:chOff x="603504" y="1584960"/>
            <a:chExt cx="1934994" cy="4418307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584960"/>
              <a:ext cx="1732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FOUR-LAYER READING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23900" y="20193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Ellipse 10"/>
            <p:cNvSpPr/>
            <p:nvPr/>
          </p:nvSpPr>
          <p:spPr>
            <a:xfrm>
              <a:off x="647700" y="2133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02311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数据层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254568"/>
              <a:ext cx="1592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 / Trace / GUI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47700" y="3028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291846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证据层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5642" y="3149918"/>
              <a:ext cx="1580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文件 / 约束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3924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81381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推理层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404526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 / 查询 / 判断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7700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470916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输出层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4940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 / 完整轨迹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504" y="5585460"/>
              <a:ext cx="1846659" cy="417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先假设，再取证，再判断，</a:t>
              </a:r>
              <a:endPara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1650"/>
                </a:lnSpc>
              </a:pPr>
              <a:r>
                <a:rPr lang="zh-CN" altLang="en-US" sz="1200" dirty="0">
                  <a:solidFill>
                    <a:schemeClr val="accent5"/>
                  </a:solidFill>
                </a:rPr>
                <a:t>最后归因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19450" y="1371600"/>
            <a:ext cx="5962650" cy="4857750"/>
            <a:chOff x="3219450" y="1371600"/>
            <a:chExt cx="5962650" cy="4857750"/>
          </a:xfrm>
        </p:grpSpPr>
        <p:sp>
          <p:nvSpPr>
            <p:cNvPr id="24" name="Rectangle 24"/>
            <p:cNvSpPr/>
            <p:nvPr/>
          </p:nvSpPr>
          <p:spPr>
            <a:xfrm>
              <a:off x="3219450" y="1371600"/>
              <a:ext cx="5962650" cy="4857750"/>
            </a:xfrm>
            <a:prstGeom prst="roundRect">
              <a:avLst>
                <a:gd name="adj" fmla="val 78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6600" y="1409700"/>
              <a:ext cx="5848350" cy="4762500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9480804" y="1680210"/>
            <a:ext cx="2101596" cy="3454146"/>
            <a:chOff x="9480804" y="1680210"/>
            <a:chExt cx="2101596" cy="3454146"/>
          </a:xfrm>
        </p:grpSpPr>
        <p:sp>
          <p:nvSpPr>
            <p:cNvPr id="27" name="TextBox 27"/>
            <p:cNvSpPr txBox="1"/>
            <p:nvPr/>
          </p:nvSpPr>
          <p:spPr>
            <a:xfrm>
              <a:off x="9480804" y="1680210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LOOP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486900" y="20383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07067" y="2216468"/>
              <a:ext cx="1855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propose_hypothesis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534650" y="2552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486900" y="27622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6973" y="2940368"/>
              <a:ext cx="1435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query_evidence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0534650" y="3276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86900" y="34861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35873" y="366426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judge_hypothesis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10534650" y="4000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486900" y="42100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31833" y="43881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conclude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0804" y="4899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紧凑结论 + 可审阅轨迹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562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01 · LOGS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190750" y="447675"/>
              <a:ext cx="8839200" cy="9525"/>
            </a:xfrm>
            <a:custGeom>
              <a:avLst/>
              <a:gdLst/>
              <a:ahLst/>
              <a:cxnLst/>
              <a:rect l="l" t="t" r="r" b="b"/>
              <a:pathLst>
                <a:path w="8839200" h="9525">
                  <a:moveTo>
                    <a:pt x="0" y="0"/>
                  </a:moveTo>
                  <a:lnTo>
                    <a:pt x="8839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3598" y="841058"/>
            <a:ext cx="720090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日志预处理：保留意图，折叠长参数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1847850"/>
            <a:ext cx="10972800" cy="723900"/>
            <a:chOff x="609600" y="1847850"/>
            <a:chExt cx="10972800" cy="723900"/>
          </a:xfrm>
        </p:grpSpPr>
        <p:sp>
          <p:nvSpPr>
            <p:cNvPr id="9" name="Rectangle 9"/>
            <p:cNvSpPr/>
            <p:nvPr/>
          </p:nvSpPr>
          <p:spPr>
            <a:xfrm>
              <a:off x="609600" y="1847850"/>
              <a:ext cx="10972800" cy="723900"/>
            </a:xfrm>
            <a:prstGeom prst="roundRect">
              <a:avLst>
                <a:gd name="adj" fmla="val 5263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023110"/>
              <a:ext cx="801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STEP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1670" y="2024062"/>
              <a:ext cx="8179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think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800350" y="2171700"/>
              <a:ext cx="7810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9520" y="2024062"/>
              <a:ext cx="21696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 / tool call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42595" y="2121218"/>
              <a:ext cx="2160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一次循环 = 一个编号 Step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504" y="2918460"/>
            <a:ext cx="4482846" cy="2663190"/>
            <a:chOff x="603504" y="2918460"/>
            <a:chExt cx="4482846" cy="2663190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2918460"/>
              <a:ext cx="23600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 COMPLEMENTARY VIEWS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57550"/>
              <a:ext cx="4476750" cy="1066800"/>
            </a:xfrm>
            <a:prstGeom prst="roundRect">
              <a:avLst>
                <a:gd name="adj" fmla="val 3571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342" y="3416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压缩版 · 主上下文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0580" y="3705225"/>
              <a:ext cx="27683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 think、工具名、路径、状态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3997642"/>
              <a:ext cx="323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折叠 Editor.read/write 的长文本参数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4514850"/>
              <a:ext cx="4476750" cy="10668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342" y="4673918"/>
              <a:ext cx="214481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 · </a:t>
              </a:r>
              <a:r>
                <a:rPr lang="en-US" altLang="zh-CN" sz="1350" b="1" dirty="0">
                  <a:solidFill>
                    <a:schemeClr val="accent1"/>
                  </a:solidFill>
                </a:rPr>
                <a:t>Offload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后按需获取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580" y="4962525"/>
              <a:ext cx="2636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完整内容仍按 Step 编号保留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342" y="5254942"/>
              <a:ext cx="3684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query_evidence(type="step") 精确回查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429250" y="2838450"/>
            <a:ext cx="6153150" cy="2857500"/>
            <a:chOff x="5429250" y="2838450"/>
            <a:chExt cx="6153150" cy="2857500"/>
          </a:xfrm>
        </p:grpSpPr>
        <p:sp>
          <p:nvSpPr>
            <p:cNvPr id="26" name="Rectangle 26"/>
            <p:cNvSpPr/>
            <p:nvPr/>
          </p:nvSpPr>
          <p:spPr>
            <a:xfrm>
              <a:off x="5429250" y="2838450"/>
              <a:ext cx="6153150" cy="2857500"/>
            </a:xfrm>
            <a:prstGeom prst="roundRect">
              <a:avLst>
                <a:gd name="adj" fmla="val 1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429250" y="2838450"/>
              <a:ext cx="6153150" cy="400050"/>
            </a:xfrm>
            <a:prstGeom prst="rect">
              <a:avLst/>
            </a:prstGeom>
            <a:solidFill>
              <a:srgbClr val="EDEFF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Ellipse 28"/>
            <p:cNvSpPr/>
            <p:nvPr/>
          </p:nvSpPr>
          <p:spPr>
            <a:xfrm>
              <a:off x="5610225" y="2990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Ellipse 29"/>
            <p:cNvSpPr/>
            <p:nvPr/>
          </p:nvSpPr>
          <p:spPr>
            <a:xfrm>
              <a:off x="5781675" y="2990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Ellipse 30"/>
            <p:cNvSpPr/>
            <p:nvPr/>
          </p:nvSpPr>
          <p:spPr>
            <a:xfrm>
              <a:off x="5953125" y="2990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30141" y="2964656"/>
              <a:ext cx="1891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STRUCTURED LOG EXCERPT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0992" y="3378518"/>
              <a:ext cx="2742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01 · 02:39:35—02:41:23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0992" y="3654742"/>
              <a:ext cx="238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Think: 需要先分析项目需求…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50992" y="3921442"/>
              <a:ext cx="3919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FrontendEngineer.draft_plan → 成功 · 91.2s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657850" y="4248150"/>
              <a:ext cx="5695950" cy="9525"/>
            </a:xfrm>
            <a:custGeom>
              <a:avLst/>
              <a:gdLst/>
              <a:ahLst/>
              <a:cxnLst/>
              <a:rect l="l" t="t" r="r" b="b"/>
              <a:pathLst>
                <a:path w="5695950" h="9525">
                  <a:moveTo>
                    <a:pt x="0" y="0"/>
                  </a:moveTo>
                  <a:lnTo>
                    <a:pt x="5695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50992" y="4388168"/>
              <a:ext cx="2742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19 · 02:46:20—02:49:08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0992" y="4664392"/>
              <a:ext cx="3724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Think: Let me build all the frontend files…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0992" y="4931092"/>
              <a:ext cx="348557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Editor.write(StockCard.tsx) → 成功</a:t>
              </a:r>
              <a:b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Terminal.run(pnpm run lint) → 成功 · 6.0s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12966" y="5433060"/>
              <a:ext cx="2508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21 · NO_COMMAND → 失败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5867400"/>
            <a:ext cx="10972800" cy="438150"/>
            <a:chOff x="609600" y="5867400"/>
            <a:chExt cx="10972800" cy="438150"/>
          </a:xfrm>
        </p:grpSpPr>
        <p:sp>
          <p:nvSpPr>
            <p:cNvPr id="41" name="Rectangle 41"/>
            <p:cNvSpPr/>
            <p:nvPr/>
          </p:nvSpPr>
          <p:spPr>
            <a:xfrm>
              <a:off x="609600" y="5867400"/>
              <a:ext cx="10972800" cy="43815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0580" y="59912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6380" y="5991225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压缩不是删掉证据，而是把证据从“默认占用注意力”改为“可按索引回查”。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127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02 · FILE REPLAY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800350" y="447675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8739572" cy="795337"/>
            <a:chOff x="593598" y="841058"/>
            <a:chExt cx="8739572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8739572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 err="1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Mock_file_system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: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更完善的重建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Workspace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事件按日志顺序重放；可信度决定一段代码能支撑多强的归因结论。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1880235"/>
            <a:ext cx="10978896" cy="1006221"/>
            <a:chOff x="603504" y="1880235"/>
            <a:chExt cx="10978896" cy="1006221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1880235"/>
              <a:ext cx="2180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FILE EVENTS IN LOG ORDER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476500"/>
              <a:ext cx="85915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Ellipse 11"/>
            <p:cNvSpPr/>
            <p:nvPr/>
          </p:nvSpPr>
          <p:spPr>
            <a:xfrm>
              <a:off x="1504950" y="2362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31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4780" y="2121218"/>
              <a:ext cx="528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8522" y="2651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建立完整基线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62450" y="2362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06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5679" y="2121218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replace / insert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4478" y="2651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依序应用增量修改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19950" y="2362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881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1896" y="2121218"/>
              <a:ext cx="1864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prior read snapshot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7746" y="265176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 write 时补基线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886950" y="2076450"/>
              <a:ext cx="1695450" cy="8001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78386" y="21736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≈ 99.96%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25862" y="2545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写类命令重放覆盖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3219450"/>
            <a:ext cx="10972800" cy="2552700"/>
            <a:chOff x="609600" y="3219450"/>
            <a:chExt cx="10972800" cy="2552700"/>
          </a:xfrm>
        </p:grpSpPr>
        <p:sp>
          <p:nvSpPr>
            <p:cNvPr id="27" name="Rectangle 27"/>
            <p:cNvSpPr/>
            <p:nvPr/>
          </p:nvSpPr>
          <p:spPr>
            <a:xfrm>
              <a:off x="609600" y="3219450"/>
              <a:ext cx="10972800" cy="2552700"/>
            </a:xfrm>
            <a:prstGeom prst="roundRect">
              <a:avLst>
                <a:gd name="adj" fmla="val 149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3219450"/>
              <a:ext cx="109728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3347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可信等级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6654" y="3347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形成条件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37854" y="3347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可支持的证据强度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686050" y="321945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0"/>
                  </a:moveTo>
                  <a:lnTo>
                    <a:pt x="0" y="2552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Line 33"/>
            <p:cNvSpPr/>
            <p:nvPr/>
          </p:nvSpPr>
          <p:spPr>
            <a:xfrm>
              <a:off x="8477250" y="321945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0"/>
                  </a:moveTo>
                  <a:lnTo>
                    <a:pt x="0" y="2552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3619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4152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Line 36"/>
            <p:cNvSpPr/>
            <p:nvPr/>
          </p:nvSpPr>
          <p:spPr>
            <a:xfrm>
              <a:off x="609600" y="4686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52900"/>
              <a:ext cx="109728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" y="5219700"/>
              <a:ext cx="109728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342" y="37976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exact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5892" y="37976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write，且无后续未知补丁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37473" y="38057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强代码证据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342" y="4331018"/>
              <a:ext cx="1387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stale_resolved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45892" y="433101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write 后的 replace 已按顺序成功重放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37473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强代码证据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1723" y="4872514"/>
              <a:ext cx="2193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efbr_only_unknown_base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45892" y="4864418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 replace，且没有可确认的 write / read 基线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37473" y="48725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仅用于搜索线索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723" y="5405914"/>
              <a:ext cx="211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terminal_or_unavailable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45892" y="539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只确认文件存在，内容无法重建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37473" y="54059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不能单独证明根因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5905500"/>
            <a:ext cx="10972800" cy="400050"/>
            <a:chOff x="609600" y="5905500"/>
            <a:chExt cx="10972800" cy="400050"/>
          </a:xfrm>
        </p:grpSpPr>
        <p:sp>
          <p:nvSpPr>
            <p:cNvPr id="53" name="Rectangle 53"/>
            <p:cNvSpPr/>
            <p:nvPr/>
          </p:nvSpPr>
          <p:spPr>
            <a:xfrm>
              <a:off x="609600" y="5905500"/>
              <a:ext cx="10972800" cy="40005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0961" y="60183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边界：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78661" y="6018371"/>
              <a:ext cx="6666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99.96% 描述文件重建覆盖，不是归因准确率；低可信代码只能引导继续取证。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1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03 · REASONING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667000" y="447675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8362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5677662" cy="795337"/>
            <a:chOff x="593598" y="841058"/>
            <a:chExt cx="5677662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46115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提供先验，缩小搜索空间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确定性检查只输出事实信号；根因必须经过假设、取证与判断。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809750"/>
            <a:ext cx="4762500" cy="3905250"/>
            <a:chOff x="609600" y="1809750"/>
            <a:chExt cx="4762500" cy="3905250"/>
          </a:xfrm>
        </p:grpSpPr>
        <p:sp>
          <p:nvSpPr>
            <p:cNvPr id="9" name="Rectangle 9"/>
            <p:cNvSpPr/>
            <p:nvPr/>
          </p:nvSpPr>
          <p:spPr>
            <a:xfrm>
              <a:off x="609600" y="1809750"/>
              <a:ext cx="4762500" cy="3905250"/>
            </a:xfrm>
            <a:prstGeom prst="roundRect">
              <a:avLst>
                <a:gd name="adj" fmla="val 97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809750"/>
              <a:ext cx="4762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054" y="1956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确定性约束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66001" y="1964531"/>
              <a:ext cx="98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FACT SIGNALS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2288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00350"/>
              <a:ext cx="47625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943350"/>
              <a:ext cx="47625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3054" y="2375535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build_before_end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69731" y="238363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结束前是否 lint / build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054" y="2947035"/>
              <a:ext cx="2208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validate_after_last_write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0815" y="29551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最后修改后是否重验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054" y="3518535"/>
              <a:ext cx="2132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frontend_browser_smoke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0815" y="35266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前端是否浏览器冒烟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4090035"/>
              <a:ext cx="1844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build_error_not_fixed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9267" y="40981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构建失败后是否修复重跑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054" y="4661535"/>
              <a:ext cx="2488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tool_failure_strategy_switch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79267" y="46696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连续失败后是否切换解法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19150" y="50101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435" y="517445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satisfied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8360" y="517445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violated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94685" y="5174456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not_applicable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3054" y="5423535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violated ≠ root cause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51108" y="5431631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 validation_summary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0" y="1809750"/>
            <a:ext cx="5981700" cy="3905250"/>
            <a:chOff x="5600700" y="1809750"/>
            <a:chExt cx="5981700" cy="3905250"/>
          </a:xfrm>
        </p:grpSpPr>
        <p:sp>
          <p:nvSpPr>
            <p:cNvPr id="33" name="Rectangle 33"/>
            <p:cNvSpPr/>
            <p:nvPr/>
          </p:nvSpPr>
          <p:spPr>
            <a:xfrm>
              <a:off x="5600700" y="1809750"/>
              <a:ext cx="5981700" cy="3905250"/>
            </a:xfrm>
            <a:prstGeom prst="roundRect">
              <a:avLst>
                <a:gd name="adj" fmla="val 97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23204" y="1956435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SERIAL HYPOTHESIS–EVIDENCE LOOP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29300" y="2362200"/>
              <a:ext cx="7429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23585" y="2450306"/>
              <a:ext cx="935355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chemeClr val="accent5"/>
                  </a:solidFill>
                </a:rPr>
                <a:t>上下文观测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10350" y="2171700"/>
              <a:ext cx="2095500" cy="552450"/>
            </a:xfrm>
            <a:prstGeom prst="roundRect">
              <a:avLst>
                <a:gd name="adj" fmla="val 6897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30517" y="2368868"/>
              <a:ext cx="1855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propose_hypothesis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05850" y="2447925"/>
              <a:ext cx="5334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277350" y="2171700"/>
              <a:ext cx="2076450" cy="55245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97898" y="2368868"/>
              <a:ext cx="1435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query_evidence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23204" y="3013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可查询证据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22442" y="3283268"/>
              <a:ext cx="352844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· code · grep · 项目结构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validation_summary · evaluation_summary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10315575" y="2724150"/>
              <a:ext cx="1" cy="1276350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010650" y="4038600"/>
              <a:ext cx="2343150" cy="552450"/>
            </a:xfrm>
            <a:prstGeom prst="roundRect">
              <a:avLst>
                <a:gd name="adj" fmla="val 689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83448" y="423576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judge_hypothesis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23204" y="4137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22442" y="4407218"/>
              <a:ext cx="936498" cy="6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/ contradict / inconclusive</a:t>
              </a:r>
            </a:p>
          </p:txBody>
        </p:sp>
        <p:sp>
          <p:nvSpPr>
            <p:cNvPr id="49" name="Line 49"/>
            <p:cNvSpPr/>
            <p:nvPr/>
          </p:nvSpPr>
          <p:spPr>
            <a:xfrm flipH="1">
              <a:off x="8477250" y="4314825"/>
              <a:ext cx="5334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10350" y="4038600"/>
              <a:ext cx="1828800" cy="55245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21933" y="42357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conclude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658100" y="4591050"/>
              <a:ext cx="2524125" cy="514350"/>
            </a:xfrm>
            <a:custGeom>
              <a:avLst/>
              <a:gdLst/>
              <a:ahLst/>
              <a:cxnLst/>
              <a:rect l="l" t="t" r="r" b="b"/>
              <a:pathLst>
                <a:path w="2524125" h="514350">
                  <a:moveTo>
                    <a:pt x="2524125" y="0"/>
                  </a:moveTo>
                  <a:lnTo>
                    <a:pt x="2524125" y="514350"/>
                  </a:lnTo>
                  <a:lnTo>
                    <a:pt x="0" y="514350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200000"/>
              </a:custDash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11414" y="5212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证据不足：继续取证或更换假设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5905500"/>
            <a:ext cx="10972800" cy="400050"/>
            <a:chOff x="609600" y="5905500"/>
            <a:chExt cx="10972800" cy="400050"/>
          </a:xfrm>
        </p:grpSpPr>
        <p:sp>
          <p:nvSpPr>
            <p:cNvPr id="56" name="Rectangle 56"/>
            <p:cNvSpPr/>
            <p:nvPr/>
          </p:nvSpPr>
          <p:spPr>
            <a:xfrm>
              <a:off x="609600" y="5905500"/>
              <a:ext cx="109728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0580" y="6010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职责边界：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78330" y="6010275"/>
              <a:ext cx="40828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缩小搜索空间；LLM 负责形成并验证因果解释。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56616"/>
            <a:ext cx="2984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1B7F79"/>
                </a:solidFill>
                <a:latin typeface="Arial" panose="020B0604020202020204"/>
              </a:rPr>
              <a:t>TOOL DESIGN · REFLECTION</a:t>
            </a:r>
            <a:endParaRPr sz="1200" b="1" i="0" dirty="0">
              <a:solidFill>
                <a:srgbClr val="1B7F79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11500" y="438912"/>
            <a:ext cx="8128000" cy="9144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356616"/>
            <a:ext cx="1005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>
                <a:solidFill>
                  <a:srgbClr val="5E6A73"/>
                </a:solidFill>
                <a:latin typeface="Arial" panose="020B0604020202020204"/>
              </a:rPr>
              <a:t>20 / 25</a:t>
            </a:r>
            <a:endParaRPr sz="1200" b="0" i="0">
              <a:solidFill>
                <a:srgbClr val="5E6A7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 i="0" dirty="0">
                <a:solidFill>
                  <a:srgbClr val="1C2733"/>
                </a:solidFill>
                <a:latin typeface="微软雅黑" panose="020B0503020204020204" charset="-122"/>
              </a:rPr>
              <a:t>假设回放验证</a:t>
            </a:r>
            <a:endParaRPr sz="2700" b="1" i="0" dirty="0">
              <a:solidFill>
                <a:srgbClr val="1C273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37160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E6A73"/>
                </a:solidFill>
                <a:latin typeface="微软雅黑" panose="020B0503020204020204" charset="-122"/>
              </a:rPr>
              <a:t>修改假设指向的步骤，再在同一场景复跑，观察 </a:t>
            </a:r>
            <a:r>
              <a:rPr lang="en-US" altLang="zh-CN" sz="1600" b="0" i="0">
                <a:solidFill>
                  <a:srgbClr val="5E6A73"/>
                </a:solidFill>
                <a:latin typeface="微软雅黑" panose="020B0503020204020204" charset="-122"/>
              </a:rPr>
              <a:t>Phenomenon </a:t>
            </a:r>
            <a:r>
              <a:rPr lang="zh-CN" altLang="en-US" sz="1600" b="0" i="0">
                <a:solidFill>
                  <a:srgbClr val="5E6A73"/>
                </a:solidFill>
                <a:latin typeface="微软雅黑" panose="020B0503020204020204" charset="-122"/>
              </a:rPr>
              <a:t>是否消失。</a:t>
            </a:r>
            <a:endParaRPr sz="1600" b="0" i="0">
              <a:solidFill>
                <a:srgbClr val="5E6A73"/>
              </a:solidFill>
              <a:latin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73300E-D578-5D6B-8914-B17BAFC68D93}"/>
              </a:ext>
            </a:extLst>
          </p:cNvPr>
          <p:cNvSpPr txBox="1"/>
          <p:nvPr/>
        </p:nvSpPr>
        <p:spPr>
          <a:xfrm>
            <a:off x="609600" y="2006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168880"/>
                </a:solidFill>
                <a:latin typeface="微软雅黑" panose="020B0503020204020204" pitchFamily="34" charset="-122"/>
              </a:rPr>
              <a:t>验证设想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3C877CD-8421-9CEB-475E-688798D1278B}"/>
              </a:ext>
            </a:extLst>
          </p:cNvPr>
          <p:cNvSpPr/>
          <p:nvPr/>
        </p:nvSpPr>
        <p:spPr>
          <a:xfrm>
            <a:off x="609600" y="2336800"/>
            <a:ext cx="3149600" cy="121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6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14C8918-39BA-A54D-E004-8C742FDA7616}"/>
              </a:ext>
            </a:extLst>
          </p:cNvPr>
          <p:cNvSpPr/>
          <p:nvPr/>
        </p:nvSpPr>
        <p:spPr>
          <a:xfrm>
            <a:off x="4521200" y="2336800"/>
            <a:ext cx="3149600" cy="121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6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21EDF10-3B0D-6590-B177-EAC33FB2FF2B}"/>
              </a:ext>
            </a:extLst>
          </p:cNvPr>
          <p:cNvSpPr/>
          <p:nvPr/>
        </p:nvSpPr>
        <p:spPr>
          <a:xfrm>
            <a:off x="8432800" y="2336800"/>
            <a:ext cx="3149600" cy="121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6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86E876A-160A-040A-0858-53368DC08375}"/>
              </a:ext>
            </a:extLst>
          </p:cNvPr>
          <p:cNvSpPr txBox="1"/>
          <p:nvPr/>
        </p:nvSpPr>
        <p:spPr>
          <a:xfrm>
            <a:off x="812800" y="2501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 b="1">
                <a:solidFill>
                  <a:srgbClr val="1C2733"/>
                </a:solidFill>
                <a:latin typeface="微软雅黑" panose="020B0503020204020204" pitchFamily="34" charset="-122"/>
              </a:rPr>
              <a:t>01 · </a:t>
            </a:r>
            <a:r>
              <a:rPr lang="zh-CN" altLang="en-US" sz="1550" b="1">
                <a:solidFill>
                  <a:srgbClr val="1C2733"/>
                </a:solidFill>
                <a:latin typeface="微软雅黑" panose="020B0503020204020204" pitchFamily="34" charset="-122"/>
              </a:rPr>
              <a:t>定位假设步骤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B25F31-4904-9C08-70AD-014A2EE5F5EB}"/>
              </a:ext>
            </a:extLst>
          </p:cNvPr>
          <p:cNvSpPr txBox="1"/>
          <p:nvPr/>
        </p:nvSpPr>
        <p:spPr>
          <a:xfrm>
            <a:off x="812800" y="28702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按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hypothesis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找到对应的执行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step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与代码位置。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0BF5CB6-03B1-75B4-D9AA-BFB1F124AB34}"/>
              </a:ext>
            </a:extLst>
          </p:cNvPr>
          <p:cNvSpPr txBox="1"/>
          <p:nvPr/>
        </p:nvSpPr>
        <p:spPr>
          <a:xfrm>
            <a:off x="3848100" y="26797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200" b="1">
                <a:solidFill>
                  <a:srgbClr val="818B93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5B7EE1-3CCA-C6AD-F3A6-9182B9902C7C}"/>
              </a:ext>
            </a:extLst>
          </p:cNvPr>
          <p:cNvSpPr txBox="1"/>
          <p:nvPr/>
        </p:nvSpPr>
        <p:spPr>
          <a:xfrm>
            <a:off x="4724400" y="2501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 b="1" dirty="0">
                <a:solidFill>
                  <a:srgbClr val="1C2733"/>
                </a:solidFill>
                <a:latin typeface="微软雅黑" panose="020B0503020204020204" pitchFamily="34" charset="-122"/>
              </a:rPr>
              <a:t>02 · </a:t>
            </a:r>
            <a:r>
              <a:rPr lang="zh-CN" altLang="en-US" sz="1550" b="1" dirty="0">
                <a:solidFill>
                  <a:srgbClr val="1C2733"/>
                </a:solidFill>
                <a:latin typeface="微软雅黑" panose="020B0503020204020204" pitchFamily="34" charset="-122"/>
              </a:rPr>
              <a:t>触发 </a:t>
            </a:r>
            <a:r>
              <a:rPr lang="en-US" altLang="zh-CN" sz="1550" b="1" dirty="0">
                <a:solidFill>
                  <a:srgbClr val="1C2733"/>
                </a:solidFill>
                <a:latin typeface="微软雅黑" panose="020B0503020204020204" pitchFamily="34" charset="-122"/>
              </a:rPr>
              <a:t>SWE </a:t>
            </a:r>
            <a:r>
              <a:rPr lang="zh-CN" altLang="en-US" sz="1550" b="1" dirty="0">
                <a:solidFill>
                  <a:srgbClr val="1C2733"/>
                </a:solidFill>
                <a:latin typeface="微软雅黑" panose="020B0503020204020204" pitchFamily="34" charset="-122"/>
              </a:rPr>
              <a:t>子 </a:t>
            </a:r>
            <a:r>
              <a:rPr lang="en-US" altLang="zh-CN" sz="1550" b="1" dirty="0">
                <a:solidFill>
                  <a:srgbClr val="1C2733"/>
                </a:solidFill>
                <a:latin typeface="微软雅黑" panose="020B0503020204020204" pitchFamily="34" charset="-122"/>
              </a:rPr>
              <a:t>Agent</a:t>
            </a:r>
            <a:endParaRPr lang="zh-CN" altLang="en-US" sz="1550" b="1" dirty="0">
              <a:solidFill>
                <a:srgbClr val="1C27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0DD878F-1A9D-42A7-2426-469A2BA23A57}"/>
              </a:ext>
            </a:extLst>
          </p:cNvPr>
          <p:cNvSpPr txBox="1"/>
          <p:nvPr/>
        </p:nvSpPr>
        <p:spPr>
          <a:xfrm>
            <a:off x="4724400" y="28702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传入假设与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step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，由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MetaGPT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等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Agent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尝试修改代码。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2C54A85-4082-2D9F-C81D-9185A54BF701}"/>
              </a:ext>
            </a:extLst>
          </p:cNvPr>
          <p:cNvSpPr txBox="1"/>
          <p:nvPr/>
        </p:nvSpPr>
        <p:spPr>
          <a:xfrm>
            <a:off x="7759700" y="26797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200" b="1">
                <a:solidFill>
                  <a:srgbClr val="818B93"/>
                </a:solidFill>
                <a:latin typeface="微软雅黑" panose="020B0503020204020204" pitchFamily="34" charset="-122"/>
              </a:rPr>
              <a:t>→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6CD3606-7391-2DC8-1CE3-003E6808818A}"/>
              </a:ext>
            </a:extLst>
          </p:cNvPr>
          <p:cNvSpPr txBox="1"/>
          <p:nvPr/>
        </p:nvSpPr>
        <p:spPr>
          <a:xfrm>
            <a:off x="8636000" y="2501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 b="1">
                <a:solidFill>
                  <a:srgbClr val="1C2733"/>
                </a:solidFill>
                <a:latin typeface="微软雅黑" panose="020B0503020204020204" pitchFamily="34" charset="-122"/>
              </a:rPr>
              <a:t>03 · </a:t>
            </a:r>
            <a:r>
              <a:rPr lang="zh-CN" altLang="en-US" sz="1550" b="1">
                <a:solidFill>
                  <a:srgbClr val="1C2733"/>
                </a:solidFill>
                <a:latin typeface="微软雅黑" panose="020B0503020204020204" pitchFamily="34" charset="-122"/>
              </a:rPr>
              <a:t>同场景复跑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546118-F58B-48D3-74C7-90303C6F92C2}"/>
              </a:ext>
            </a:extLst>
          </p:cNvPr>
          <p:cNvSpPr txBox="1"/>
          <p:nvPr/>
        </p:nvSpPr>
        <p:spPr>
          <a:xfrm>
            <a:off x="8636000" y="28702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检查原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Phenomenon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是否消失，并确认修改已生效。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F9FA825-CA57-85AA-DEF4-FB6C142D84D3}"/>
              </a:ext>
            </a:extLst>
          </p:cNvPr>
          <p:cNvSpPr txBox="1"/>
          <p:nvPr/>
        </p:nvSpPr>
        <p:spPr>
          <a:xfrm>
            <a:off x="609600" y="378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168880"/>
                </a:solidFill>
                <a:latin typeface="微软雅黑" panose="020B0503020204020204" pitchFamily="34" charset="-122"/>
              </a:rPr>
              <a:t>judge_hypothesis </a:t>
            </a:r>
            <a:r>
              <a:rPr lang="zh-CN" altLang="en-US" sz="1650" b="1">
                <a:solidFill>
                  <a:srgbClr val="168880"/>
                </a:solidFill>
                <a:latin typeface="微软雅黑" panose="020B0503020204020204" pitchFamily="34" charset="-122"/>
              </a:rPr>
              <a:t>的回放判定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811CFC-147C-A700-8550-8628870AD5F1}"/>
              </a:ext>
            </a:extLst>
          </p:cNvPr>
          <p:cNvSpPr/>
          <p:nvPr/>
        </p:nvSpPr>
        <p:spPr>
          <a:xfrm>
            <a:off x="4229100" y="4140200"/>
            <a:ext cx="12700" cy="609600"/>
          </a:xfrm>
          <a:prstGeom prst="rect">
            <a:avLst/>
          </a:prstGeom>
          <a:solidFill>
            <a:srgbClr val="DAE0E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D70EE9-C573-82FE-FE35-5D2FE83E1B3B}"/>
              </a:ext>
            </a:extLst>
          </p:cNvPr>
          <p:cNvSpPr/>
          <p:nvPr/>
        </p:nvSpPr>
        <p:spPr>
          <a:xfrm>
            <a:off x="7975600" y="4140200"/>
            <a:ext cx="12700" cy="609600"/>
          </a:xfrm>
          <a:prstGeom prst="rect">
            <a:avLst/>
          </a:prstGeom>
          <a:solidFill>
            <a:srgbClr val="DAE0E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F3A6B42-B81F-D515-9755-3FFC041848F4}"/>
              </a:ext>
            </a:extLst>
          </p:cNvPr>
          <p:cNvSpPr txBox="1"/>
          <p:nvPr/>
        </p:nvSpPr>
        <p:spPr>
          <a:xfrm>
            <a:off x="609600" y="41529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 b="1">
                <a:solidFill>
                  <a:srgbClr val="168880"/>
                </a:solidFill>
                <a:latin typeface="微软雅黑" panose="020B0503020204020204" pitchFamily="34" charset="-122"/>
              </a:rPr>
              <a:t>Phenomenon </a:t>
            </a:r>
            <a:r>
              <a:rPr lang="zh-CN" altLang="en-US" sz="1550" b="1">
                <a:solidFill>
                  <a:srgbClr val="168880"/>
                </a:solidFill>
                <a:latin typeface="微软雅黑" panose="020B0503020204020204" pitchFamily="34" charset="-122"/>
              </a:rPr>
              <a:t>消失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E5EE771-2EBF-AE21-4799-635D731F9CB3}"/>
              </a:ext>
            </a:extLst>
          </p:cNvPr>
          <p:cNvSpPr txBox="1"/>
          <p:nvPr/>
        </p:nvSpPr>
        <p:spPr>
          <a:xfrm>
            <a:off x="609600" y="44831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Support ·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假设得到支持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CC1A48-4C65-36D0-1323-E06EE151021A}"/>
              </a:ext>
            </a:extLst>
          </p:cNvPr>
          <p:cNvSpPr txBox="1"/>
          <p:nvPr/>
        </p:nvSpPr>
        <p:spPr>
          <a:xfrm>
            <a:off x="4470400" y="41529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50" b="1">
                <a:solidFill>
                  <a:srgbClr val="E4572E"/>
                </a:solidFill>
                <a:latin typeface="微软雅黑" panose="020B0503020204020204" pitchFamily="34" charset="-122"/>
              </a:rPr>
              <a:t>Phenomenon </a:t>
            </a:r>
            <a:r>
              <a:rPr lang="zh-CN" altLang="en-US" sz="1550" b="1">
                <a:solidFill>
                  <a:srgbClr val="E4572E"/>
                </a:solidFill>
                <a:latin typeface="微软雅黑" panose="020B0503020204020204" pitchFamily="34" charset="-122"/>
              </a:rPr>
              <a:t>仍在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DDD5F7E-EA6E-1ECC-4C91-77C9D9722CEC}"/>
              </a:ext>
            </a:extLst>
          </p:cNvPr>
          <p:cNvSpPr txBox="1"/>
          <p:nvPr/>
        </p:nvSpPr>
        <p:spPr>
          <a:xfrm>
            <a:off x="4470400" y="44831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5E6A73"/>
                </a:solidFill>
                <a:latin typeface="微软雅黑" panose="020B0503020204020204" pitchFamily="34" charset="-122"/>
              </a:rPr>
              <a:t>Contradict</a:t>
            </a:r>
            <a:r>
              <a:rPr lang="zh-CN" altLang="en-US" sz="1300">
                <a:solidFill>
                  <a:srgbClr val="5E6A73"/>
                </a:solidFill>
                <a:latin typeface="微软雅黑" panose="020B0503020204020204" pitchFamily="34" charset="-122"/>
              </a:rPr>
              <a:t>，或 </a:t>
            </a:r>
            <a:r>
              <a:rPr lang="en-US" altLang="zh-CN" sz="1300">
                <a:solidFill>
                  <a:srgbClr val="5E6A73"/>
                </a:solidFill>
                <a:latin typeface="微软雅黑" panose="020B0503020204020204" pitchFamily="34" charset="-122"/>
              </a:rPr>
              <a:t>SWE </a:t>
            </a:r>
            <a:r>
              <a:rPr lang="zh-CN" altLang="en-US" sz="1300">
                <a:solidFill>
                  <a:srgbClr val="5E6A73"/>
                </a:solidFill>
                <a:latin typeface="微软雅黑" panose="020B0503020204020204" pitchFamily="34" charset="-122"/>
              </a:rPr>
              <a:t>修改有偏差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82F1FD1-C0E9-5A61-03F9-4DDA948F26CF}"/>
              </a:ext>
            </a:extLst>
          </p:cNvPr>
          <p:cNvSpPr txBox="1"/>
          <p:nvPr/>
        </p:nvSpPr>
        <p:spPr>
          <a:xfrm>
            <a:off x="8229600" y="41529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50" b="1">
                <a:solidFill>
                  <a:srgbClr val="818B93"/>
                </a:solidFill>
                <a:latin typeface="微软雅黑" panose="020B0503020204020204" pitchFamily="34" charset="-122"/>
              </a:rPr>
              <a:t>修改或重跑失败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10B2605-641C-05EA-6FB2-35CC074DB65B}"/>
              </a:ext>
            </a:extLst>
          </p:cNvPr>
          <p:cNvSpPr txBox="1"/>
          <p:nvPr/>
        </p:nvSpPr>
        <p:spPr>
          <a:xfrm>
            <a:off x="8229600" y="44831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无法判定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需要检查执行结果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453876A-552A-73A9-87AD-9CB77A1E8755}"/>
              </a:ext>
            </a:extLst>
          </p:cNvPr>
          <p:cNvSpPr txBox="1"/>
          <p:nvPr/>
        </p:nvSpPr>
        <p:spPr>
          <a:xfrm>
            <a:off x="609600" y="4927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1C2733"/>
                </a:solidFill>
                <a:latin typeface="微软雅黑" panose="020B0503020204020204" pitchFamily="34" charset="-122"/>
              </a:rPr>
              <a:t>为何暂未纳入当前流程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8004AC-8793-4A65-1735-0164D815D145}"/>
              </a:ext>
            </a:extLst>
          </p:cNvPr>
          <p:cNvSpPr txBox="1"/>
          <p:nvPr/>
        </p:nvSpPr>
        <p:spPr>
          <a:xfrm>
            <a:off x="609600" y="53467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E4572E"/>
                </a:solidFill>
                <a:latin typeface="微软雅黑" panose="020B0503020204020204" pitchFamily="34" charset="-122"/>
              </a:rPr>
              <a:t>先验证修复能力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1B25B87-CB1F-87D2-1322-55096831C9EF}"/>
              </a:ext>
            </a:extLst>
          </p:cNvPr>
          <p:cNvSpPr txBox="1"/>
          <p:nvPr/>
        </p:nvSpPr>
        <p:spPr>
          <a:xfrm>
            <a:off x="609600" y="56515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确认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SWE Agent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能否在此场景中有效修正。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C698AF3-DB3E-D17C-9D36-D565EF460295}"/>
              </a:ext>
            </a:extLst>
          </p:cNvPr>
          <p:cNvSpPr txBox="1"/>
          <p:nvPr/>
        </p:nvSpPr>
        <p:spPr>
          <a:xfrm>
            <a:off x="4470400" y="53467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E4572E"/>
                </a:solidFill>
                <a:latin typeface="微软雅黑" panose="020B0503020204020204" pitchFamily="34" charset="-122"/>
              </a:rPr>
              <a:t>接入 </a:t>
            </a:r>
            <a:r>
              <a:rPr lang="en-US" altLang="zh-CN" sz="1500" b="1">
                <a:solidFill>
                  <a:srgbClr val="E4572E"/>
                </a:solidFill>
                <a:latin typeface="微软雅黑" panose="020B0503020204020204" pitchFamily="34" charset="-122"/>
              </a:rPr>
              <a:t>Workspace </a:t>
            </a:r>
            <a:r>
              <a:rPr lang="zh-CN" altLang="en-US" sz="1500" b="1">
                <a:solidFill>
                  <a:srgbClr val="E4572E"/>
                </a:solidFill>
                <a:latin typeface="微软雅黑" panose="020B0503020204020204" pitchFamily="34" charset="-122"/>
              </a:rPr>
              <a:t>接口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3A3E76F-6C2B-4B9D-C243-F1DC01CCE8E8}"/>
              </a:ext>
            </a:extLst>
          </p:cNvPr>
          <p:cNvSpPr txBox="1"/>
          <p:nvPr/>
        </p:nvSpPr>
        <p:spPr>
          <a:xfrm>
            <a:off x="4470400" y="56515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需要新的 </a:t>
            </a:r>
            <a:r>
              <a:rPr lang="en-US" altLang="zh-CN" sz="1350">
                <a:solidFill>
                  <a:srgbClr val="5E6A73"/>
                </a:solidFill>
                <a:latin typeface="微软雅黑" panose="020B0503020204020204" pitchFamily="34" charset="-122"/>
              </a:rPr>
              <a:t>Workspace </a:t>
            </a:r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读写接口。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30E2D77-4340-2107-A801-3DE1EF6FB868}"/>
              </a:ext>
            </a:extLst>
          </p:cNvPr>
          <p:cNvSpPr txBox="1"/>
          <p:nvPr/>
        </p:nvSpPr>
        <p:spPr>
          <a:xfrm>
            <a:off x="8229600" y="53467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E4572E"/>
                </a:solidFill>
                <a:latin typeface="微软雅黑" panose="020B0503020204020204" pitchFamily="34" charset="-122"/>
              </a:rPr>
              <a:t>评估流程时延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388C7BF-A4B5-0622-8834-702F8D09D1FD}"/>
              </a:ext>
            </a:extLst>
          </p:cNvPr>
          <p:cNvSpPr txBox="1"/>
          <p:nvPr/>
        </p:nvSpPr>
        <p:spPr>
          <a:xfrm>
            <a:off x="8229600" y="56515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50">
                <a:solidFill>
                  <a:srgbClr val="5E6A73"/>
                </a:solidFill>
                <a:latin typeface="微软雅黑" panose="020B0503020204020204" pitchFamily="34" charset="-122"/>
              </a:rPr>
              <a:t>修改代码并复跑会拉长归因耗时。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2D1EE5A-0183-4895-6306-5F8CC4CB1C4C}"/>
              </a:ext>
            </a:extLst>
          </p:cNvPr>
          <p:cNvSpPr/>
          <p:nvPr/>
        </p:nvSpPr>
        <p:spPr>
          <a:xfrm>
            <a:off x="609600" y="6210300"/>
            <a:ext cx="10972800" cy="431800"/>
          </a:xfrm>
          <a:prstGeom prst="rect">
            <a:avLst/>
          </a:prstGeom>
          <a:solidFill>
            <a:srgbClr val="1C273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8252B6D-046B-4DFF-D6BB-D4FD7AB83BB9}"/>
              </a:ext>
            </a:extLst>
          </p:cNvPr>
          <p:cNvSpPr txBox="1"/>
          <p:nvPr/>
        </p:nvSpPr>
        <p:spPr>
          <a:xfrm>
            <a:off x="812800" y="6299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 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judge_hypothesis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依据现有证据判断；本版不触发代码修改与回放。</a:t>
            </a:r>
          </a:p>
        </p:txBody>
      </p:sp>
    </p:spTree>
    <p:extLst>
      <p:ext uri="{BB962C8B-B14F-4D97-AF65-F5344CB8AC3E}">
        <p14:creationId xmlns:p14="http://schemas.microsoft.com/office/powerpoint/2010/main" val="765493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5661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1B7F79"/>
                </a:solidFill>
                <a:latin typeface="Arial" panose="020B0604020202020204"/>
              </a:rPr>
              <a:t>IMPROVEMENT 01 ·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80" y="438912"/>
            <a:ext cx="8549640" cy="9144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356616"/>
            <a:ext cx="1005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>
                <a:solidFill>
                  <a:srgbClr val="5E6A73"/>
                </a:solidFill>
                <a:latin typeface="Arial" panose="020B0604020202020204"/>
              </a:rPr>
              <a:t>17 / 25</a:t>
            </a:r>
            <a:endParaRPr sz="1200" b="0" i="0">
              <a:solidFill>
                <a:srgbClr val="5E6A7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C2733"/>
                </a:solidFill>
                <a:latin typeface="微软雅黑" panose="020B0503020204020204" charset="-122"/>
              </a:rPr>
              <a:t>上下文管理与压缩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25880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A73"/>
                </a:solidFill>
                <a:latin typeface="微软雅黑" panose="020B0503020204020204" charset="-122"/>
              </a:rPr>
              <a:t>一次假设完成 judge 后，释放长证据；保留摘要与判断，让下一轮从干净上下文开始。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48840"/>
            <a:ext cx="2578608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Arial" panose="020B0604020202020204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88336"/>
            <a:ext cx="2057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2830"/>
                </a:solidFill>
                <a:latin typeface="微软雅黑" panose="020B0503020204020204" charset="-122"/>
              </a:rPr>
              <a:t>长证据会留在
message 数组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64992"/>
            <a:ext cx="20574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5E6A73"/>
                </a:solidFill>
                <a:latin typeface="微软雅黑" panose="020B0503020204020204" charset="-122"/>
              </a:rPr>
              <a:t>新的</a:t>
            </a:r>
            <a:r>
              <a:rPr sz="1300" b="0" i="0" dirty="0">
                <a:solidFill>
                  <a:srgbClr val="5E6A73"/>
                </a:solidFill>
                <a:latin typeface="微软雅黑" panose="020B0503020204020204" charset="-122"/>
              </a:rPr>
              <a:t> hypothesis </a:t>
            </a:r>
            <a:r>
              <a:rPr sz="1300" b="0" i="0" dirty="0" err="1">
                <a:solidFill>
                  <a:srgbClr val="5E6A73"/>
                </a:solidFill>
                <a:latin typeface="微软雅黑" panose="020B0503020204020204" charset="-122"/>
              </a:rPr>
              <a:t>可能被之前已经验证过的日志、代码和</a:t>
            </a:r>
            <a:r>
              <a:rPr sz="1300" b="0" i="0" dirty="0">
                <a:solidFill>
                  <a:srgbClr val="5E6A73"/>
                </a:solidFill>
                <a:latin typeface="微软雅黑" panose="020B0503020204020204" charset="-122"/>
              </a:rPr>
              <a:t> traces </a:t>
            </a:r>
            <a:r>
              <a:rPr sz="1300" b="0" i="0" dirty="0" err="1">
                <a:solidFill>
                  <a:srgbClr val="5E6A73"/>
                </a:solidFill>
                <a:latin typeface="微软雅黑" panose="020B0503020204020204" charset="-122"/>
              </a:rPr>
              <a:t>干扰</a:t>
            </a:r>
            <a:r>
              <a:rPr sz="1300" b="0" i="0" dirty="0">
                <a:solidFill>
                  <a:srgbClr val="5E6A73"/>
                </a:solidFill>
                <a:latin typeface="微软雅黑" panose="020B050302020402020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B7F79"/>
                </a:solidFill>
                <a:latin typeface="Arial" panose="020B0604020202020204"/>
              </a:rPr>
              <a:t>WHAT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8853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 err="1">
                <a:solidFill>
                  <a:srgbClr val="202830"/>
                </a:solidFill>
                <a:latin typeface="微软雅黑" panose="020B0503020204020204" charset="-122"/>
              </a:rPr>
              <a:t>压缩对象</a:t>
            </a:r>
            <a:endParaRPr sz="1300" b="1" i="0" dirty="0">
              <a:solidFill>
                <a:srgbClr val="20283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4507992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5E6A73"/>
                </a:solidFill>
                <a:latin typeface="微软雅黑" panose="020B0503020204020204" charset="-122"/>
              </a:rPr>
              <a:t>query_evidence</a:t>
            </a:r>
            <a:r>
              <a:rPr sz="1200" b="0" i="0" dirty="0">
                <a:solidFill>
                  <a:srgbClr val="5E6A73"/>
                </a:solidFill>
                <a:latin typeface="微软雅黑" panose="020B0503020204020204" charset="-122"/>
              </a:rPr>
              <a:t> </a:t>
            </a:r>
            <a:r>
              <a:rPr sz="1200" b="0" i="0" dirty="0" err="1">
                <a:solidFill>
                  <a:srgbClr val="5E6A73"/>
                </a:solidFill>
                <a:latin typeface="微软雅黑" panose="020B0503020204020204" charset="-122"/>
              </a:rPr>
              <a:t>返回的长日志、代码与</a:t>
            </a:r>
            <a:r>
              <a:rPr sz="1200" b="0" i="0" dirty="0">
                <a:solidFill>
                  <a:srgbClr val="5E6A73"/>
                </a:solidFill>
                <a:latin typeface="微软雅黑" panose="020B0503020204020204" charset="-122"/>
              </a:rPr>
              <a:t> 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65192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830"/>
                </a:solidFill>
                <a:latin typeface="微软雅黑" panose="020B0503020204020204" charset="-122"/>
              </a:rPr>
              <a:t>保留内容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25780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1B7F79"/>
                </a:solidFill>
                <a:latin typeface="微软雅黑" panose="020B0503020204020204" charset="-122"/>
              </a:rPr>
              <a:t>hypothesis + </a:t>
            </a:r>
            <a:r>
              <a:rPr sz="1200" b="1" i="0" dirty="0" err="1">
                <a:solidFill>
                  <a:srgbClr val="1B7F79"/>
                </a:solidFill>
                <a:latin typeface="微软雅黑" panose="020B0503020204020204" charset="-122"/>
              </a:rPr>
              <a:t>摘要</a:t>
            </a:r>
            <a:r>
              <a:rPr sz="1200" b="1" i="0" dirty="0">
                <a:solidFill>
                  <a:srgbClr val="1B7F79"/>
                </a:solidFill>
                <a:latin typeface="微软雅黑" panose="020B0503020204020204" charset="-122"/>
              </a:rPr>
              <a:t> + judge </a:t>
            </a:r>
            <a:r>
              <a:rPr sz="1200" b="1" i="0" dirty="0" err="1">
                <a:solidFill>
                  <a:srgbClr val="1B7F79"/>
                </a:solidFill>
                <a:latin typeface="微软雅黑" panose="020B0503020204020204" charset="-122"/>
              </a:rPr>
              <a:t>结果</a:t>
            </a:r>
            <a:endParaRPr sz="1200" b="1" i="0" dirty="0">
              <a:solidFill>
                <a:srgbClr val="1B7F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5815584"/>
            <a:ext cx="2176272" cy="384048"/>
          </a:xfrm>
          <a:prstGeom prst="roundRect">
            <a:avLst/>
          </a:prstGeom>
          <a:solidFill>
            <a:srgbClr val="1C2733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879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保留语义，不保留噪音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1307592"/>
            <a:ext cx="8156448" cy="5458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上下文管理与压缩示意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353312"/>
            <a:ext cx="8065008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EVIDENCE IN PRACTICE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571750" y="447675"/>
              <a:ext cx="8458200" cy="9525"/>
            </a:xfrm>
            <a:custGeom>
              <a:avLst/>
              <a:gdLst/>
              <a:ahLst/>
              <a:cxnLst/>
              <a:rect l="l" t="t" r="r" b="b"/>
              <a:pathLst>
                <a:path w="8458200" h="9525">
                  <a:moveTo>
                    <a:pt x="0" y="0"/>
                  </a:moveTo>
                  <a:lnTo>
                    <a:pt x="8458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6505575" cy="795337"/>
            <a:chOff x="593598" y="841058"/>
            <a:chExt cx="6505575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一次归因怎样落到证据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标准不是“写得更长”，而是能否定位更早、可修复、可复核的因果节点。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714500"/>
            <a:ext cx="10972800" cy="578453"/>
            <a:chOff x="609600" y="1714500"/>
            <a:chExt cx="10972800" cy="578453"/>
          </a:xfrm>
        </p:grpSpPr>
        <p:sp>
          <p:nvSpPr>
            <p:cNvPr id="9" name="Rectangle 9"/>
            <p:cNvSpPr/>
            <p:nvPr/>
          </p:nvSpPr>
          <p:spPr>
            <a:xfrm>
              <a:off x="609600" y="1714500"/>
              <a:ext cx="7239000" cy="5715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8392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主路由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73" y="2043589"/>
              <a:ext cx="5458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phenomenon → execution_process → step → code → judge → conclude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39100" y="1714500"/>
              <a:ext cx="3543300" cy="571500"/>
            </a:xfrm>
            <a:prstGeom prst="roundRect">
              <a:avLst>
                <a:gd name="adj" fmla="val 666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3316" y="1839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补充路由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2173" y="2043589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grep → 候选文件 → code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457450"/>
            <a:ext cx="10972800" cy="1619250"/>
            <a:chOff x="609600" y="2457450"/>
            <a:chExt cx="109728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609600" y="2457450"/>
              <a:ext cx="109728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2457450"/>
              <a:ext cx="14668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5335" y="2545556"/>
              <a:ext cx="99386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旧</a:t>
              </a:r>
              <a:r>
                <a:rPr lang="zh-CN" altLang="en-US" sz="1120" b="1" dirty="0">
                  <a:solidFill>
                    <a:srgbClr val="FFFFFF"/>
                  </a:solidFill>
                </a:rPr>
                <a:t>基线</a:t>
              </a: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· 现象层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59830" y="254555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页面异常 / 宽泛原因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b="72877"/>
            <a:stretch>
              <a:fillRect/>
            </a:stretch>
          </p:blipFill>
          <p:spPr>
            <a:xfrm>
              <a:off x="685800" y="2819400"/>
              <a:ext cx="10820400" cy="118110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609600" y="4210050"/>
            <a:ext cx="10972800" cy="1657350"/>
            <a:chOff x="609600" y="4210050"/>
            <a:chExt cx="10972800" cy="1657350"/>
          </a:xfrm>
        </p:grpSpPr>
        <p:sp>
          <p:nvSpPr>
            <p:cNvPr id="22" name="Rectangle 22"/>
            <p:cNvSpPr/>
            <p:nvPr/>
          </p:nvSpPr>
          <p:spPr>
            <a:xfrm>
              <a:off x="609600" y="4210050"/>
              <a:ext cx="10972800" cy="1657350"/>
            </a:xfrm>
            <a:prstGeom prst="roundRect">
              <a:avLst>
                <a:gd name="adj" fmla="val 229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210050"/>
              <a:ext cx="177165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298156"/>
              <a:ext cx="1338508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b="1" dirty="0">
                  <a:solidFill>
                    <a:srgbClr val="FFFFFF"/>
                  </a:solidFill>
                </a:rPr>
                <a:t>假设归因</a:t>
              </a: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可行动根因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6364" y="4298156"/>
              <a:ext cx="2853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root_cause_step + process_evidence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rcRect t="75491"/>
            <a:stretch>
              <a:fillRect/>
            </a:stretch>
          </p:blipFill>
          <p:spPr>
            <a:xfrm>
              <a:off x="685800" y="4572000"/>
              <a:ext cx="10820400" cy="12192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01980" y="6067425"/>
            <a:ext cx="6208994" cy="293370"/>
            <a:chOff x="601980" y="6067425"/>
            <a:chExt cx="6208994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601980" y="6067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案例结论：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6880" y="6067425"/>
              <a:ext cx="510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偏差发生在 Step 1：把研究报告理解成 Web 展示任务。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AB86D0-6EEC-8BB1-D1AD-FD93FA5508FF}"/>
              </a:ext>
            </a:extLst>
          </p:cNvPr>
          <p:cNvSpPr txBox="1"/>
          <p:nvPr/>
        </p:nvSpPr>
        <p:spPr>
          <a:xfrm>
            <a:off x="603250" y="36576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4847D"/>
                </a:solidFill>
                <a:latin typeface="Arial" panose="020B0604020202020204" pitchFamily="34" charset="0"/>
              </a:rPr>
              <a:t>OPTIMIZED ATTRIBUTION · CASE</a:t>
            </a:r>
            <a:endParaRPr lang="zh-CN" altLang="en-US" sz="1200" b="1">
              <a:solidFill>
                <a:srgbClr val="14847D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963063A-BBFF-303F-32B8-1EF484EDC240}"/>
              </a:ext>
            </a:extLst>
          </p:cNvPr>
          <p:cNvCxnSpPr/>
          <p:nvPr/>
        </p:nvCxnSpPr>
        <p:spPr>
          <a:xfrm>
            <a:off x="3098800" y="482600"/>
            <a:ext cx="7797800" cy="0"/>
          </a:xfrm>
          <a:prstGeom prst="line">
            <a:avLst/>
          </a:prstGeom>
          <a:ln w="8890">
            <a:solidFill>
              <a:srgbClr val="D5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2F2B88E-277F-06A2-EEB5-01E89A15A98A}"/>
              </a:ext>
            </a:extLst>
          </p:cNvPr>
          <p:cNvSpPr txBox="1"/>
          <p:nvPr/>
        </p:nvSpPr>
        <p:spPr>
          <a:xfrm>
            <a:off x="10896600" y="365760"/>
            <a:ext cx="6921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>
                <a:solidFill>
                  <a:srgbClr val="5E6A73"/>
                </a:solidFill>
                <a:latin typeface="Arial" panose="020B0604020202020204" pitchFamily="34" charset="0"/>
              </a:rPr>
              <a:t>19 / 25</a:t>
            </a:r>
            <a:endParaRPr lang="zh-CN" altLang="en-US" sz="1200">
              <a:solidFill>
                <a:srgbClr val="5E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7B2261-ABA6-07ED-482D-0E11A01CFDBD}"/>
              </a:ext>
            </a:extLst>
          </p:cNvPr>
          <p:cNvSpPr txBox="1"/>
          <p:nvPr/>
        </p:nvSpPr>
        <p:spPr>
          <a:xfrm>
            <a:off x="9652000" y="1003300"/>
            <a:ext cx="1981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C2733"/>
                </a:solidFill>
                <a:latin typeface="Georgia" panose="02040502050405020303" pitchFamily="18" charset="0"/>
              </a:rPr>
              <a:t>主方法图：</a:t>
            </a:r>
          </a:p>
          <a:p>
            <a:r>
              <a:rPr lang="zh-CN" altLang="en-US" sz="1600" b="1">
                <a:solidFill>
                  <a:srgbClr val="1C2733"/>
                </a:solidFill>
                <a:latin typeface="Georgia" panose="02040502050405020303" pitchFamily="18" charset="0"/>
              </a:rPr>
              <a:t>购物车案例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B7F5C0-34F3-FCBA-EB76-3CC4A4DB2FB5}"/>
              </a:ext>
            </a:extLst>
          </p:cNvPr>
          <p:cNvSpPr txBox="1"/>
          <p:nvPr/>
        </p:nvSpPr>
        <p:spPr>
          <a:xfrm>
            <a:off x="9652000" y="1651000"/>
            <a:ext cx="1981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5E6A73"/>
                </a:solidFill>
                <a:latin typeface="Arial" panose="020B0604020202020204" pitchFamily="34" charset="0"/>
              </a:rPr>
              <a:t>H1 </a:t>
            </a:r>
            <a:r>
              <a:rPr lang="zh-CN" altLang="en-US" sz="1250">
                <a:solidFill>
                  <a:srgbClr val="5E6A73"/>
                </a:solidFill>
                <a:latin typeface="Arial" panose="020B0604020202020204" pitchFamily="34" charset="0"/>
              </a:rPr>
              <a:t>被反驳后，继续跨文件验证 </a:t>
            </a:r>
            <a:r>
              <a:rPr lang="en-US" altLang="zh-CN" sz="1250">
                <a:solidFill>
                  <a:srgbClr val="5E6A73"/>
                </a:solidFill>
                <a:latin typeface="Arial" panose="020B0604020202020204" pitchFamily="34" charset="0"/>
              </a:rPr>
              <a:t>H2</a:t>
            </a:r>
            <a:r>
              <a:rPr lang="zh-CN" altLang="en-US" sz="1250">
                <a:solidFill>
                  <a:srgbClr val="5E6A73"/>
                </a:solidFill>
                <a:latin typeface="Arial" panose="020B0604020202020204" pitchFamily="34" charset="0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5A84C4-E0D2-DA3C-6939-B1849D7FD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36600"/>
            <a:ext cx="8763000" cy="5842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22A3ACC-1144-0B9C-F4B8-4274B73818AF}"/>
              </a:ext>
            </a:extLst>
          </p:cNvPr>
          <p:cNvSpPr txBox="1"/>
          <p:nvPr/>
        </p:nvSpPr>
        <p:spPr>
          <a:xfrm>
            <a:off x="9652000" y="2273300"/>
            <a:ext cx="198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847D"/>
                </a:solidFill>
                <a:latin typeface="Arial" panose="020B0604020202020204" pitchFamily="34" charset="0"/>
              </a:rPr>
              <a:t>推理过程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0B1CF5-F84F-6D76-4EBF-C6C56E3D6E03}"/>
              </a:ext>
            </a:extLst>
          </p:cNvPr>
          <p:cNvSpPr txBox="1"/>
          <p:nvPr/>
        </p:nvSpPr>
        <p:spPr>
          <a:xfrm>
            <a:off x="9652000" y="2603500"/>
            <a:ext cx="19812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H1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onClick 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已存在，排除点击事件缺失。</a:t>
            </a:r>
          </a:p>
          <a:p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H2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：再查 </a:t>
            </a:r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Shop.tsx 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与 </a:t>
            </a:r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CartDrawer.tsx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，确认状态未更新。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33C178-26B8-D50A-7E15-CBFE372A09B4}"/>
              </a:ext>
            </a:extLst>
          </p:cNvPr>
          <p:cNvSpPr txBox="1"/>
          <p:nvPr/>
        </p:nvSpPr>
        <p:spPr>
          <a:xfrm>
            <a:off x="9652000" y="3937000"/>
            <a:ext cx="198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4847D"/>
                </a:solidFill>
                <a:latin typeface="Arial" panose="020B0604020202020204" pitchFamily="34" charset="0"/>
              </a:rPr>
              <a:t>最终结论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9EFE19-7BEE-4468-5EAB-AD55CC80B2A4}"/>
              </a:ext>
            </a:extLst>
          </p:cNvPr>
          <p:cNvSpPr txBox="1"/>
          <p:nvPr/>
        </p:nvSpPr>
        <p:spPr>
          <a:xfrm>
            <a:off x="9652000" y="4279900"/>
            <a:ext cx="19812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addToCart 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只执行 </a:t>
            </a:r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setCart(cart)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，未将商品追加到购物车，因此数量仍为 </a:t>
            </a:r>
            <a:r>
              <a:rPr lang="en-US" altLang="zh-CN" sz="1200">
                <a:solidFill>
                  <a:srgbClr val="1C2733"/>
                </a:solidFill>
                <a:latin typeface="Arial" panose="020B0604020202020204" pitchFamily="34" charset="0"/>
              </a:rPr>
              <a:t>0</a:t>
            </a:r>
            <a:r>
              <a:rPr lang="zh-CN" altLang="en-US" sz="1200">
                <a:solidFill>
                  <a:srgbClr val="1C2733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0F137E-7DDC-55CB-D2A7-71D217BA2FD4}"/>
              </a:ext>
            </a:extLst>
          </p:cNvPr>
          <p:cNvSpPr/>
          <p:nvPr/>
        </p:nvSpPr>
        <p:spPr>
          <a:xfrm>
            <a:off x="9652000" y="5524500"/>
            <a:ext cx="1981200" cy="914400"/>
          </a:xfrm>
          <a:prstGeom prst="rect">
            <a:avLst/>
          </a:prstGeom>
          <a:solidFill>
            <a:srgbClr val="E8F4F2"/>
          </a:solidFill>
          <a:ln w="8890">
            <a:solidFill>
              <a:srgbClr val="148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3A0581-A52A-1975-08DD-350D2D28E2A3}"/>
              </a:ext>
            </a:extLst>
          </p:cNvPr>
          <p:cNvSpPr txBox="1"/>
          <p:nvPr/>
        </p:nvSpPr>
        <p:spPr>
          <a:xfrm>
            <a:off x="9804400" y="5651500"/>
            <a:ext cx="167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14847D"/>
                </a:solidFill>
                <a:latin typeface="Arial" panose="020B0604020202020204" pitchFamily="34" charset="0"/>
              </a:rPr>
              <a:t>假设、取证与结论都可复核。</a:t>
            </a:r>
          </a:p>
        </p:txBody>
      </p:sp>
    </p:spTree>
    <p:extLst>
      <p:ext uri="{BB962C8B-B14F-4D97-AF65-F5344CB8AC3E}">
        <p14:creationId xmlns:p14="http://schemas.microsoft.com/office/powerpoint/2010/main" val="331092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37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SECOND CASE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724150" y="447675"/>
              <a:ext cx="8305800" cy="9525"/>
            </a:xfrm>
            <a:custGeom>
              <a:avLst/>
              <a:gdLst/>
              <a:ahLst/>
              <a:cxnLst/>
              <a:rect l="l" t="t" r="r" b="b"/>
              <a:pathLst>
                <a:path w="8305800" h="9525">
                  <a:moveTo>
                    <a:pt x="0" y="0"/>
                  </a:moveTo>
                  <a:lnTo>
                    <a:pt x="8305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6752844" cy="795337"/>
            <a:chOff x="593598" y="841058"/>
            <a:chExt cx="6752844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附录：从静态现象定位到需求误解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496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第二个 GUI case 再次把结论落到需求处理与组件实现步骤。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752600"/>
            <a:ext cx="8572500" cy="4210050"/>
            <a:chOff x="609600" y="1752600"/>
            <a:chExt cx="8572500" cy="4210050"/>
          </a:xfrm>
        </p:grpSpPr>
        <p:sp>
          <p:nvSpPr>
            <p:cNvPr id="9" name="Rectangle 9"/>
            <p:cNvSpPr/>
            <p:nvPr/>
          </p:nvSpPr>
          <p:spPr>
            <a:xfrm>
              <a:off x="609600" y="1752600"/>
              <a:ext cx="8572500" cy="4210050"/>
            </a:xfrm>
            <a:prstGeom prst="roundRect">
              <a:avLst>
                <a:gd name="adj" fmla="val 90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140" y="1809750"/>
              <a:ext cx="8407421" cy="40957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9424035" y="1859756"/>
            <a:ext cx="2158365" cy="4102894"/>
            <a:chOff x="9424035" y="1859756"/>
            <a:chExt cx="2158365" cy="4102894"/>
          </a:xfrm>
        </p:grpSpPr>
        <p:sp>
          <p:nvSpPr>
            <p:cNvPr id="12" name="TextBox 12"/>
            <p:cNvSpPr txBox="1"/>
            <p:nvPr/>
          </p:nvSpPr>
          <p:spPr>
            <a:xfrm>
              <a:off x="9424035" y="1859756"/>
              <a:ext cx="148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ATTRIBUTION DEPTH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63100" y="23241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Ellipse 14"/>
            <p:cNvSpPr/>
            <p:nvPr/>
          </p:nvSpPr>
          <p:spPr>
            <a:xfrm>
              <a:off x="9477375" y="2390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465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现象复述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3892" y="2540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页面空白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3892" y="27784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动画未实现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77375" y="34575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04654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需求误解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04273" y="3615214"/>
              <a:ext cx="1199642" cy="725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“飞舞并重组”</a:t>
              </a:r>
              <a:b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被简化为静态图</a:t>
              </a:r>
              <a:b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基础 3D hover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477375" y="47148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04654" y="4613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实现步骤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04654" y="4880610"/>
              <a:ext cx="1261872" cy="682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2 · 需求处理</a:t>
              </a:r>
            </a:p>
            <a:p>
              <a:pPr algn="l">
                <a:lnSpc>
                  <a:spcPts val="1725"/>
                </a:lnSpc>
                <a:spcBef>
                  <a:spcPts val="75"/>
                </a:spcBef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8 · 组件实现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ExplodingCake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429750" y="5619750"/>
              <a:ext cx="2152650" cy="34290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76054" y="5718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结论可回到步骤复核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5661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7F79"/>
                </a:solidFill>
                <a:latin typeface="Arial" panose="020B0604020202020204"/>
              </a:rPr>
              <a:t>IMPROVEMENT 02 · SELF-EVOLUTION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80" y="438912"/>
            <a:ext cx="8549640" cy="9144"/>
          </a:xfrm>
          <a:prstGeom prst="rect">
            <a:avLst/>
          </a:prstGeom>
          <a:solidFill>
            <a:srgbClr val="D9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356616"/>
            <a:ext cx="1005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i="0">
                <a:solidFill>
                  <a:srgbClr val="5E6A73"/>
                </a:solidFill>
                <a:latin typeface="Arial" panose="020B0604020202020204"/>
              </a:rPr>
              <a:t>22 / 25</a:t>
            </a:r>
            <a:endParaRPr sz="1200" b="0" i="0">
              <a:solidFill>
                <a:srgbClr val="5E6A7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C2733"/>
                </a:solidFill>
                <a:latin typeface="微软雅黑" panose="020B0503020204020204" charset="-122"/>
              </a:rPr>
              <a:t>Skill-Harness </a:t>
            </a:r>
            <a:r>
              <a:rPr sz="2700" b="1" i="0" dirty="0" err="1">
                <a:solidFill>
                  <a:srgbClr val="1C2733"/>
                </a:solidFill>
                <a:latin typeface="微软雅黑" panose="020B0503020204020204" charset="-122"/>
              </a:rPr>
              <a:t>分层自进化</a:t>
            </a:r>
            <a:endParaRPr sz="2700" b="1" i="0" dirty="0">
              <a:solidFill>
                <a:srgbClr val="1C273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1325880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A73"/>
                </a:solidFill>
                <a:latin typeface="微软雅黑" panose="020B0503020204020204" charset="-122"/>
              </a:rPr>
              <a:t>Skill 层吸收局部经验，Harness 层吸收未被 Skill 消化的失败经验，形成双层闭环。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148840"/>
            <a:ext cx="2615184" cy="39410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4048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Arial" panose="020B0604020202020204"/>
              </a:rPr>
              <a:t>DATA → 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06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830"/>
                </a:solidFill>
                <a:latin typeface="微软雅黑" panose="020B0503020204020204" charset="-122"/>
              </a:rPr>
              <a:t>从 Bad Case 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08960"/>
            <a:ext cx="2057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3"/>
                </a:solidFill>
                <a:latin typeface="微软雅黑" panose="020B0503020204020204" charset="-122"/>
              </a:rPr>
              <a:t>平台 Case + 离线跑测
验证集带 ground truth
收集到 50 个 case 后启动进化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5935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B7F79"/>
                </a:solidFill>
                <a:latin typeface="Arial" panose="020B0604020202020204"/>
              </a:rPr>
              <a:t>BATCH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86541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202830"/>
                </a:solidFill>
                <a:latin typeface="微软雅黑" panose="020B0503020204020204" charset="-122"/>
              </a:rPr>
              <a:t>轨迹反思</a:t>
            </a:r>
            <a:r>
              <a:rPr sz="1600" b="1" i="0" dirty="0">
                <a:solidFill>
                  <a:srgbClr val="202830"/>
                </a:solidFill>
                <a:latin typeface="微软雅黑" panose="020B0503020204020204" charset="-122"/>
              </a:rPr>
              <a:t> → Skill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26864"/>
            <a:ext cx="2057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5E6A73"/>
                </a:solidFill>
                <a:latin typeface="微软雅黑" panose="020B0503020204020204" charset="-122"/>
              </a:rPr>
              <a:t>Add / Revise / Delete
</a:t>
            </a:r>
            <a:r>
              <a:rPr sz="1300" b="0" i="0" dirty="0" err="1">
                <a:solidFill>
                  <a:srgbClr val="5E6A73"/>
                </a:solidFill>
                <a:latin typeface="微软雅黑" panose="020B0503020204020204" charset="-122"/>
              </a:rPr>
              <a:t>去重、合并、排序后过验证门控</a:t>
            </a:r>
            <a:endParaRPr sz="1300" b="0" i="0" dirty="0">
              <a:solidFill>
                <a:srgbClr val="5E6A73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" y="5327147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B7F79"/>
                </a:solidFill>
                <a:latin typeface="Arial" panose="020B0604020202020204"/>
              </a:rPr>
              <a:t>EPOCH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202830"/>
                </a:solidFill>
                <a:latin typeface="微软雅黑" panose="020B0503020204020204" charset="-122"/>
              </a:rPr>
              <a:t>淘汰经验</a:t>
            </a:r>
            <a:r>
              <a:rPr sz="1500" b="1" i="0" dirty="0">
                <a:solidFill>
                  <a:srgbClr val="202830"/>
                </a:solidFill>
                <a:latin typeface="微软雅黑" panose="020B0503020204020204" charset="-122"/>
              </a:rPr>
              <a:t> → Harness </a:t>
            </a:r>
            <a:r>
              <a:rPr sz="1500" b="1" i="0" dirty="0" err="1">
                <a:solidFill>
                  <a:srgbClr val="202830"/>
                </a:solidFill>
                <a:latin typeface="微软雅黑" panose="020B0503020204020204" charset="-122"/>
              </a:rPr>
              <a:t>演化</a:t>
            </a:r>
            <a:endParaRPr sz="1500" b="1" i="0" dirty="0">
              <a:solidFill>
                <a:srgbClr val="20283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01568" y="1444752"/>
            <a:ext cx="8174736" cy="4718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自进化归因Agent示意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490472"/>
            <a:ext cx="8083296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37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CONSTRAINTS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800350" y="447675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18817" y="365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/ 25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8993124" cy="795337"/>
            <a:chOff x="593598" y="841058"/>
            <a:chExt cx="8993124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8993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附录：确定性约束只给方向，不替模型下结论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577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每个检查读取可确定事实；任何 violated 都必须再进入假设与证据验证。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1790700"/>
            <a:ext cx="10972800" cy="3638550"/>
            <a:chOff x="609600" y="1790700"/>
            <a:chExt cx="10972800" cy="3638550"/>
          </a:xfrm>
        </p:grpSpPr>
        <p:sp>
          <p:nvSpPr>
            <p:cNvPr id="9" name="Rectangle 9"/>
            <p:cNvSpPr/>
            <p:nvPr/>
          </p:nvSpPr>
          <p:spPr>
            <a:xfrm>
              <a:off x="609600" y="1790700"/>
              <a:ext cx="10972800" cy="3638550"/>
            </a:xfrm>
            <a:prstGeom prst="roundRect">
              <a:avLst>
                <a:gd name="adj" fmla="val 10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7907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004" y="1937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32454" y="1937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37604" y="1937385"/>
              <a:ext cx="1209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violated 的含义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24616" y="1937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7185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Line 16"/>
            <p:cNvSpPr/>
            <p:nvPr/>
          </p:nvSpPr>
          <p:spPr>
            <a:xfrm>
              <a:off x="647700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Line 17"/>
            <p:cNvSpPr/>
            <p:nvPr/>
          </p:nvSpPr>
          <p:spPr>
            <a:xfrm>
              <a:off x="1009650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220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838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467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72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2838450"/>
              <a:ext cx="10972800" cy="628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095750"/>
              <a:ext cx="10972800" cy="628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4004" y="2461260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build_before_end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2454" y="2337435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结束前是否运行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lint / build？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7604" y="2461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可能缺少构建验证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3576" y="24693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4385" y="3098006"/>
              <a:ext cx="2061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validate_after_last_write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32454" y="2966085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最后改代码后是否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重新验证？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7604" y="3089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可能缺少回归验证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43576" y="309800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385" y="3602831"/>
              <a:ext cx="1960474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frontend_browser_smoke_</a:t>
              </a:r>
              <a:b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before_end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2454" y="3594735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前端结束前是否做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浏览器冒烟？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7604" y="3718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可能缺少运行时验证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43576" y="37266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385" y="4355306"/>
              <a:ext cx="1721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build_error_not_fixed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32454" y="4223385"/>
              <a:ext cx="116281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 失败后是否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修复并重跑？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7604" y="4347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可能带着构建失败交付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43576" y="435530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4385" y="4879181"/>
              <a:ext cx="1706575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tool_failure_strategy_</a:t>
              </a:r>
              <a:b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32454" y="4871085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连续三次失败后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是否切换解法？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7604" y="4871085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失败被略过，或没有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采用新方式解决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43576" y="49839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600700"/>
            <a:ext cx="10972800" cy="704850"/>
            <a:chOff x="609600" y="5600700"/>
            <a:chExt cx="10972800" cy="704850"/>
          </a:xfrm>
        </p:grpSpPr>
        <p:sp>
          <p:nvSpPr>
            <p:cNvPr id="46" name="Rectangle 46"/>
            <p:cNvSpPr/>
            <p:nvPr/>
          </p:nvSpPr>
          <p:spPr>
            <a:xfrm>
              <a:off x="609600" y="5600700"/>
              <a:ext cx="10972800" cy="70485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104" y="5737860"/>
              <a:ext cx="3482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三态：satisfied / violated / not_applicable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580" y="5991225"/>
              <a:ext cx="7465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规则命中进入 validation_summary；单个 violated 不能独立成为 root cause。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ttribution_agent_v5_interview">
  <a:themeElements>
    <a:clrScheme name="attribution_agent_v5_interview">
      <a:dk1>
        <a:srgbClr val="202830"/>
      </a:dk1>
      <a:lt1>
        <a:srgbClr val="F7F8FA"/>
      </a:lt1>
      <a:dk2>
        <a:srgbClr val="1F497D"/>
      </a:dk2>
      <a:lt2>
        <a:srgbClr val="FFFFFF"/>
      </a:lt2>
      <a:accent1>
        <a:srgbClr val="1C2733"/>
      </a:accent1>
      <a:accent2>
        <a:srgbClr val="E4572E"/>
      </a:accent2>
      <a:accent3>
        <a:srgbClr val="1B7F79"/>
      </a:accent3>
      <a:accent4>
        <a:srgbClr val="1C2733"/>
      </a:accent4>
      <a:accent5>
        <a:srgbClr val="5E6A73"/>
      </a:accent5>
      <a:accent6>
        <a:srgbClr val="D9DEE3"/>
      </a:accent6>
      <a:hlink>
        <a:srgbClr val="E4572E"/>
      </a:hlink>
      <a:folHlink>
        <a:srgbClr val="1B7F79"/>
      </a:folHlink>
    </a:clrScheme>
    <a:fontScheme name="attribution_agent_v5_interview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tribution_agent_v5_int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ttribution_agent_v5_interview">
  <a:themeElements>
    <a:clrScheme name="attribution_agent_v5_interview">
      <a:dk1>
        <a:srgbClr val="202830"/>
      </a:dk1>
      <a:lt1>
        <a:srgbClr val="F7F8FA"/>
      </a:lt1>
      <a:dk2>
        <a:srgbClr val="1F497D"/>
      </a:dk2>
      <a:lt2>
        <a:srgbClr val="FFFFFF"/>
      </a:lt2>
      <a:accent1>
        <a:srgbClr val="1C2733"/>
      </a:accent1>
      <a:accent2>
        <a:srgbClr val="E4572E"/>
      </a:accent2>
      <a:accent3>
        <a:srgbClr val="1B7F79"/>
      </a:accent3>
      <a:accent4>
        <a:srgbClr val="1C2733"/>
      </a:accent4>
      <a:accent5>
        <a:srgbClr val="5E6A73"/>
      </a:accent5>
      <a:accent6>
        <a:srgbClr val="D9DEE3"/>
      </a:accent6>
      <a:hlink>
        <a:srgbClr val="E4572E"/>
      </a:hlink>
      <a:folHlink>
        <a:srgbClr val="1B7F79"/>
      </a:folHlink>
    </a:clrScheme>
    <a:fontScheme name="attribution_agent_v5_interview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tribution_agent_v5_int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4132</Words>
  <Application>Microsoft Office PowerPoint</Application>
  <PresentationFormat>宽屏</PresentationFormat>
  <Paragraphs>443</Paragraphs>
  <Slides>23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宋体</vt:lpstr>
      <vt:lpstr>微软雅黑</vt:lpstr>
      <vt:lpstr>Arial</vt:lpstr>
      <vt:lpstr>Georgia</vt:lpstr>
      <vt:lpstr>attribution_agent_v5_interview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Nariyuki WL_</cp:lastModifiedBy>
  <cp:revision>22</cp:revision>
  <dcterms:created xsi:type="dcterms:W3CDTF">2026-09-02T12:34:00Z</dcterms:created>
  <dcterms:modified xsi:type="dcterms:W3CDTF">2026-10-02T13:04:01Z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44CD094057AC4F0C983C3A3711361CC7_12</vt:lpwstr>
  </property>
</Properties>
</file>