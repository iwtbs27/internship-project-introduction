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00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14B8A6">
              <a:alpha val="38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14B8A6">
              <a:alpha val="85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项目介绍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VeriSearch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6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面向搜索型智能体的显式检索决策与证据验证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1627632"/>
            <a:ext cx="566928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DCE6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核心主线是把“该不该搜”与“搜完怎么验”拆开设计，再用四动作协议、结构化 refine 和分阶段 RL 把它真正训练成一个可控 agent。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8096" y="2834640"/>
            <a:ext cx="1783080" cy="1078992"/>
          </a:xfrm>
          <a:prstGeom prst="roundRect">
            <a:avLst/>
          </a:prstGeom>
          <a:solidFill>
            <a:srgbClr val="17354D"/>
          </a:solidFill>
          <a:ln w="12700">
            <a:solidFill>
              <a:srgbClr val="2140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999232"/>
            <a:ext cx="73152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2999232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显式决策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364992"/>
            <a:ext cx="1362456" cy="4206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CE6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让模型在 think 后显式选择 search 或 skip，而不是默认去搜。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706624" y="2834640"/>
            <a:ext cx="1783080" cy="1078992"/>
          </a:xfrm>
          <a:prstGeom prst="roundRect">
            <a:avLst/>
          </a:prstGeom>
          <a:solidFill>
            <a:srgbClr val="17354D"/>
          </a:solidFill>
          <a:ln w="12700">
            <a:solidFill>
              <a:srgbClr val="2140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52928" y="2999232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2999232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强制验证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3364992"/>
            <a:ext cx="1362456" cy="4206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CE6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后必须 refine，避免未经验证的短路回答。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645152" y="2834640"/>
            <a:ext cx="1783080" cy="1078992"/>
          </a:xfrm>
          <a:prstGeom prst="roundRect">
            <a:avLst/>
          </a:prstGeom>
          <a:solidFill>
            <a:srgbClr val="17354D"/>
          </a:solidFill>
          <a:ln w="12700">
            <a:solidFill>
              <a:srgbClr val="2140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1456" y="2999232"/>
            <a:ext cx="73152" cy="7498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999232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分阶段训练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56048" y="3364992"/>
            <a:ext cx="1362456" cy="42062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DCE6F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先用 SFT 教格式，再用两段 RL 分别学决策和验证质量。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452360" y="1463040"/>
            <a:ext cx="3794760" cy="4297680"/>
          </a:xfrm>
          <a:prstGeom prst="round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9912" y="281635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Agent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549640" y="2331720"/>
            <a:ext cx="1645920" cy="16459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7DD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82128" y="1810512"/>
            <a:ext cx="10515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82128" y="1828800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829800" y="1810512"/>
            <a:ext cx="932688" cy="31089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1828800"/>
            <a:ext cx="93268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6680" y="4206240"/>
            <a:ext cx="1188720" cy="310896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4224528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74352" y="4206240"/>
            <a:ext cx="1207008" cy="310896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FDE8E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4352" y="4224528"/>
            <a:ext cx="120700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answer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21040" y="2084832"/>
            <a:ext cx="640080" cy="384048"/>
          </a:xfrm>
          <a:prstGeom prst="line">
            <a:avLst/>
          </a:prstGeom>
          <a:noFill/>
          <a:ln w="15240">
            <a:solidFill>
              <a:srgbClr val="D7DD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18320" y="2084832"/>
            <a:ext cx="475488" cy="384048"/>
          </a:xfrm>
          <a:prstGeom prst="line">
            <a:avLst/>
          </a:prstGeom>
          <a:noFill/>
          <a:ln w="15240">
            <a:solidFill>
              <a:srgbClr val="D7DD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47888" y="3749040"/>
            <a:ext cx="640080" cy="384048"/>
          </a:xfrm>
          <a:prstGeom prst="line">
            <a:avLst/>
          </a:prstGeom>
          <a:noFill/>
          <a:ln w="15240">
            <a:solidFill>
              <a:srgbClr val="D7DD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54896" y="3749040"/>
            <a:ext cx="530352" cy="384048"/>
          </a:xfrm>
          <a:prstGeom prst="line">
            <a:avLst/>
          </a:prstGeom>
          <a:noFill/>
          <a:ln w="15240">
            <a:solidFill>
              <a:srgbClr val="D7DD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610819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C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Interview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1：缺少显式检索决策机制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 RAG / Search agent 通常只暴露 search 和 answer 两种动作。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1783080"/>
            <a:ext cx="3931920" cy="2596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947672"/>
            <a:ext cx="73152" cy="22677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1947672"/>
            <a:ext cx="34930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为什么这是个问题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" y="2313432"/>
            <a:ext cx="3511296" cy="1938528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现有方法如 Search-R1、AutoRefine 只有 search 和 answer 两个显式动作。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模型无法明确表达“我已经知道答案，不需要搜索”。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结果是大量无效检索被当成正常行为，直接浪费 rollout 预算和算力。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60120" y="457200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4498848"/>
            <a:ext cx="349300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action space 不完整，模型只能“搜”或者“答”。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960120" y="495604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882896"/>
            <a:ext cx="349300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无法把“知道答案所以跳搜”编码成可训练行为。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60120" y="534009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5266944"/>
            <a:ext cx="349300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训练时会把很多无效 search 也强化进去。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4956048" y="1737360"/>
            <a:ext cx="632764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pic>
        <p:nvPicPr>
          <p:cNvPr id="22" name="Image 0" descr="E:\python_notebook\LLM26fall\简历优化\PPT-Agentic-RL\assets\verisearch\01-search-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237" y="1837944"/>
            <a:ext cx="3533271" cy="42976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956048" y="6291072"/>
            <a:ext cx="632764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 Search-R1 为例的 Search agent 通用轨迹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786384" y="5870448"/>
            <a:ext cx="4206240" cy="310896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FDE8E2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6384" y="588873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问题本质：模型没有显式 skip 行为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 2：检索后缺乏证据验证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之后直接拼文档，不足以支撑稳定回答，尤其是多跳问答。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1737360"/>
            <a:ext cx="4160520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901952"/>
            <a:ext cx="73152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01952"/>
            <a:ext cx="37216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现有链路的问题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3739896" cy="124358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检索到的文档被直接拼进上下文，模型不会显式判断证据是否充分、是否高质量，也不会把噪声信息和有效证据分开处理。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6112" y="39593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3886200"/>
            <a:ext cx="37673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 Evidence assessment：不知道搜到的东西够不够回答。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896112" y="43799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4306824"/>
            <a:ext cx="37673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 Key findings：常常只是把原文搬进上下文。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896112" y="4800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" y="4727448"/>
            <a:ext cx="3767328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噪声会干扰推理链路，在多跳 QA 中更明显。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5486400" y="1828800"/>
            <a:ext cx="1508760" cy="868680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32704" y="1993392"/>
            <a:ext cx="73152" cy="5394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1993392"/>
            <a:ext cx="10698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97296" y="2359152"/>
            <a:ext cx="1088136" cy="21031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拿到 3 篇文档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114032" y="2121408"/>
            <a:ext cx="384048" cy="25603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1828800"/>
            <a:ext cx="1783080" cy="868680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08976" y="1993392"/>
            <a:ext cx="73152" cy="5394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73568" y="1993392"/>
            <a:ext cx="13441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直接拼接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973568" y="2359152"/>
            <a:ext cx="1362456" cy="21031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未经验证地塞进上下文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9582912" y="2121408"/>
            <a:ext cx="384048" cy="25603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31552" y="1828800"/>
            <a:ext cx="1234440" cy="868680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77856" y="1993392"/>
            <a:ext cx="73152" cy="5394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42448" y="1993392"/>
            <a:ext cx="795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Answer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442448" y="2359152"/>
            <a:ext cx="813816" cy="21031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容易受噪声影响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5394960" y="3154680"/>
            <a:ext cx="5943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41264" y="3319272"/>
            <a:ext cx="73152" cy="20939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05856" y="3319272"/>
            <a:ext cx="55046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我的观察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05856" y="3685032"/>
            <a:ext cx="5522976" cy="176479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不是终点，而只是“拿到候选证据”的开始。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如果中间没有显式验证动作，agent 就会把“检索到”误当成“已经可答”。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这正是后面要引入 refine-as-verification 的原因。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方向判断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通过分析问题，先确定模型到底要学什么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主线很简单：先学搜索决策，再学搜索后的证据验证。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1755648"/>
            <a:ext cx="416052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920240"/>
            <a:ext cx="73152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20240"/>
            <a:ext cx="37216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什么时候应该搜索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3739896" cy="9509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让模型在 think 之后显式决定是 search 还是 skip。DeepRAG 给了我一个很重要的启发：好的轨迹 supervision 可以教会模型基础的搜索决策能力。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786384" y="3602736"/>
            <a:ext cx="4160520" cy="1609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767328"/>
            <a:ext cx="73152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67328"/>
            <a:ext cx="37216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搜索后必须验证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3739896" cy="9509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refine 从可选摘要变成必要中间动作。AutoRefine 说明 search 之后做证据提炼是有价值的，只是它仍然停留在 prompt 软约束层面。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960120" y="5623560"/>
            <a:ext cx="1298448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641848"/>
            <a:ext cx="129844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vs skip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95728" y="5623560"/>
            <a:ext cx="2176272" cy="310896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95728" y="5641848"/>
            <a:ext cx="217627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-&gt; refine -&gt; answer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30368" y="1783080"/>
            <a:ext cx="5833872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pic>
        <p:nvPicPr>
          <p:cNvPr id="24" name="Image 0" descr="E:\python_notebook\LLM26fall\简历优化\PPT-Agentic-RL\assets\verisearch\02-deepr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381409"/>
            <a:ext cx="5632704" cy="165627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230368" y="4690872"/>
            <a:ext cx="5833872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DeepRAG 轨迹示例，提供了“搜索决策 supervision”的启发</a:t>
            </a:r>
            <a:endParaRPr lang="en-US" sz="880" dirty="0"/>
          </a:p>
        </p:txBody>
      </p:sp>
      <p:sp>
        <p:nvSpPr>
          <p:cNvPr id="26" name="Shape 23"/>
          <p:cNvSpPr/>
          <p:nvPr/>
        </p:nvSpPr>
        <p:spPr>
          <a:xfrm>
            <a:off x="5394960" y="4882896"/>
            <a:ext cx="56509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541264" y="5047488"/>
            <a:ext cx="73152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05856" y="5047488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关键判断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05856" y="5413248"/>
            <a:ext cx="5230368" cy="3474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因此，我的目标不是继续堆更长的 search 轨迹，而是补齐 action space，并把 validation 变成协议级动作。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方法总览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根据方向，方法论落成两条线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一条线解决“该不该搜”，另一条线解决“搜到的证据能不能用”。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17830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" y="1947672"/>
            <a:ext cx="73152" cy="20482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947672"/>
            <a:ext cx="46817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方法线 A：什么时候搜索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313432"/>
            <a:ext cx="4700016" cy="1719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把轨迹模拟成可训练样本，让模型在 think 后明确输出 search 或 skip。SFT 负责把动作空间教明白，RL 再去优化“少搜但答对”的策略。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6236208" y="178308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947672"/>
            <a:ext cx="73152" cy="20482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947672"/>
            <a:ext cx="46817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方法线 B：搜索后的证据提炼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7104" y="2313432"/>
            <a:ext cx="4700016" cy="17190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refine 从自由摘要升级成结构化验证输出。这样既能显式评估 evidence sufficiency，也能把 refine 变成可以单独设计 reward 的训练目标。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960120" y="4773168"/>
            <a:ext cx="1024128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791456"/>
            <a:ext cx="10241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数据构造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48840" y="4791456"/>
            <a:ext cx="310896" cy="219456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8608" y="4773168"/>
            <a:ext cx="1234440" cy="310896"/>
          </a:xfrm>
          <a:prstGeom prst="roundRect">
            <a:avLst/>
          </a:prstGeom>
          <a:solidFill>
            <a:srgbClr val="DDEAF9"/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78608" y="4791456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四动作协议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68496" y="4791456"/>
            <a:ext cx="310896" cy="219456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4773168"/>
            <a:ext cx="1417320" cy="310896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479145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 refine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0176" y="4791456"/>
            <a:ext cx="310896" cy="219456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4773168"/>
            <a:ext cx="1591056" cy="310896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FDE8E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791456"/>
            <a:ext cx="15910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SFT + 两阶段 RL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56448" y="4791456"/>
            <a:ext cx="310896" cy="219456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95360" y="4773168"/>
            <a:ext cx="1133856" cy="310896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4791456"/>
            <a:ext cx="113385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REINFORCE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413248"/>
            <a:ext cx="1053388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264" y="5577840"/>
            <a:ext cx="73152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33856" y="5577840"/>
            <a:ext cx="100949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一句话概括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3856" y="5943600"/>
            <a:ext cx="10113264" cy="914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9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不是把搜索功能接到模型后面，而是把 agent 的决策、验证和训练目标同时重写成一个完整协议。</a:t>
            </a:r>
            <a:endParaRPr lang="en-US" sz="10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数据构造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五种轨迹类型，覆盖检索、跳搜和自我修正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这五类数据对应 agent 在真实交互中最关键的五种行为。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1737360"/>
            <a:ext cx="2606040" cy="1600200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901952"/>
            <a:ext cx="73152" cy="1271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01952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单轮检索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67712"/>
            <a:ext cx="2185416" cy="941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think -&gt; search -&gt; docs -&gt; refine -&gt; answer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覆盖近期事实或一跳外部知识。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4069080" y="1737360"/>
            <a:ext cx="26060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15384" y="1901952"/>
            <a:ext cx="73152" cy="12710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1901952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多轮检索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9976" y="2267712"/>
            <a:ext cx="2185416" cy="941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think -&gt; search -&gt; refine -&gt; think -&gt; search -&gt; refine -&gt; answer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覆盖多跳问题的分步证据整合。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351776" y="1737360"/>
            <a:ext cx="2606040" cy="1600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1901952"/>
            <a:ext cx="73152" cy="1271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1901952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直接跳过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2672" y="2267712"/>
            <a:ext cx="2185416" cy="941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think -&gt; skip -&gt; answer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覆盖模型本身就足够确定的基础知识。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2432304" y="3822192"/>
            <a:ext cx="2606040" cy="1600200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8608" y="3986784"/>
            <a:ext cx="73152" cy="1271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3986784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搜后跳过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352544"/>
            <a:ext cx="2185416" cy="941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search -&gt; refine(insufficient) -&gt; skip -&gt; answer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覆盖检索失败后转而依赖参数知识。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5715000" y="3822192"/>
            <a:ext cx="2606040" cy="1600200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61304" y="3986784"/>
            <a:ext cx="73152" cy="12710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3986784"/>
            <a:ext cx="21671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跳后补搜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25896" y="4352544"/>
            <a:ext cx="2185416" cy="9418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skip -&gt; reconsider -&gt; search -&gt; refine -&gt; answer</a:t>
            </a:r>
            <a:endParaRPr lang="en-US" sz="1010" dirty="0"/>
          </a:p>
          <a:p>
            <a:pPr marL="0" indent="0">
              <a:buNone/>
            </a:pP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覆盖模型先自信、后复核的反思行为。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1207008" y="5925312"/>
            <a:ext cx="9692640" cy="310896"/>
          </a:xfrm>
          <a:prstGeom prst="roundRect">
            <a:avLst/>
          </a:prstGeom>
          <a:solidFill>
            <a:srgbClr val="DDEAF9"/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5943600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核心作用：把 skip、反思、失败恢复这些关键行为也变成训练样本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数据构造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冷启动 SFT 数据的来源与筛选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这里不是单纯爬数据，而是围绕轨迹行为做定向生成、干预和拒绝采样。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1901952"/>
            <a:ext cx="248716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011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 1：真实环境采轨迹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243230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35915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GPT-4o + 预设 prompt 与搜索环境交互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96112" y="2761488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268833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先拿到真实可执行的 agent 轨迹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896112" y="3090672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0704" y="30175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重点看动作序列是否合理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329184" cy="25603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1901952"/>
            <a:ext cx="248716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50208" y="2011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 2：定向生成五类样本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950208" y="243230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35915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前三类按题目难度直接生成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950208" y="2761488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68833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搜后跳过：拦截 search，强制判 insufficient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950208" y="3090672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0175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跳后补搜：few-shot 先 skip 再反转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437376" y="2834640"/>
            <a:ext cx="329184" cy="25603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901952"/>
            <a:ext cx="2487168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04304" y="2011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 3：拒绝采样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004304" y="243230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235915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F1 不为 1 的轨迹直接丢弃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004304" y="2761488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68896" y="2688336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格式不完整直接丢弃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004304" y="3090672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8896" y="30175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低效轨迹也丢弃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9491472" y="2834640"/>
            <a:ext cx="329184" cy="256032"/>
          </a:xfrm>
          <a:prstGeom prst="chevron">
            <a:avLst/>
          </a:prstGeom>
          <a:solidFill>
            <a:srgbClr val="D7DDD8"/>
          </a:solidFill>
          <a:ln w="12700">
            <a:solidFill>
              <a:srgbClr val="D7DDD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12096" y="1901952"/>
            <a:ext cx="153619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0" y="201168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步骤 4：配比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058400" y="243230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22992" y="2359152"/>
            <a:ext cx="115214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少样本增强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10058400" y="2761488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22992" y="2688336"/>
            <a:ext cx="115214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过采样 / 下采样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10058400" y="3090672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22992" y="3017520"/>
            <a:ext cx="115214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最终取 1500 条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1051560" y="4864608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97864" y="5029200"/>
            <a:ext cx="73152" cy="5120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62456" y="5029200"/>
            <a:ext cx="9619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这里的设计目的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362456" y="5394960"/>
            <a:ext cx="9637776" cy="1828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SFT 冷启动不是追求更高分，而是先把四动作格式、典型 search / skip 行为和失败恢复机制教给 3B base model。</a:t>
            </a:r>
            <a:endParaRPr lang="en-US" sz="10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协议设计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四动作协议 + 两阶段状态机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 search、skip、refine、answer 明确成可约束的动作协议，而不是 prompt 建议。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1719072"/>
            <a:ext cx="3840480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883664"/>
            <a:ext cx="73152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883664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动作协议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49424"/>
            <a:ext cx="3419856" cy="4937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search -&gt; refine -&gt; answer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skip -&gt; answer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86384" y="3090672"/>
            <a:ext cx="384048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255264"/>
            <a:ext cx="73152" cy="11155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255264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关键约束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621024"/>
            <a:ext cx="3419856" cy="78638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 后必须 refine，不能直接 answer，也不能再次 search。</a:t>
            </a:r>
            <a:endParaRPr lang="en-US" sz="1110" dirty="0"/>
          </a:p>
          <a:p>
            <a:pPr marL="0" indent="0">
              <a:buNone/>
            </a:pP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这不是训练时的建议，而是写进环境和 RL rollout 的硬约束。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786384" y="4791456"/>
            <a:ext cx="38404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956048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56048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收益与风险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5321808"/>
            <a:ext cx="3419856" cy="32918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收益：能把 base model 在训练前期强行掰正。</a:t>
            </a:r>
            <a:endParaRPr lang="en-US" sz="1010" dirty="0"/>
          </a:p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风险：若格式锁不住，可能学到“先错一次再做对”。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5084064" y="1691640"/>
            <a:ext cx="566928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9552" y="1920240"/>
            <a:ext cx="1828800" cy="347472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193852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NORMAL_PHASE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1920240"/>
            <a:ext cx="2048256" cy="34747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1938528"/>
            <a:ext cx="2048256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NEED_REFINE_PHASE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8183880" y="4956048"/>
            <a:ext cx="932688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4974336"/>
            <a:ext cx="932688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2084832"/>
            <a:ext cx="713232" cy="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221284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search + 注入 &lt;documents&gt;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101584" y="2286000"/>
            <a:ext cx="1024128" cy="1508760"/>
          </a:xfrm>
          <a:prstGeom prst="line">
            <a:avLst/>
          </a:prstGeom>
          <a:noFill/>
          <a:ln w="19050">
            <a:solidFill>
              <a:srgbClr val="D7DDD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571232" y="312724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refine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309360" y="5084064"/>
            <a:ext cx="1078992" cy="0"/>
          </a:xfrm>
          <a:prstGeom prst="line">
            <a:avLst/>
          </a:prstGeom>
          <a:noFill/>
          <a:ln w="19050">
            <a:solidFill>
              <a:srgbClr val="D7D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484632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answer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473952" y="2286000"/>
            <a:ext cx="0" cy="2487168"/>
          </a:xfrm>
          <a:prstGeom prst="line">
            <a:avLst/>
          </a:prstGeom>
          <a:noFill/>
          <a:ln w="19050">
            <a:solidFill>
              <a:srgbClr val="D7DDD8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870448" y="351129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skip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5394960" y="5650992"/>
            <a:ext cx="51206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41264" y="5815584"/>
            <a:ext cx="73152" cy="32918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05856" y="5815584"/>
            <a:ext cx="46817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设计意图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705856" y="6181344"/>
            <a:ext cx="4700016" cy="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从协议层杜绝“未经验证直接回答”的短路行为。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验证设计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Refine-as-Verification：把摘要升级成结构化验证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 refine 不再只是中间废话，而是可以被训练、被评估、被奖励的中间变量。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1755648"/>
            <a:ext cx="4096512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920240"/>
            <a:ext cx="7315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202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 refine 输出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286000"/>
            <a:ext cx="3675888" cy="91440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&lt;refine&gt;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Evidence assessment: sufficient / insufficient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findings: [关键信息]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Confidence: high / medium / low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&lt;/refine&gt;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68096" y="3566160"/>
            <a:ext cx="1243584" cy="1371600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730752"/>
            <a:ext cx="73152" cy="10424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373075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证据评估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078992" y="4096512"/>
            <a:ext cx="822960" cy="7132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先判断证据是否足够回答问题。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176272" y="3566160"/>
            <a:ext cx="1243584" cy="1371600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2576" y="3730752"/>
            <a:ext cx="73152" cy="104241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7168" y="373075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核心发现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2487168" y="4096512"/>
            <a:ext cx="822960" cy="7132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强制总结关键信息，而不是复述原文。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584448" y="3566160"/>
            <a:ext cx="1243584" cy="1371600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30752" y="3730752"/>
            <a:ext cx="73152" cy="10424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95344" y="3730752"/>
            <a:ext cx="80467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置信度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3895344" y="4096512"/>
            <a:ext cx="822960" cy="7132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给后续 answer 留下可利用的质量信号。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768096" y="5175504"/>
            <a:ext cx="4096512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5340096"/>
            <a:ext cx="73152" cy="6035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34009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代价与后续优化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5705856"/>
            <a:ext cx="3675888" cy="27432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代价是 3B 需要额外对齐结构。后续可尝试：把 refine 融入 think、做高频实体锚定，或把 reward 绑定到 &lt;/refine&gt;。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266944" y="1783080"/>
            <a:ext cx="5687568" cy="2798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pic>
        <p:nvPicPr>
          <p:cNvPr id="32" name="Image 0" descr="E:\python_notebook\LLM26fall\简历优化\PPT-Agentic-RL\assets\verisearch\03-refine-structure.png"/>
          <p:cNvPicPr>
            <a:picLocks noChangeAspect="1"/>
          </p:cNvPicPr>
          <p:nvPr/>
        </p:nvPicPr>
        <p:blipFill>
          <a:blip r:embed="rId3"/>
          <a:srcRect t="18249"/>
          <a:stretch>
            <a:fillRect/>
          </a:stretch>
        </p:blipFill>
        <p:spPr>
          <a:xfrm>
            <a:off x="5367655" y="2256155"/>
            <a:ext cx="5486400" cy="19685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66944" y="4636008"/>
            <a:ext cx="56875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 refine 的示意图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5394960" y="4882896"/>
            <a:ext cx="548640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541264" y="5047488"/>
            <a:ext cx="73152" cy="8778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05856" y="5047488"/>
            <a:ext cx="5047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为什么这一步重要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705856" y="5413248"/>
            <a:ext cx="5065776" cy="54864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自由摘要虽然可行，但很容易沦为照抄。结构化输出的价值在于：让 refine 的质量可定义、可奖励，也更容易和 answer 连接。</a:t>
            </a:r>
            <a:endParaRPr lang="en-US" sz="10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训练设计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SFT 冷启动 + 两阶段 RL 训练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先把动作空间和格式学稳，再分别优化搜索决策与验证质量。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22960" y="2029714"/>
            <a:ext cx="3438144" cy="232257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2139442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0：SFT 冷启动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9264" y="2560066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33856" y="2486914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 Qwen2.5-3B base 出发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969264" y="2889250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33856" y="2816098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1500 条数据，1 个 epoch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969264" y="321843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33856" y="3145282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GPT-4o 生成的 5 类轨迹教会四动作格式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4370832" y="2029714"/>
            <a:ext cx="3438144" cy="2322576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17136" y="2139442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4a：RL 学决策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17136" y="2560066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81728" y="2486914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120 steps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4517136" y="2889250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2816098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= F1 + skip_bonus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4517136" y="321843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3145282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目标：学会 skip 决策的重要性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4517136" y="3547618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81728" y="3474466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不再额外加格式奖励，靠 SFT 惯性维持</a:t>
            </a:r>
            <a:endParaRPr lang="en-US" sz="980" dirty="0"/>
          </a:p>
        </p:txBody>
      </p:sp>
      <p:sp>
        <p:nvSpPr>
          <p:cNvPr id="32" name="Shape 29"/>
          <p:cNvSpPr/>
          <p:nvPr/>
        </p:nvSpPr>
        <p:spPr>
          <a:xfrm>
            <a:off x="7918704" y="2029714"/>
            <a:ext cx="3438144" cy="2322576"/>
          </a:xfrm>
          <a:prstGeom prst="roundRect">
            <a:avLst/>
          </a:prstGeom>
          <a:solidFill>
            <a:srgbClr val="FDE8E2"/>
          </a:solidFill>
          <a:ln w="12700">
            <a:solidFill>
              <a:srgbClr val="FDE8E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65008" y="2139442"/>
            <a:ext cx="314553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4b：RL 学验证质量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8065008" y="2560066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0" y="2486914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steps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8065008" y="2889250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229600" y="2816098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 = F1 + assessment_consistency + key_findings</a:t>
            </a:r>
            <a:endParaRPr lang="en-US" sz="980" dirty="0"/>
          </a:p>
        </p:txBody>
      </p:sp>
      <p:sp>
        <p:nvSpPr>
          <p:cNvPr id="38" name="Shape 35"/>
          <p:cNvSpPr/>
          <p:nvPr/>
        </p:nvSpPr>
        <p:spPr>
          <a:xfrm>
            <a:off x="8065008" y="3218434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229600" y="3145282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 refine 质量奖励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065008" y="3547618"/>
            <a:ext cx="73152" cy="73152"/>
          </a:xfrm>
          <a:prstGeom prst="ellipse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229600" y="3474466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目标：提升证据整合能力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1042416" y="5029073"/>
            <a:ext cx="1005840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88720" y="5193665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353312" y="5193665"/>
            <a:ext cx="96194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这样拆阶段的原因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353312" y="5559425"/>
            <a:ext cx="9637776" cy="36576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先解决 skip_bonus 和 key_findings 之间的梯度拉扯，再按课程学习的方式，从格式和效率逐步走到高阶证据整合。</a:t>
            </a:r>
            <a:endParaRPr lang="en-US" sz="1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优化器选择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REINFORCE 替代 GRPO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原因不是跟风，而是检索型智能体会破坏 GRPO 的核心假设。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8096" y="1755648"/>
            <a:ext cx="5074920" cy="1417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920240"/>
            <a:ext cx="73152" cy="10881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920240"/>
            <a:ext cx="46360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 的问题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286000"/>
            <a:ext cx="4654296" cy="75895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GRPO 依赖 per-prompt 组内归一化，但搜索型 agent 中，同一 prompt 的多条 rollout 会共享检索结果，组内相关性太高，优势值更容易被噪声主导。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6236208" y="1755648"/>
            <a:ext cx="5074920" cy="14173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920240"/>
            <a:ext cx="73152" cy="10881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920240"/>
            <a:ext cx="463600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REINFORCE 的解决思路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7104" y="2286000"/>
            <a:ext cx="4654296" cy="75895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改用全局归一化，跨整个 batch 的不同 prompt 计算均值和方差。不同问题天然存在难度差异，因此归一化基准更稳定。</a:t>
            </a:r>
            <a:endParaRPr lang="en-US" sz="1110" dirty="0"/>
          </a:p>
        </p:txBody>
      </p:sp>
      <p:sp>
        <p:nvSpPr>
          <p:cNvPr id="19" name="Shape 17"/>
          <p:cNvSpPr/>
          <p:nvPr/>
        </p:nvSpPr>
        <p:spPr>
          <a:xfrm>
            <a:off x="786384" y="3529584"/>
            <a:ext cx="502920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3694176"/>
            <a:ext cx="73152" cy="18470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94176"/>
            <a:ext cx="45902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为什么组内方差会塌掉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059936"/>
            <a:ext cx="4608576" cy="15179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同一个 prompt 的 5 条 rollout 往往共享同一批 documents。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search("president of France")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-&gt; 同样 3 篇文档</a:t>
            </a: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-&gt; reward 接近 1.0 / 1.0 / 1.0 / 1.0 / 0.9</a:t>
            </a:r>
            <a:endParaRPr lang="en-US" sz="1020" dirty="0"/>
          </a:p>
          <a:p>
            <a:pPr marL="0" indent="0">
              <a:buNone/>
            </a:pPr>
            <a:endParaRPr lang="en-US" sz="1020" dirty="0"/>
          </a:p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结果：组内方差极小，归一化后的梯度更容易被噪声放大。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272784" y="3529584"/>
            <a:ext cx="502920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3694176"/>
            <a:ext cx="73152" cy="184708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694176"/>
            <a:ext cx="45902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为什么全局归一化更稳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4059936"/>
            <a:ext cx="4608576" cy="151790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 prompt 归一化以后：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普通事实题、复杂多跳题、近期事实题会天然形成难度差异。</a:t>
            </a:r>
            <a:endParaRPr lang="en-US" sz="1040" dirty="0"/>
          </a:p>
          <a:p>
            <a:pPr marL="0" indent="0">
              <a:buNone/>
            </a:pPr>
            <a:endParaRPr lang="en-US" sz="1040" dirty="0"/>
          </a:p>
          <a:p>
            <a:pPr marL="0" indent="0">
              <a:buNone/>
            </a:pPr>
            <a:r>
              <a:rPr lang="en-US" sz="104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这些差异提供了更稳定的 baseline，也更符合检索 agent 的真实数据分布。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1042416" y="5943600"/>
            <a:ext cx="10058400" cy="310896"/>
          </a:xfrm>
          <a:prstGeom prst="roundRect">
            <a:avLst/>
          </a:prstGeom>
          <a:solidFill>
            <a:srgbClr val="DDEAF9"/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5961888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本质判断：检索共享结果会破坏 GRPO 对组内多样性的假设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成果展示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评测配置与总体结果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结果展示保持 md 顺序：先交代配置，再看总体表现。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1755648"/>
            <a:ext cx="427939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1920240"/>
            <a:ext cx="73152" cy="19385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92024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评测配置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3858768" cy="160934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Checkpoint: verl_checkpoints/.../global_step_20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模型：Qwen2.5-3B（SFT v2 冷启动 -&gt; RL 120 步 -&gt; RL 20 步）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评测数据：2000 样本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6A7A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解码：greedy (temperature=0), n_agent=1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786384" y="4315968"/>
            <a:ext cx="4279392" cy="1298448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4480560"/>
            <a:ext cx="73152" cy="9692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8056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结果阅读注意项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846320"/>
            <a:ext cx="3858768" cy="640080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NQ 和 HotpotQA 存在泄漏；Bamboogle 因按比例采样的问题，只跑了 5 条测试，因此这一列仅供参考。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504688" y="1792224"/>
            <a:ext cx="1426464" cy="347472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1810512"/>
            <a:ext cx="142646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Mean F1 38.0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59168" y="1792224"/>
            <a:ext cx="1353312" cy="34747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59168" y="1810512"/>
            <a:ext cx="135331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Mean EM 30.8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58784" y="1792224"/>
            <a:ext cx="1737360" cy="347472"/>
          </a:xfrm>
          <a:prstGeom prst="roundRect">
            <a:avLst/>
          </a:prstGeom>
          <a:solidFill>
            <a:srgbClr val="DDEAF9"/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58784" y="1810512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2000 eval samples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376672" y="2331720"/>
            <a:ext cx="5742432" cy="3675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542032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各数据集 F1（右侧标签为 EM）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14416" y="2935224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NQ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839712" y="2907792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2907792"/>
            <a:ext cx="2025422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0" y="2916936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53.1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113264" y="2898648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13264" y="291693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43.3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5614416" y="3319272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TriviaQA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839712" y="3291840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39712" y="3291840"/>
            <a:ext cx="2509845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330098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65.8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113264" y="3282696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13264" y="3300984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58.6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5614416" y="3703320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HotpotQA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6839712" y="3675888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39712" y="3675888"/>
            <a:ext cx="1769860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0" y="3685032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46.4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113264" y="3666744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13264" y="368503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36.2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5614416" y="4087368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PopQA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6839712" y="4059936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39712" y="4059936"/>
            <a:ext cx="1716459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0" y="4069080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45.0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113264" y="4050792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113264" y="4069080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41.0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5614416" y="4471416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2WikiMQA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6839712" y="4443984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39712" y="4443984"/>
            <a:ext cx="1426569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1200" y="4453128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37.4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0113264" y="4434840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113264" y="445312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32.4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5614416" y="4855464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MuSiQue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6839712" y="4828032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39712" y="4828032"/>
            <a:ext cx="522567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01200" y="4837176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13.7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10113264" y="4818888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113264" y="483717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6.8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5614416" y="5239512"/>
            <a:ext cx="1152144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Bamboogle*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6839712" y="5212080"/>
            <a:ext cx="2670048" cy="219456"/>
          </a:xfrm>
          <a:prstGeom prst="roundRect">
            <a:avLst/>
          </a:prstGeom>
          <a:solidFill>
            <a:srgbClr val="E9EEF5"/>
          </a:solidFill>
          <a:ln w="12700">
            <a:solidFill>
              <a:srgbClr val="E9EEF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839712" y="5212080"/>
            <a:ext cx="316591" cy="21945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01200" y="522122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F766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8.3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0113264" y="5202936"/>
            <a:ext cx="786384" cy="2560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113264" y="5221224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 0.0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5650992" y="5650992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* Bamboogle 仅 5 条测试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94360" y="-365760"/>
            <a:ext cx="2011680" cy="2011680"/>
          </a:xfrm>
          <a:prstGeom prst="ellipse">
            <a:avLst/>
          </a:prstGeom>
          <a:solidFill>
            <a:srgbClr val="E1F7F3">
              <a:alpha val="95000"/>
            </a:srgbClr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0" y="5212080"/>
            <a:ext cx="2148840" cy="2148840"/>
          </a:xfrm>
          <a:prstGeom prst="ellipse">
            <a:avLst/>
          </a:prstGeom>
          <a:solidFill>
            <a:srgbClr val="FFF2D6">
              <a:alpha val="88000"/>
            </a:srgbClr>
          </a:solidFill>
          <a:ln w="12700">
            <a:solidFill>
              <a:srgbClr val="FFF2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-411480"/>
            <a:ext cx="1920240" cy="1920240"/>
          </a:xfrm>
          <a:prstGeom prst="ellipse">
            <a:avLst/>
          </a:prstGeom>
          <a:solidFill>
            <a:srgbClr val="DDEAF9">
              <a:alpha val="45000"/>
            </a:srgbClr>
          </a:solidFill>
          <a:ln w="12700">
            <a:solidFill>
              <a:srgbClr val="DDEAF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47472"/>
            <a:ext cx="1280160" cy="310896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E1F7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93192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成果展示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173968" y="310896"/>
            <a:ext cx="475488" cy="384048"/>
          </a:xfrm>
          <a:prstGeom prst="roundRect">
            <a:avLst/>
          </a:prstGeom>
          <a:solidFill>
            <a:srgbClr val="102033"/>
          </a:solidFill>
          <a:ln w="12700">
            <a:solidFill>
              <a:srgbClr val="1020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01400" y="393192"/>
            <a:ext cx="42062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86868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Baseline 对比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1353312"/>
            <a:ext cx="8046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这页不只报分，更强调面试场景下应该怎么解释结果。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" y="1755648"/>
            <a:ext cx="1517904" cy="585216"/>
          </a:xfrm>
          <a:prstGeom prst="rect">
            <a:avLst/>
          </a:prstGeom>
          <a:solidFill>
            <a:srgbClr val="10203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801368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322576" y="1755648"/>
            <a:ext cx="1170432" cy="585216"/>
          </a:xfrm>
          <a:prstGeom prst="rect">
            <a:avLst/>
          </a:prstGeom>
          <a:solidFill>
            <a:srgbClr val="10203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801368"/>
            <a:ext cx="106070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Ours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</a:t>
            </a:r>
            <a:r>
              <a:rPr lang="zh-CN" alt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</a:t>
            </a:r>
            <a:r>
              <a:rPr lang="en-US" altLang="zh-CN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40步)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3493008" y="1755648"/>
            <a:ext cx="1572768" cy="585216"/>
          </a:xfrm>
          <a:prstGeom prst="rect">
            <a:avLst/>
          </a:prstGeom>
          <a:solidFill>
            <a:srgbClr val="10203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7872" y="1801368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Search-R1-base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5065776" y="1755648"/>
            <a:ext cx="1609344" cy="585216"/>
          </a:xfrm>
          <a:prstGeom prst="rect">
            <a:avLst/>
          </a:prstGeom>
          <a:solidFill>
            <a:srgbClr val="10203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801368"/>
            <a:ext cx="149961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StepSearch-base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675120" y="1755648"/>
            <a:ext cx="1700784" cy="585216"/>
          </a:xfrm>
          <a:prstGeom prst="rect">
            <a:avLst/>
          </a:prstGeom>
          <a:solidFill>
            <a:srgbClr val="10203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801368"/>
            <a:ext cx="159105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StepSearch-instruct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04672" y="2340864"/>
            <a:ext cx="151790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386584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HotpotQA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322576" y="2340864"/>
            <a:ext cx="1170432" cy="585216"/>
          </a:xfrm>
          <a:prstGeom prst="rect">
            <a:avLst/>
          </a:prstGeom>
          <a:solidFill>
            <a:srgbClr val="E1F7F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386584"/>
            <a:ext cx="106070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46.4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3493008" y="2340864"/>
            <a:ext cx="15727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238658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36.1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5065776" y="2340864"/>
            <a:ext cx="160934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386584"/>
            <a:ext cx="149961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43.4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675120" y="2340864"/>
            <a:ext cx="170078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2386584"/>
            <a:ext cx="159105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45.2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804672" y="2926080"/>
            <a:ext cx="1517904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2971800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2WikiMQA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2322576" y="2926080"/>
            <a:ext cx="1170432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2971800"/>
            <a:ext cx="106070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37.4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3493008" y="2926080"/>
            <a:ext cx="1572768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2971800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29.6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5065776" y="2926080"/>
            <a:ext cx="1609344" cy="585216"/>
          </a:xfrm>
          <a:prstGeom prst="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2971800"/>
            <a:ext cx="149961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39.5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6675120" y="2926080"/>
            <a:ext cx="1700784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9984" y="2971800"/>
            <a:ext cx="159105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38.5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804672" y="3511296"/>
            <a:ext cx="151790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" y="3557016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MuSiQue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2322576" y="3511296"/>
            <a:ext cx="1170432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3557016"/>
            <a:ext cx="106070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13.7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3493008" y="3511296"/>
            <a:ext cx="157276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47872" y="3557016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14.6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5065776" y="3511296"/>
            <a:ext cx="1609344" cy="585216"/>
          </a:xfrm>
          <a:prstGeom prst="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557016"/>
            <a:ext cx="149961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27.3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6675120" y="3511296"/>
            <a:ext cx="1700784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3557016"/>
            <a:ext cx="159105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26.1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804672" y="4096512"/>
            <a:ext cx="1517904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4142232"/>
            <a:ext cx="140817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Bamboogle</a:t>
            </a:r>
            <a:endParaRPr lang="en-US" sz="940" dirty="0"/>
          </a:p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(实验失误)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2322576" y="4096512"/>
            <a:ext cx="1170432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0" y="4142232"/>
            <a:ext cx="1060704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8.3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3493008" y="4096512"/>
            <a:ext cx="1572768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47872" y="4142232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27.0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5065776" y="4096512"/>
            <a:ext cx="1609344" cy="585216"/>
          </a:xfrm>
          <a:prstGeom prst="rect">
            <a:avLst/>
          </a:prstGeom>
          <a:solidFill>
            <a:srgbClr val="F9FBFD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4142232"/>
            <a:ext cx="149961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41.9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6675120" y="4096512"/>
            <a:ext cx="1700784" cy="585216"/>
          </a:xfrm>
          <a:prstGeom prst="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9984" y="4142232"/>
            <a:ext cx="1591056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45.2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8366760" y="1755648"/>
            <a:ext cx="2743200" cy="1170432"/>
          </a:xfrm>
          <a:prstGeom prst="roundRect">
            <a:avLst/>
          </a:prstGeom>
          <a:solidFill>
            <a:srgbClr val="E1F7F3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13064" y="1920240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77656" y="1920240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8677656" y="2286000"/>
            <a:ext cx="2322576" cy="51206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HotpotQA 上 46.4，超过 Search-R1-base 和 StepSearch-base，也高于 StepSearch-instruct。</a:t>
            </a:r>
            <a:endParaRPr lang="en-US" sz="1020" dirty="0"/>
          </a:p>
        </p:txBody>
      </p:sp>
      <p:sp>
        <p:nvSpPr>
          <p:cNvPr id="65" name="Shape 63"/>
          <p:cNvSpPr/>
          <p:nvPr/>
        </p:nvSpPr>
        <p:spPr>
          <a:xfrm>
            <a:off x="8366760" y="3163824"/>
            <a:ext cx="2743200" cy="1170432"/>
          </a:xfrm>
          <a:prstGeom prst="roundRect">
            <a:avLst/>
          </a:prstGeom>
          <a:solidFill>
            <a:srgbClr val="FFF2D6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13064" y="3328416"/>
            <a:ext cx="73152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77656" y="3328416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短板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8677656" y="3694176"/>
            <a:ext cx="2322576" cy="512064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2WikiMQA、MuSiQue 和 Bamboogle 还不占优，说明长链多跳和困难检索仍是当前瓶颈。</a:t>
            </a:r>
            <a:endParaRPr lang="en-US" sz="1020" dirty="0"/>
          </a:p>
        </p:txBody>
      </p:sp>
      <p:sp>
        <p:nvSpPr>
          <p:cNvPr id="69" name="Shape 67"/>
          <p:cNvSpPr/>
          <p:nvPr/>
        </p:nvSpPr>
        <p:spPr>
          <a:xfrm>
            <a:off x="8366760" y="4572000"/>
            <a:ext cx="2743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513064" y="4736592"/>
            <a:ext cx="73152" cy="104241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77656" y="4736592"/>
            <a:ext cx="230428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20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面试里的解释方式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677656" y="5102352"/>
            <a:ext cx="2322576" cy="71323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010" dirty="0">
                <a:solidFill>
                  <a:srgbClr val="6A7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我的方法更擅长“先判断值不值得搜，再把证据压短用好”。它不是万能检索器，但在 agent protocol 和 reward design 上有明确创新点。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1111</Words>
  <Application>Microsoft Office PowerPoint</Application>
  <PresentationFormat>宽屏</PresentationFormat>
  <Paragraphs>305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VeriSearch 项目介绍</dc:title>
  <dc:subject>VeriSearch 面试项目介绍</dc:subject>
  <dc:creator>Codex</dc:creator>
  <cp:lastModifiedBy>Nariyuki WL_</cp:lastModifiedBy>
  <cp:revision>3</cp:revision>
  <dcterms:created xsi:type="dcterms:W3CDTF">2026-03-24T18:36:00Z</dcterms:created>
  <dcterms:modified xsi:type="dcterms:W3CDTF">2026-09-03T15:43:38Z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0035AD8A2C22409497E2B1A706ACEA42_12</vt:lpwstr>
  </property>
</Properties>
</file>