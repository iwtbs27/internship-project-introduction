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.png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621792" cy="256032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18120" y="438912"/>
            <a:ext cx="658368" cy="256032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背景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622792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在线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427464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离线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232136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训练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036808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评估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758952"/>
            <a:ext cx="7040880" cy="496570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2400" b="1">
                <a:solidFill>
                  <a:srgbClr val="1F2D3A"/>
                </a:solidFill>
                <a:latin typeface="微软雅黑" panose="020B0503020204020204" charset="-122"/>
              </a:rPr>
              <a:t>项目背景</a:t>
            </a:r>
            <a:endParaRPr sz="2400" b="1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170432"/>
            <a:ext cx="7498079" cy="292608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120" b="0">
                <a:solidFill>
                  <a:srgbClr val="5E6B78"/>
                </a:solidFill>
                <a:latin typeface="微软雅黑" panose="020B0503020204020204" charset="-122"/>
              </a:rPr>
              <a:t>先把问题场景和个人负责的模块讲清楚，后面的流程才有意义。</a:t>
            </a:r>
            <a:endParaRPr sz="1120" b="0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527048"/>
            <a:ext cx="11109960" cy="18288"/>
          </a:xfrm>
          <a:prstGeom prst="rect">
            <a:avLst/>
          </a:prstGeom>
          <a:solidFill>
            <a:srgbClr val="D9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225" y="1847215"/>
            <a:ext cx="6476365" cy="398653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0983" y="2084831"/>
            <a:ext cx="1371600" cy="256032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500" b="1">
                <a:solidFill>
                  <a:srgbClr val="EB7A53"/>
                </a:solidFill>
                <a:latin typeface="微软雅黑" panose="020B0503020204020204" charset="-122"/>
              </a:rPr>
              <a:t>项目背景</a:t>
            </a:r>
            <a:endParaRPr sz="1500" b="1">
              <a:solidFill>
                <a:srgbClr val="EB7A53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61110" y="2536190"/>
            <a:ext cx="5394325" cy="2839720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no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48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rPr sz="1800"/>
              <a:t>• 面向市民查询出入境服务、闽政通办事指引，目标是把分散指南变成可直接回答的问题。</a:t>
            </a:r>
            <a:endParaRPr sz="1800"/>
          </a:p>
          <a:p>
            <a:pPr>
              <a:lnSpc>
                <a:spcPct val="118000"/>
              </a:lnSpc>
              <a:spcAft>
                <a:spcPts val="800"/>
              </a:spcAft>
              <a:defRPr sz="148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rPr sz="1800"/>
              <a:t>• 输出必须可追溯，能回到流程图、规章文号或具体字段，而不是只给一段模糊总结。</a:t>
            </a:r>
            <a:endParaRPr sz="1800"/>
          </a:p>
          <a:p>
            <a:pPr>
              <a:lnSpc>
                <a:spcPct val="118000"/>
              </a:lnSpc>
              <a:spcAft>
                <a:spcPts val="800"/>
              </a:spcAft>
              <a:defRPr sz="148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rPr sz="1800"/>
              <a:t>• 最终答案要结构化覆盖材料清单、办理流程、收费、时限、地点等关键字段。</a:t>
            </a:r>
            <a:endParaRPr sz="1800"/>
          </a:p>
        </p:txBody>
      </p:sp>
      <p:sp>
        <p:nvSpPr>
          <p:cNvPr id="24" name="Rounded Rectangle 23"/>
          <p:cNvSpPr/>
          <p:nvPr/>
        </p:nvSpPr>
        <p:spPr>
          <a:xfrm>
            <a:off x="502920" y="6309360"/>
            <a:ext cx="11109960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l"/>
            <a:r>
              <a:rPr sz="1080">
                <a:solidFill>
                  <a:srgbClr val="FFFFFF"/>
                </a:solidFill>
                <a:latin typeface="微软雅黑" panose="020B0503020204020204" charset="-122"/>
              </a:rPr>
              <a:t>讲解抓手：先把场景、输出要求和你的职责讲清，再进入系统流程。</a:t>
            </a:r>
            <a:endParaRPr sz="108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9"/>
          <p:cNvSpPr/>
          <p:nvPr/>
        </p:nvSpPr>
        <p:spPr>
          <a:xfrm>
            <a:off x="7245350" y="338455"/>
            <a:ext cx="1847088" cy="56509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10" descr="在线流程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7312" y="439039"/>
            <a:ext cx="1343163" cy="5449824"/>
          </a:xfrm>
          <a:prstGeom prst="rect">
            <a:avLst/>
          </a:prstGeom>
        </p:spPr>
      </p:pic>
      <p:sp>
        <p:nvSpPr>
          <p:cNvPr id="27" name="Rounded Rectangle 11"/>
          <p:cNvSpPr/>
          <p:nvPr/>
        </p:nvSpPr>
        <p:spPr>
          <a:xfrm>
            <a:off x="7373366" y="466471"/>
            <a:ext cx="1170432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在线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12"/>
          <p:cNvSpPr/>
          <p:nvPr/>
        </p:nvSpPr>
        <p:spPr>
          <a:xfrm>
            <a:off x="9257030" y="338455"/>
            <a:ext cx="2651760" cy="272491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13" descr="事项字段流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543" y="439039"/>
            <a:ext cx="1322733" cy="2523744"/>
          </a:xfrm>
          <a:prstGeom prst="rect">
            <a:avLst/>
          </a:prstGeom>
        </p:spPr>
      </p:pic>
      <p:sp>
        <p:nvSpPr>
          <p:cNvPr id="30" name="Rounded Rectangle 14"/>
          <p:cNvSpPr/>
          <p:nvPr/>
        </p:nvSpPr>
        <p:spPr>
          <a:xfrm>
            <a:off x="9385046" y="466471"/>
            <a:ext cx="1170432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离线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15"/>
          <p:cNvSpPr/>
          <p:nvPr/>
        </p:nvSpPr>
        <p:spPr>
          <a:xfrm>
            <a:off x="9257030" y="3237103"/>
            <a:ext cx="2651760" cy="275234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16" descr="系统与模块评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2991" y="3337687"/>
            <a:ext cx="1639836" cy="2551175"/>
          </a:xfrm>
          <a:prstGeom prst="rect">
            <a:avLst/>
          </a:prstGeom>
        </p:spPr>
      </p:pic>
      <p:sp>
        <p:nvSpPr>
          <p:cNvPr id="33" name="Rounded Rectangle 17"/>
          <p:cNvSpPr/>
          <p:nvPr/>
        </p:nvSpPr>
        <p:spPr>
          <a:xfrm>
            <a:off x="9385046" y="3365119"/>
            <a:ext cx="1170432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评估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621792" cy="256032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18120" y="438912"/>
            <a:ext cx="658368" cy="256032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背景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622792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在线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427464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离线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232136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训练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036808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评估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758952"/>
            <a:ext cx="7040880" cy="402336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2400" b="1">
                <a:solidFill>
                  <a:srgbClr val="1F2D3A"/>
                </a:solidFill>
                <a:latin typeface="微软雅黑" panose="020B0503020204020204" charset="-122"/>
              </a:rPr>
              <a:t>总体流程：这套系统是怎样串起来的？</a:t>
            </a:r>
            <a:endParaRPr sz="2400" b="1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527048"/>
            <a:ext cx="11109960" cy="18288"/>
          </a:xfrm>
          <a:prstGeom prst="rect">
            <a:avLst/>
          </a:prstGeom>
          <a:solidFill>
            <a:srgbClr val="D9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65376"/>
            <a:ext cx="1188720" cy="256032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500" b="1">
                <a:solidFill>
                  <a:srgbClr val="123C4A"/>
                </a:solidFill>
                <a:latin typeface="微软雅黑" panose="020B0503020204020204" charset="-122"/>
              </a:rPr>
              <a:t>四段主线</a:t>
            </a:r>
            <a:endParaRPr sz="1500" b="1">
              <a:solidFill>
                <a:srgbClr val="123C4A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2212848"/>
            <a:ext cx="5212080" cy="713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58368" tIns="73152" rIns="109728" bIns="54864" rtlCol="0" anchor="t"/>
          <a:lstStyle/>
          <a:p>
            <a:pPr algn="l"/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离线把政务 PDF 解析成事项字段库，并沉淀 QA 语料。</a:t>
            </a:r>
            <a:endParaRPr sz="1600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3816" y="2368296"/>
            <a:ext cx="411480" cy="292608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5800" y="3108960"/>
            <a:ext cx="5212080" cy="713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58368" tIns="73152" rIns="109728" bIns="54864" rtlCol="0" anchor="t"/>
          <a:lstStyle/>
          <a:p>
            <a:pPr algn="l"/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基于 QA 再去构造 Bert、Reranker 和问答模型的</a:t>
            </a:r>
            <a:r>
              <a:rPr lang="zh-CN" sz="1600">
                <a:solidFill>
                  <a:srgbClr val="1F2D3A"/>
                </a:solidFill>
                <a:latin typeface="微软雅黑" panose="020B0503020204020204" charset="-122"/>
              </a:rPr>
              <a:t>微调</a:t>
            </a:r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训练数据。</a:t>
            </a:r>
            <a:endParaRPr sz="1600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3816" y="3264408"/>
            <a:ext cx="411480" cy="292608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85800" y="4005072"/>
            <a:ext cx="5212080" cy="713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58368" tIns="73152" rIns="109728" bIns="54864" rtlCol="0" anchor="t"/>
          <a:lstStyle/>
          <a:p>
            <a:pPr algn="l"/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线上收到 query 后做路由、多路召回、精排和引用式生成。</a:t>
            </a:r>
            <a:endParaRPr sz="1600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3816" y="4160520"/>
            <a:ext cx="411480" cy="292608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4901183"/>
            <a:ext cx="5212080" cy="713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58368" tIns="73152" rIns="109728" bIns="54864" rtlCol="0" anchor="t"/>
          <a:lstStyle/>
          <a:p>
            <a:pPr algn="l"/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生成后再做关键字段校验，最后用模块指标和系统指标评估。</a:t>
            </a:r>
            <a:endParaRPr sz="1600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13816" y="5056631"/>
            <a:ext cx="411480" cy="292608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44768" y="1828800"/>
            <a:ext cx="5449824" cy="415137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离线流程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9706" y="1929384"/>
            <a:ext cx="2439947" cy="395020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272783" y="1956816"/>
            <a:ext cx="1170432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全局流程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2920" y="6309360"/>
            <a:ext cx="11109960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l"/>
            <a:r>
              <a:rPr sz="1080">
                <a:solidFill>
                  <a:srgbClr val="FFFFFF"/>
                </a:solidFill>
                <a:latin typeface="微软雅黑" panose="020B0503020204020204" charset="-122"/>
              </a:rPr>
              <a:t>讲解抓手：强调离线和在线是闭环，不是零散的几个模块。</a:t>
            </a:r>
            <a:endParaRPr sz="108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621792" cy="256032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18120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背景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622792" y="438912"/>
            <a:ext cx="658368" cy="256032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在线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427464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离线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232136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训练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036808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评估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758952"/>
            <a:ext cx="7040880" cy="496570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2400" b="1">
                <a:solidFill>
                  <a:srgbClr val="1F2D3A"/>
                </a:solidFill>
                <a:latin typeface="微软雅黑" panose="020B0503020204020204" charset="-122"/>
              </a:rPr>
              <a:t>在线阶段：用户</a:t>
            </a:r>
            <a:r>
              <a:rPr lang="zh-CN" sz="2400" b="1">
                <a:solidFill>
                  <a:srgbClr val="1F2D3A"/>
                </a:solidFill>
                <a:latin typeface="微软雅黑" panose="020B0503020204020204" charset="-122"/>
              </a:rPr>
              <a:t>的问题如何流转？</a:t>
            </a:r>
            <a:endParaRPr lang="zh-CN" sz="2400" b="1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527048"/>
            <a:ext cx="11109960" cy="18288"/>
          </a:xfrm>
          <a:prstGeom prst="rect">
            <a:avLst/>
          </a:prstGeom>
          <a:solidFill>
            <a:srgbClr val="D9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47088"/>
            <a:ext cx="1463040" cy="256032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500" b="1">
                <a:solidFill>
                  <a:srgbClr val="EB7A53"/>
                </a:solidFill>
                <a:latin typeface="微软雅黑" panose="020B0503020204020204" charset="-122"/>
              </a:rPr>
              <a:t>核心决策链</a:t>
            </a:r>
            <a:endParaRPr sz="1500" b="1">
              <a:solidFill>
                <a:srgbClr val="EB7A53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1"/>
            </p:custDataLst>
          </p:nvPr>
        </p:nvSpPr>
        <p:spPr>
          <a:xfrm>
            <a:off x="685800" y="2176272"/>
            <a:ext cx="6446520" cy="6126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58368" tIns="73152" rIns="109728" bIns="54864" rtlCol="0" anchor="t"/>
          <a:lstStyle/>
          <a:p>
            <a:pPr algn="l"/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BERT-Tiny 先做领域二分类；非政务问题直接拒答，线上阈值设为 0.35，宁可放宽也不误杀。</a:t>
            </a:r>
            <a:endParaRPr sz="1600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2"/>
            </p:custDataLst>
          </p:nvPr>
        </p:nvSpPr>
        <p:spPr>
          <a:xfrm>
            <a:off x="813816" y="2331720"/>
            <a:ext cx="411480" cy="292608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>
            <p:custDataLst>
              <p:tags r:id="rId3"/>
            </p:custDataLst>
          </p:nvPr>
        </p:nvSpPr>
        <p:spPr>
          <a:xfrm>
            <a:off x="685800" y="2926080"/>
            <a:ext cx="6446520" cy="6126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58368" tIns="73152" rIns="109728" bIns="54864" rtlCol="0" anchor="t"/>
          <a:lstStyle/>
          <a:p>
            <a:pPr algn="l"/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进入政务后，LLM 再判断所属领域、是否跨地区、是否需要拆子问题</a:t>
            </a:r>
            <a:r>
              <a:rPr lang="zh-CN" sz="1600">
                <a:solidFill>
                  <a:srgbClr val="1F2D3A"/>
                </a:solidFill>
                <a:latin typeface="微软雅黑" panose="020B0503020204020204" charset="-122"/>
              </a:rPr>
              <a:t>，主要负责强分类</a:t>
            </a:r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。</a:t>
            </a:r>
            <a:endParaRPr sz="1600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4"/>
            </p:custDataLst>
          </p:nvPr>
        </p:nvSpPr>
        <p:spPr>
          <a:xfrm>
            <a:off x="813816" y="3081528"/>
            <a:ext cx="411480" cy="292608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5"/>
            </p:custDataLst>
          </p:nvPr>
        </p:nvSpPr>
        <p:spPr>
          <a:xfrm>
            <a:off x="685800" y="3675887"/>
            <a:ext cx="6446520" cy="6126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58368" tIns="73152" rIns="109728" bIns="54864" rtlCol="0" anchor="t"/>
          <a:lstStyle/>
          <a:p>
            <a:pPr algn="l"/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先做 Query 归一化，再用事项摘要做候选事项匹配</a:t>
            </a:r>
            <a:r>
              <a:rPr lang="en-US" sz="1600">
                <a:solidFill>
                  <a:srgbClr val="1F2D3A"/>
                </a:solidFill>
                <a:latin typeface="微软雅黑" panose="020B0503020204020204" charset="-122"/>
              </a:rPr>
              <a:t>,</a:t>
            </a:r>
            <a:r>
              <a:rPr lang="zh-CN" altLang="en-US" sz="1600">
                <a:solidFill>
                  <a:srgbClr val="1F2D3A"/>
                </a:solidFill>
                <a:latin typeface="微软雅黑" panose="020B0503020204020204" charset="-122"/>
              </a:rPr>
              <a:t>事项匹配取</a:t>
            </a:r>
            <a:r>
              <a:rPr lang="en-US" altLang="zh-CN" sz="1600">
                <a:solidFill>
                  <a:srgbClr val="1F2D3A"/>
                </a:solidFill>
                <a:latin typeface="微软雅黑" panose="020B0503020204020204" charset="-122"/>
              </a:rPr>
              <a:t>Top5</a:t>
            </a:r>
            <a:r>
              <a:rPr lang="zh-CN" altLang="en-US" sz="1600">
                <a:solidFill>
                  <a:srgbClr val="1F2D3A"/>
                </a:solidFill>
                <a:latin typeface="微软雅黑" panose="020B0503020204020204" charset="-122"/>
              </a:rPr>
              <a:t>基本可以</a:t>
            </a:r>
            <a:r>
              <a:rPr lang="en-US" altLang="zh-CN" sz="1600">
                <a:solidFill>
                  <a:srgbClr val="1F2D3A"/>
                </a:solidFill>
                <a:latin typeface="微软雅黑" panose="020B0503020204020204" charset="-122"/>
              </a:rPr>
              <a:t>Cover</a:t>
            </a:r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。</a:t>
            </a:r>
            <a:endParaRPr sz="1600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6"/>
            </p:custDataLst>
          </p:nvPr>
        </p:nvSpPr>
        <p:spPr>
          <a:xfrm>
            <a:off x="813816" y="3831335"/>
            <a:ext cx="411480" cy="292608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>
            <p:custDataLst>
              <p:tags r:id="rId7"/>
            </p:custDataLst>
          </p:nvPr>
        </p:nvSpPr>
        <p:spPr>
          <a:xfrm>
            <a:off x="685800" y="4425696"/>
            <a:ext cx="6446520" cy="6126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58368" tIns="73152" rIns="109728" bIns="54864" rtlCol="0" anchor="t"/>
          <a:lstStyle/>
          <a:p>
            <a:pPr algn="l"/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对 top-5 事项并行做 Dense + Sparse + BM25 召回，随后</a:t>
            </a:r>
            <a:r>
              <a:rPr lang="zh-CN" sz="1600">
                <a:solidFill>
                  <a:srgbClr val="1F2D3A"/>
                </a:solidFill>
                <a:latin typeface="微软雅黑" panose="020B0503020204020204" charset="-122"/>
              </a:rPr>
              <a:t>每个子问题</a:t>
            </a:r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 RRF 粗排、Reranker 精排</a:t>
            </a:r>
            <a:r>
              <a:rPr lang="zh-CN" sz="1600">
                <a:solidFill>
                  <a:srgbClr val="1F2D3A"/>
                </a:solidFill>
                <a:latin typeface="微软雅黑" panose="020B0503020204020204" charset="-122"/>
              </a:rPr>
              <a:t>截取</a:t>
            </a:r>
            <a:r>
              <a:rPr lang="en-US" altLang="zh-CN" sz="1600">
                <a:solidFill>
                  <a:srgbClr val="1F2D3A"/>
                </a:solidFill>
                <a:latin typeface="微软雅黑" panose="020B0503020204020204" charset="-122"/>
              </a:rPr>
              <a:t>Top5</a:t>
            </a:r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。</a:t>
            </a:r>
            <a:endParaRPr sz="1600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>
            <p:custDataLst>
              <p:tags r:id="rId8"/>
            </p:custDataLst>
          </p:nvPr>
        </p:nvSpPr>
        <p:spPr>
          <a:xfrm>
            <a:off x="813816" y="4581144"/>
            <a:ext cx="411480" cy="292608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9"/>
            </p:custDataLst>
          </p:nvPr>
        </p:nvSpPr>
        <p:spPr>
          <a:xfrm>
            <a:off x="685800" y="5175504"/>
            <a:ext cx="6446520" cy="6126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58368" tIns="73152" rIns="109728" bIns="54864" rtlCol="0" anchor="t"/>
          <a:lstStyle/>
          <a:p>
            <a:pPr algn="l"/>
            <a:r>
              <a:rPr lang="zh-CN" sz="1600">
                <a:solidFill>
                  <a:srgbClr val="1F2D3A"/>
                </a:solidFill>
                <a:latin typeface="微软雅黑" panose="020B0503020204020204" charset="-122"/>
              </a:rPr>
              <a:t>对关键字段进行</a:t>
            </a:r>
            <a:r>
              <a:rPr lang="en-US" altLang="zh-CN" sz="1600">
                <a:solidFill>
                  <a:srgbClr val="1F2D3A"/>
                </a:solidFill>
                <a:latin typeface="微软雅黑" panose="020B0503020204020204" charset="-122"/>
              </a:rPr>
              <a:t>NLI</a:t>
            </a:r>
            <a:r>
              <a:rPr lang="zh-CN" altLang="en-US" sz="1600">
                <a:solidFill>
                  <a:srgbClr val="1F2D3A"/>
                </a:solidFill>
                <a:latin typeface="微软雅黑" panose="020B0503020204020204" charset="-122"/>
              </a:rPr>
              <a:t>蕴含验证，避免金额</a:t>
            </a:r>
            <a:r>
              <a:rPr lang="en-US" altLang="zh-CN" sz="1600">
                <a:solidFill>
                  <a:srgbClr val="1F2D3A"/>
                </a:solidFill>
                <a:latin typeface="微软雅黑" panose="020B0503020204020204" charset="-122"/>
              </a:rPr>
              <a:t>/</a:t>
            </a:r>
            <a:r>
              <a:rPr lang="zh-CN" altLang="en-US" sz="1600">
                <a:solidFill>
                  <a:srgbClr val="1F2D3A"/>
                </a:solidFill>
                <a:latin typeface="微软雅黑" panose="020B0503020204020204" charset="-122"/>
              </a:rPr>
              <a:t>时限</a:t>
            </a:r>
            <a:r>
              <a:rPr lang="en-US" altLang="zh-CN" sz="1600">
                <a:solidFill>
                  <a:srgbClr val="1F2D3A"/>
                </a:solidFill>
                <a:latin typeface="微软雅黑" panose="020B0503020204020204" charset="-122"/>
              </a:rPr>
              <a:t>/</a:t>
            </a:r>
            <a:r>
              <a:rPr lang="zh-CN" altLang="en-US" sz="1600">
                <a:solidFill>
                  <a:srgbClr val="1F2D3A"/>
                </a:solidFill>
                <a:latin typeface="微软雅黑" panose="020B0503020204020204" charset="-122"/>
              </a:rPr>
              <a:t>电话等关键字段出现错误。</a:t>
            </a:r>
            <a:endParaRPr lang="zh-CN" altLang="en-US" sz="1600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>
            <p:custDataLst>
              <p:tags r:id="rId10"/>
            </p:custDataLst>
          </p:nvPr>
        </p:nvSpPr>
        <p:spPr>
          <a:xfrm>
            <a:off x="813816" y="5330952"/>
            <a:ext cx="411480" cy="292608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05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88352" y="1828800"/>
            <a:ext cx="4206240" cy="4151376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在线流程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4687" y="1929384"/>
            <a:ext cx="973568" cy="395020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516368" y="1956816"/>
            <a:ext cx="1170432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lang="zh-CN" sz="1000" b="1">
                <a:solidFill>
                  <a:srgbClr val="FFFFFF"/>
                </a:solidFill>
                <a:latin typeface="微软雅黑" panose="020B0503020204020204" charset="-122"/>
              </a:rPr>
              <a:t>在线阶段</a:t>
            </a:r>
            <a:endParaRPr lang="zh-CN"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2920" y="6309360"/>
            <a:ext cx="11109960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l"/>
            <a:r>
              <a:rPr sz="1080">
                <a:solidFill>
                  <a:srgbClr val="FFFFFF"/>
                </a:solidFill>
                <a:latin typeface="微软雅黑" panose="020B0503020204020204" charset="-122"/>
              </a:rPr>
              <a:t>讲解抓手：这里一定要讲“top-5 很少，所以单事项和多事项必须走不同路径”。</a:t>
            </a:r>
            <a:endParaRPr sz="108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621792" cy="256032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0</a:t>
            </a: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lang="en-US"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18120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背景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622792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在线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427464" y="438912"/>
            <a:ext cx="658368" cy="256032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离线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232136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训练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036808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评估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758952"/>
            <a:ext cx="7040880" cy="402336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2400" b="1">
                <a:solidFill>
                  <a:srgbClr val="1F2D3A"/>
                </a:solidFill>
                <a:latin typeface="微软雅黑" panose="020B0503020204020204" charset="-122"/>
              </a:rPr>
              <a:t>离线阶段：如何从 PDF 变成事项字段库？</a:t>
            </a:r>
            <a:endParaRPr sz="2400" b="1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170432"/>
            <a:ext cx="7498079" cy="292608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120" b="0">
                <a:solidFill>
                  <a:srgbClr val="5E6B78"/>
                </a:solidFill>
                <a:latin typeface="微软雅黑" panose="020B0503020204020204" charset="-122"/>
              </a:rPr>
              <a:t>这页讲的是数据准备，不是训练本身。要把“切块逻辑”说清楚。</a:t>
            </a:r>
            <a:endParaRPr sz="1120" b="0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527048"/>
            <a:ext cx="11109960" cy="18288"/>
          </a:xfrm>
          <a:prstGeom prst="rect">
            <a:avLst/>
          </a:prstGeom>
          <a:solidFill>
            <a:srgbClr val="D9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847088"/>
            <a:ext cx="5486400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984628"/>
            <a:ext cx="1463040" cy="256032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500" b="1">
                <a:solidFill>
                  <a:srgbClr val="EB7A53"/>
                </a:solidFill>
                <a:latin typeface="微软雅黑" panose="020B0503020204020204" charset="-122"/>
              </a:rPr>
              <a:t>离线解析步骤</a:t>
            </a:r>
            <a:endParaRPr sz="1500" b="1">
              <a:solidFill>
                <a:srgbClr val="EB7A53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96112" y="2359152"/>
            <a:ext cx="4992624" cy="6126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58368" tIns="73152" rIns="109728" bIns="54864" rtlCol="0" anchor="t"/>
          <a:lstStyle/>
          <a:p>
            <a:pPr algn="l"/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先把政务 PDF 按领域分开，避免后面把教育、医疗、出入境混在一起。</a:t>
            </a:r>
            <a:endParaRPr sz="1600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024128" y="2514600"/>
            <a:ext cx="411480" cy="292608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96112" y="3108960"/>
            <a:ext cx="4992624" cy="6126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58368" tIns="73152" rIns="109728" bIns="54864" rtlCol="0" anchor="t"/>
          <a:lstStyle/>
          <a:p>
            <a:pPr algn="l"/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用 PyMuPDF 抽 full_text，再用 few-shot 识别事项标题，同时排除目录页造成的误定位。</a:t>
            </a:r>
            <a:endParaRPr sz="1600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024128" y="3264408"/>
            <a:ext cx="411480" cy="292608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96112" y="3858768"/>
            <a:ext cx="4992624" cy="6126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58368" tIns="73152" rIns="109728" bIns="54864" rtlCol="0" anchor="t"/>
          <a:lstStyle/>
          <a:p>
            <a:pPr algn="l"/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通过标题位置切出事项块，再让更强的大模型抽字段 JSON。</a:t>
            </a:r>
            <a:endParaRPr sz="1600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24128" y="4014216"/>
            <a:ext cx="411480" cy="292608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96112" y="4608576"/>
            <a:ext cx="4992624" cy="6126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58368" tIns="73152" rIns="109728" bIns="54864" rtlCol="0" anchor="t"/>
          <a:lstStyle/>
          <a:p>
            <a:pPr algn="l"/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字段为空时强制标成“未提及”，不给模型后续自由脑补的空间。</a:t>
            </a:r>
            <a:endParaRPr sz="1600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24128" y="4764024"/>
            <a:ext cx="411480" cy="292608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96112" y="5358384"/>
            <a:ext cx="4992624" cy="6126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58368" tIns="73152" rIns="109728" bIns="54864" rtlCol="0" anchor="t"/>
          <a:lstStyle/>
          <a:p>
            <a:pPr algn="l"/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最后再补短字段扩充、事项摘要和关键字段标记，供后面的召回与核验使用。</a:t>
            </a:r>
            <a:endParaRPr sz="1600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24128" y="5513832"/>
            <a:ext cx="411480" cy="292608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05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64224" y="1847088"/>
            <a:ext cx="5212080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事项字段流程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0703" y="1947672"/>
            <a:ext cx="2099121" cy="400507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492240" y="1975104"/>
            <a:ext cx="1170432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事项字段流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6309360"/>
            <a:ext cx="11109960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l"/>
            <a:r>
              <a:rPr sz="1080">
                <a:solidFill>
                  <a:srgbClr val="FFFFFF"/>
                </a:solidFill>
                <a:latin typeface="微软雅黑" panose="020B0503020204020204" charset="-122"/>
              </a:rPr>
              <a:t>讲解抓手：这里最好补一句：面试里说“用 PyMuPDF 解析 PDF”就够，不要陷入具体 API 细节。</a:t>
            </a:r>
            <a:endParaRPr sz="108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621792" cy="256032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0</a:t>
            </a: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lang="en-US"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18120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背景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622792" y="438912"/>
            <a:ext cx="658368" cy="256032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在线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427464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离线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232136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训练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036808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评估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758952"/>
            <a:ext cx="7040880" cy="402336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2400" b="1">
                <a:solidFill>
                  <a:srgbClr val="1F2D3A"/>
                </a:solidFill>
                <a:latin typeface="微软雅黑" panose="020B0503020204020204" charset="-122"/>
              </a:rPr>
              <a:t>为什么要做“事项-字段”双层索引？</a:t>
            </a:r>
            <a:endParaRPr sz="2400" b="1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170432"/>
            <a:ext cx="7498079" cy="292608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120" b="0">
                <a:solidFill>
                  <a:srgbClr val="5E6B78"/>
                </a:solidFill>
                <a:latin typeface="微软雅黑" panose="020B0503020204020204" charset="-122"/>
              </a:rPr>
              <a:t>这是整套检索设计的关键：先定位事项，再回答字段。</a:t>
            </a:r>
            <a:endParaRPr sz="1120" b="0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527048"/>
            <a:ext cx="11109960" cy="18288"/>
          </a:xfrm>
          <a:prstGeom prst="rect">
            <a:avLst/>
          </a:prstGeom>
          <a:solidFill>
            <a:srgbClr val="D9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847088"/>
            <a:ext cx="5084064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字段-事项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561181"/>
            <a:ext cx="4882896" cy="27780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68096" y="1975104"/>
            <a:ext cx="1170432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字段结构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89320" y="1662430"/>
            <a:ext cx="5577840" cy="2305685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754123"/>
            <a:ext cx="2103120" cy="256032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500" b="1">
                <a:solidFill>
                  <a:srgbClr val="123C4A"/>
                </a:solidFill>
                <a:latin typeface="微软雅黑" panose="020B0503020204020204" charset="-122"/>
              </a:rPr>
              <a:t>两类文档各干一件事</a:t>
            </a:r>
            <a:endParaRPr sz="1500" b="1">
              <a:solidFill>
                <a:srgbClr val="123C4A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54496" y="2063242"/>
            <a:ext cx="5047488" cy="1115568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46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事项文档负责“路由”，把 query 先落到正确事项范围里。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6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字段文档负责“精答”，只把办理条件、收费标准、咨询电话等关键片段送给生成模型。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6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先做 Query 归一化再匹配事项，能吸收口语化、错别字和省略表达。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4096131"/>
            <a:ext cx="5577840" cy="2084831"/>
          </a:xfrm>
          <a:prstGeom prst="roundRect">
            <a:avLst/>
          </a:prstGeom>
          <a:solidFill>
            <a:srgbClr val="DD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750" y="4167505"/>
            <a:ext cx="2103120" cy="358140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500" b="1">
                <a:solidFill>
                  <a:srgbClr val="EB7A53"/>
                </a:solidFill>
                <a:latin typeface="微软雅黑" panose="020B0503020204020204" charset="-122"/>
              </a:rPr>
              <a:t>这样设计的直接收益</a:t>
            </a:r>
            <a:endParaRPr sz="1500" b="1">
              <a:solidFill>
                <a:srgbClr val="EB7A53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54750" y="4515485"/>
            <a:ext cx="5029200" cy="1668145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no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43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避免全库检索时把“像答案的句子”错召回到错误事项里。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3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便于后续做 required_slots、critical_slots 和字段级引用验证。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3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也为多事项拆解留下了天然边界：每个子问题只在自己的事项范围内召回。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6309360"/>
            <a:ext cx="11109960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l"/>
            <a:r>
              <a:rPr sz="1080">
                <a:solidFill>
                  <a:srgbClr val="FFFFFF"/>
                </a:solidFill>
                <a:latin typeface="微软雅黑" panose="020B0503020204020204" charset="-122"/>
              </a:rPr>
              <a:t>讲解抓手：把“先找事项，再找字段”说透，后面 QA 与评估都会顺很多。</a:t>
            </a:r>
            <a:endParaRPr sz="108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621792" cy="256032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06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18120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背景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622792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在线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427464" y="438912"/>
            <a:ext cx="658368" cy="256032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离线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232136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训练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036808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评估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758952"/>
            <a:ext cx="7040880" cy="496570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2400" b="1">
                <a:solidFill>
                  <a:srgbClr val="1F2D3A"/>
                </a:solidFill>
                <a:latin typeface="微软雅黑" panose="020B0503020204020204" charset="-122"/>
              </a:rPr>
              <a:t>基于事项字段构建 QA：</a:t>
            </a:r>
            <a:r>
              <a:rPr lang="en-US" sz="2400" b="1">
                <a:solidFill>
                  <a:srgbClr val="1F2D3A"/>
                </a:solidFill>
                <a:latin typeface="微软雅黑" panose="020B0503020204020204" charset="-122"/>
              </a:rPr>
              <a:t>QA</a:t>
            </a:r>
            <a:r>
              <a:rPr sz="2400" b="1">
                <a:solidFill>
                  <a:srgbClr val="1F2D3A"/>
                </a:solidFill>
                <a:latin typeface="微软雅黑" panose="020B0503020204020204" charset="-122"/>
              </a:rPr>
              <a:t>怎么来的？</a:t>
            </a:r>
            <a:endParaRPr sz="2400" b="1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170432"/>
            <a:ext cx="7498079" cy="292608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120" b="0">
                <a:solidFill>
                  <a:srgbClr val="5E6B78"/>
                </a:solidFill>
                <a:latin typeface="微软雅黑" panose="020B0503020204020204" charset="-122"/>
              </a:rPr>
              <a:t>这里强调“证据单元”这个中间层，因为它决定了 QA 的可控性。</a:t>
            </a:r>
            <a:endParaRPr sz="1120" b="0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527048"/>
            <a:ext cx="11109960" cy="18288"/>
          </a:xfrm>
          <a:prstGeom prst="rect">
            <a:avLst/>
          </a:prstGeom>
          <a:solidFill>
            <a:srgbClr val="D9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847088"/>
            <a:ext cx="4901184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A构建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61" y="1947672"/>
            <a:ext cx="3276391" cy="40050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68096" y="1975104"/>
            <a:ext cx="1170432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QA 构建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797550" y="1847215"/>
            <a:ext cx="5518785" cy="375793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证据单元生成的QA.png"/>
          <p:cNvPicPr>
            <a:picLocks noChangeAspect="1"/>
          </p:cNvPicPr>
          <p:nvPr/>
        </p:nvPicPr>
        <p:blipFill>
          <a:blip r:embed="rId2"/>
          <a:srcRect r="14770"/>
          <a:stretch>
            <a:fillRect/>
          </a:stretch>
        </p:blipFill>
        <p:spPr>
          <a:xfrm>
            <a:off x="5847715" y="2378075"/>
            <a:ext cx="5418455" cy="292417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925312" y="1975104"/>
            <a:ext cx="1170432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QA 示例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6309360"/>
            <a:ext cx="11109960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l"/>
            <a:r>
              <a:rPr sz="1080">
                <a:solidFill>
                  <a:srgbClr val="FFFFFF"/>
                </a:solidFill>
                <a:latin typeface="微软雅黑" panose="020B0503020204020204" charset="-122"/>
              </a:rPr>
              <a:t>讲解抓手：面试官如果追问 QA 质量，你就回到“证据单元 + 人工修正”这两个控制点。</a:t>
            </a:r>
            <a:endParaRPr sz="108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621792" cy="256032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07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18120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背景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622792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在线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427464" y="438912"/>
            <a:ext cx="658368" cy="256032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离线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232136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训练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036808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评估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758825"/>
            <a:ext cx="8293100" cy="496570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2400" b="1">
                <a:solidFill>
                  <a:srgbClr val="1F2D3A"/>
                </a:solidFill>
                <a:latin typeface="微软雅黑" panose="020B0503020204020204" charset="-122"/>
              </a:rPr>
              <a:t>QA 处理与泛化清洗：</a:t>
            </a:r>
            <a:r>
              <a:rPr lang="zh-CN" sz="2400" b="1">
                <a:solidFill>
                  <a:srgbClr val="1F2D3A"/>
                </a:solidFill>
                <a:latin typeface="微软雅黑" panose="020B0503020204020204" charset="-122"/>
              </a:rPr>
              <a:t>如何对数据进行扩充</a:t>
            </a:r>
            <a:r>
              <a:rPr sz="2400" b="1">
                <a:solidFill>
                  <a:srgbClr val="1F2D3A"/>
                </a:solidFill>
                <a:latin typeface="微软雅黑" panose="020B0503020204020204" charset="-122"/>
              </a:rPr>
              <a:t>？</a:t>
            </a:r>
            <a:endParaRPr sz="2400" b="1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170432"/>
            <a:ext cx="7498079" cy="292608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120" b="0">
                <a:solidFill>
                  <a:srgbClr val="5E6B78"/>
                </a:solidFill>
                <a:latin typeface="微软雅黑" panose="020B0503020204020204" charset="-122"/>
              </a:rPr>
              <a:t>这页把数字链路讲清即可：原始挖掘、切分、泛化、清洗。</a:t>
            </a:r>
            <a:endParaRPr sz="1120" b="0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527048"/>
            <a:ext cx="11109960" cy="18288"/>
          </a:xfrm>
          <a:prstGeom prst="rect">
            <a:avLst/>
          </a:prstGeom>
          <a:solidFill>
            <a:srgbClr val="D9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847088"/>
            <a:ext cx="5084064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A处理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2517" y="1947672"/>
            <a:ext cx="3079189" cy="40050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68096" y="1975104"/>
            <a:ext cx="1170432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QA 处理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989320" y="1993392"/>
            <a:ext cx="1517904" cy="804672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54864" rtlCol="0" anchor="t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7,000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r>
              <a:rPr sz="1050">
                <a:solidFill>
                  <a:srgbClr val="FFFFFF"/>
                </a:solidFill>
                <a:latin typeface="微软雅黑" panose="020B0503020204020204" charset="-122"/>
              </a:rPr>
              <a:t>初始 QA</a:t>
            </a:r>
            <a:endParaRPr sz="105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653527" y="1993392"/>
            <a:ext cx="1517904" cy="804672"/>
          </a:xfrm>
          <a:prstGeom prst="roundRect">
            <a:avLst/>
          </a:prstGeom>
          <a:solidFill>
            <a:srgbClr val="356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54864" rtlCol="0" anchor="t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5,000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r>
              <a:rPr sz="1050">
                <a:solidFill>
                  <a:srgbClr val="FFFFFF"/>
                </a:solidFill>
                <a:latin typeface="微软雅黑" panose="020B0503020204020204" charset="-122"/>
              </a:rPr>
              <a:t>过滤后原始 QA</a:t>
            </a:r>
            <a:endParaRPr sz="105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317736" y="1993392"/>
            <a:ext cx="1517904" cy="804672"/>
          </a:xfrm>
          <a:prstGeom prst="round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54864" rtlCol="0" anchor="t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F2D3A"/>
                </a:solidFill>
                <a:latin typeface="微软雅黑" panose="020B0503020204020204" charset="-122"/>
              </a:rPr>
              <a:t>4k / 1k</a:t>
            </a:r>
            <a:endParaRPr sz="2000" b="1">
              <a:solidFill>
                <a:srgbClr val="1F2D3A"/>
              </a:solidFill>
              <a:latin typeface="微软雅黑" panose="020B0503020204020204" charset="-122"/>
            </a:endParaRPr>
          </a:p>
          <a:p>
            <a:r>
              <a:rPr sz="1050">
                <a:solidFill>
                  <a:srgbClr val="1F2D3A"/>
                </a:solidFill>
                <a:latin typeface="微软雅黑" panose="020B0503020204020204" charset="-122"/>
              </a:rPr>
              <a:t>训练 / 测试种子</a:t>
            </a:r>
            <a:endParaRPr sz="1050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989320" y="3017520"/>
            <a:ext cx="1517904" cy="804672"/>
          </a:xfrm>
          <a:prstGeom prst="roundRect">
            <a:avLst/>
          </a:prstGeom>
          <a:solidFill>
            <a:srgbClr val="7A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54864" rtlCol="0" anchor="t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20,000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r>
              <a:rPr sz="1050">
                <a:solidFill>
                  <a:srgbClr val="FFFFFF"/>
                </a:solidFill>
                <a:latin typeface="微软雅黑" panose="020B0503020204020204" charset="-122"/>
              </a:rPr>
              <a:t>泛化 Query</a:t>
            </a:r>
            <a:endParaRPr sz="105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653527" y="3017520"/>
            <a:ext cx="1517904" cy="804672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54864" rtlCol="0" anchor="t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15,000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r>
              <a:rPr sz="1050">
                <a:solidFill>
                  <a:srgbClr val="FFFFFF"/>
                </a:solidFill>
                <a:latin typeface="微软雅黑" panose="020B0503020204020204" charset="-122"/>
              </a:rPr>
              <a:t>清洗后保留</a:t>
            </a:r>
            <a:endParaRPr sz="105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317736" y="3017520"/>
            <a:ext cx="1517904" cy="804672"/>
          </a:xfrm>
          <a:prstGeom prst="roundRect">
            <a:avLst/>
          </a:prstGeom>
          <a:solidFill>
            <a:srgbClr val="A45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54864" rtlCol="0" anchor="t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DPO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r>
              <a:rPr sz="1050">
                <a:solidFill>
                  <a:srgbClr val="FFFFFF"/>
                </a:solidFill>
                <a:latin typeface="微软雅黑" panose="020B0503020204020204" charset="-122"/>
              </a:rPr>
              <a:t>错改样本回收</a:t>
            </a:r>
            <a:endParaRPr sz="105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989320" y="4078224"/>
            <a:ext cx="4846320" cy="184708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4157345"/>
            <a:ext cx="1097280" cy="237744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500" b="1">
                <a:solidFill>
                  <a:srgbClr val="123C4A"/>
                </a:solidFill>
                <a:latin typeface="微软雅黑" panose="020B0503020204020204" charset="-122"/>
              </a:rPr>
              <a:t>关键原则</a:t>
            </a:r>
            <a:endParaRPr sz="1500" b="1">
              <a:solidFill>
                <a:srgbClr val="123C4A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13145" y="4394835"/>
            <a:ext cx="4599305" cy="1610995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no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42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严格在泛化前做 8:2 切分，防止训练 / 测试泄露。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2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训练集多做口语化、同义改写和省略风格；测试集只做极轻量泛化。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2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被 LLM 改坏的样本不是废料，而是后续 DPO 的天然 badcase 来源。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6309360"/>
            <a:ext cx="11109960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l"/>
            <a:r>
              <a:rPr sz="1080">
                <a:solidFill>
                  <a:srgbClr val="FFFFFF"/>
                </a:solidFill>
                <a:latin typeface="微软雅黑" panose="020B0503020204020204" charset="-122"/>
              </a:rPr>
              <a:t>讲解抓手：数字最好一口气报完：7000 → 5000 → 4000/1000 → 20000 → 15000。</a:t>
            </a:r>
            <a:endParaRPr sz="108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621792" cy="256032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08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18120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背景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622792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在线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427464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离线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232136" y="438912"/>
            <a:ext cx="658368" cy="256032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训练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036808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评估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758952"/>
            <a:ext cx="7040880" cy="402336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2400" b="1">
                <a:solidFill>
                  <a:srgbClr val="1F2D3A"/>
                </a:solidFill>
                <a:latin typeface="微软雅黑" panose="020B0503020204020204" charset="-122"/>
              </a:rPr>
              <a:t>Bert-Tiny 训练数据：先把系统边界守住</a:t>
            </a:r>
            <a:endParaRPr sz="2400" b="1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170432"/>
            <a:ext cx="7498079" cy="292608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120" b="0">
                <a:solidFill>
                  <a:srgbClr val="5E6B78"/>
                </a:solidFill>
                <a:latin typeface="微软雅黑" panose="020B0503020204020204" charset="-122"/>
              </a:rPr>
              <a:t>它不是回答问题的主角，但它决定了哪些 query 根本不该进检索。</a:t>
            </a:r>
            <a:endParaRPr sz="1120" b="0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527048"/>
            <a:ext cx="11109960" cy="18288"/>
          </a:xfrm>
          <a:prstGeom prst="rect">
            <a:avLst/>
          </a:prstGeom>
          <a:solidFill>
            <a:srgbClr val="D9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847088"/>
            <a:ext cx="5541264" cy="4206240"/>
          </a:xfrm>
          <a:prstGeom prst="roundRect">
            <a:avLst/>
          </a:prstGeom>
          <a:solidFill>
            <a:srgbClr val="DD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948433"/>
            <a:ext cx="1097280" cy="237744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500" b="1">
                <a:solidFill>
                  <a:srgbClr val="EB7A53"/>
                </a:solidFill>
                <a:latin typeface="微软雅黑" panose="020B0503020204020204" charset="-122"/>
              </a:rPr>
              <a:t>训练思路</a:t>
            </a:r>
            <a:endParaRPr sz="1500" b="1">
              <a:solidFill>
                <a:srgbClr val="EB7A53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2249297"/>
            <a:ext cx="5047488" cy="2084831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41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正样本来自政务 QA，本身就带有领域属性。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1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负样本分两类：Far-OOD 来自天气/新闻/闲聊，Near-OOD 刻意模拟税务、交管、工商这类“像政务但不在范围”的 query。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1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Near-OOD 很关键，因为它比闲聊更接近真实线上误判场景。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1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模型只有 4.4M 参数，做二分类足够轻，适合作为线上前置闸门。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1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训练配置是 BCE Loss、batch_size=64、lr=2e-5、10 个 epoch。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82312"/>
            <a:ext cx="5047488" cy="10789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91710"/>
            <a:ext cx="4754880" cy="942340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no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34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验证集 Acc / F1 都在 97% 以上。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34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线上阈值压到 0.35，策略是“宁可让大模型再判断一次，也不愿意把真政务 query 错杀”。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847088"/>
            <a:ext cx="5138928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ert分类模型训练数据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2303" y="1947672"/>
            <a:ext cx="3687361" cy="400507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574536" y="1975104"/>
            <a:ext cx="1170432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Bert 数据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6309360"/>
            <a:ext cx="11109960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l"/>
            <a:r>
              <a:rPr sz="1080">
                <a:solidFill>
                  <a:srgbClr val="FFFFFF"/>
                </a:solidFill>
                <a:latin typeface="微软雅黑" panose="020B0503020204020204" charset="-122"/>
              </a:rPr>
              <a:t>讲解抓手：这一页要强调“边界感知”，不是单纯报一个分类准确率。</a:t>
            </a:r>
            <a:endParaRPr sz="108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621792" cy="256032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09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18120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背景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622792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在线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427464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离线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232136" y="438912"/>
            <a:ext cx="658368" cy="256032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训练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036808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评估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758825"/>
            <a:ext cx="7955280" cy="496570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2400" b="1">
                <a:solidFill>
                  <a:srgbClr val="1F2D3A"/>
                </a:solidFill>
                <a:latin typeface="微软雅黑" panose="020B0503020204020204" charset="-122"/>
              </a:rPr>
              <a:t>Reranker 训练数据：让正确字段更稳定地进入 top-</a:t>
            </a:r>
            <a:r>
              <a:rPr lang="en-US" sz="2400" b="1">
                <a:solidFill>
                  <a:srgbClr val="1F2D3A"/>
                </a:solidFill>
                <a:latin typeface="微软雅黑" panose="020B0503020204020204" charset="-122"/>
              </a:rPr>
              <a:t>k</a:t>
            </a:r>
            <a:endParaRPr lang="en-US" sz="2400" b="1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170432"/>
            <a:ext cx="7498079" cy="292608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120" b="0">
                <a:solidFill>
                  <a:srgbClr val="5E6B78"/>
                </a:solidFill>
                <a:latin typeface="微软雅黑" panose="020B0503020204020204" charset="-122"/>
              </a:rPr>
              <a:t>讲清楚正样本、硬负样本、易负样本的来源，面试官会更信。</a:t>
            </a:r>
            <a:endParaRPr sz="1120" b="0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527048"/>
            <a:ext cx="11109960" cy="18288"/>
          </a:xfrm>
          <a:prstGeom prst="rect">
            <a:avLst/>
          </a:prstGeom>
          <a:solidFill>
            <a:srgbClr val="D9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847088"/>
            <a:ext cx="5303520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ranker训练数据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184822"/>
            <a:ext cx="5102352" cy="353077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68096" y="1975104"/>
            <a:ext cx="1170432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Reranker 数据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99632" y="1847088"/>
            <a:ext cx="5376672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084831"/>
            <a:ext cx="1645920" cy="237744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500" b="1">
                <a:solidFill>
                  <a:srgbClr val="123C4A"/>
                </a:solidFill>
                <a:latin typeface="微软雅黑" panose="020B0503020204020204" charset="-122"/>
              </a:rPr>
              <a:t>数据构造逻辑</a:t>
            </a:r>
            <a:endParaRPr sz="1500" b="1">
              <a:solidFill>
                <a:srgbClr val="123C4A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46520" y="2377440"/>
            <a:ext cx="4900930" cy="3236595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no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41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先让更强的大模型按完整 RAG 流程跑一遍，把 query-document 对沉淀下来。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1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ground_truth_chunk 记为 2 分，rerank top-5 里随机错项记为 1 分，其它尾部样本记为 0 分。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1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这样不只是在学“相关/不相关”，而是在学“哪个更该排在前面”。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1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基座是 BGE-Reranker-Base，Pointwise 三分类，CrossEntropy Loss。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1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线上价值直接体现在 Hit@5：正确答案有 96% 概率进入精排 top-5。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6309360"/>
            <a:ext cx="11109960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l"/>
            <a:r>
              <a:rPr sz="1080">
                <a:solidFill>
                  <a:srgbClr val="FFFFFF"/>
                </a:solidFill>
                <a:latin typeface="微软雅黑" panose="020B0503020204020204" charset="-122"/>
              </a:rPr>
              <a:t>讲解抓手：如果被问为什么 top-5 这么少，就回到“单事项路径”和“多事项拆解路径”区分。</a:t>
            </a:r>
            <a:endParaRPr sz="108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621792" cy="256032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10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18120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背景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622792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在线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427464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离线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232136" y="438912"/>
            <a:ext cx="658368" cy="256032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训练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036808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评估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758952"/>
            <a:ext cx="7040880" cy="402336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2400" b="1">
                <a:solidFill>
                  <a:srgbClr val="1F2D3A"/>
                </a:solidFill>
                <a:latin typeface="微软雅黑" panose="020B0503020204020204" charset="-122"/>
              </a:rPr>
              <a:t>问答模型：SFT 锁格式，DPO 纠偏拒答</a:t>
            </a:r>
            <a:endParaRPr sz="2400" b="1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170432"/>
            <a:ext cx="7498079" cy="292608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120" b="0">
                <a:solidFill>
                  <a:srgbClr val="5E6B78"/>
                </a:solidFill>
                <a:latin typeface="微软雅黑" panose="020B0503020204020204" charset="-122"/>
              </a:rPr>
              <a:t>这一页不要泛讲微调原理，重点是训练目标和收益。</a:t>
            </a:r>
            <a:endParaRPr sz="1120" b="0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527048"/>
            <a:ext cx="11109960" cy="18288"/>
          </a:xfrm>
          <a:prstGeom prst="rect">
            <a:avLst/>
          </a:prstGeom>
          <a:solidFill>
            <a:srgbClr val="D9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847088"/>
            <a:ext cx="5559552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985" y="1948180"/>
            <a:ext cx="4003040" cy="358140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500" b="1">
                <a:solidFill>
                  <a:srgbClr val="EB7A53"/>
                </a:solidFill>
                <a:latin typeface="微软雅黑" panose="020B0503020204020204" charset="-122"/>
              </a:rPr>
              <a:t>SFT：先把回答格式和字段复制行为锁住</a:t>
            </a:r>
            <a:endParaRPr sz="1500" b="1">
              <a:solidFill>
                <a:srgbClr val="EB7A53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5985" y="2359025"/>
            <a:ext cx="5047615" cy="1743075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no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42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拿 15,000 条 Query 跑一遍线上 RAG，</a:t>
            </a:r>
            <a:r>
              <a:rPr lang="zh-CN"/>
              <a:t>获得完整轨迹。</a:t>
            </a:r>
            <a:endParaRPr lang="zh-CN"/>
          </a:p>
          <a:p>
            <a:pPr>
              <a:lnSpc>
                <a:spcPct val="118000"/>
              </a:lnSpc>
              <a:spcAft>
                <a:spcPts val="800"/>
              </a:spcAft>
              <a:defRPr sz="142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让更强的 Teacher 生成带 `【引用N·字段名】` 的标准回答，作为 Qwen3-8B 的监督数据。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2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SFT 重点强化金额、电话、地址、时限等关键字段“原文复制”，减少幻觉和换算。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334637"/>
            <a:ext cx="5047488" cy="1572768"/>
          </a:xfrm>
          <a:prstGeom prst="roundRect">
            <a:avLst/>
          </a:prstGeom>
          <a:solidFill>
            <a:srgbClr val="DD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695" y="4323715"/>
            <a:ext cx="5113020" cy="358140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500" b="1">
                <a:solidFill>
                  <a:srgbClr val="123C4A"/>
                </a:solidFill>
                <a:latin typeface="微软雅黑" panose="020B0503020204020204" charset="-122"/>
              </a:rPr>
              <a:t>DPO：再专门修“本不该答却答了”的 badcase</a:t>
            </a:r>
            <a:endParaRPr sz="1500" b="1">
              <a:solidFill>
                <a:srgbClr val="123C4A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4458" y="4629023"/>
            <a:ext cx="4608576" cy="841248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38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从测试集和模拟对话里收集约 500 条 badcase，构造成 chosen / rejected 偏好对。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38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收益很明确：拒答测试集准确率从 82% 提升到 95%，正常问答准确率仅从 93% 微降到 92.5%。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630" y="2326640"/>
            <a:ext cx="5434965" cy="359283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测试集的一个示例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7800" y="2889885"/>
            <a:ext cx="5048885" cy="263906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565392" y="2514854"/>
            <a:ext cx="1170432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监督样例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6309360"/>
            <a:ext cx="11109960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l"/>
            <a:r>
              <a:rPr sz="1080">
                <a:solidFill>
                  <a:srgbClr val="FFFFFF"/>
                </a:solidFill>
                <a:latin typeface="微软雅黑" panose="020B0503020204020204" charset="-122"/>
              </a:rPr>
              <a:t>讲解抓手：这页重点是“训练目标拆分”：SFT 管格式与复制，DPO 管拒答与边界。</a:t>
            </a:r>
            <a:endParaRPr sz="108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621792" cy="256032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11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18120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背景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622792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在线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427464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离线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232136" y="438912"/>
            <a:ext cx="658368" cy="256032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训练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036808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评估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758952"/>
            <a:ext cx="7040880" cy="402336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2400" b="1">
                <a:solidFill>
                  <a:srgbClr val="1F2D3A"/>
                </a:solidFill>
                <a:latin typeface="微软雅黑" panose="020B0503020204020204" charset="-122"/>
              </a:rPr>
              <a:t>后处理：为什么还要做关键字段蕴含验证？</a:t>
            </a:r>
            <a:endParaRPr sz="2400" b="1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170432"/>
            <a:ext cx="7498079" cy="292608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120" b="0">
                <a:solidFill>
                  <a:srgbClr val="5E6B78"/>
                </a:solidFill>
                <a:latin typeface="微软雅黑" panose="020B0503020204020204" charset="-122"/>
              </a:rPr>
              <a:t>因为即便召回正确，也不能默认模型对金额、时限、电话的复述完全可靠。</a:t>
            </a:r>
            <a:endParaRPr sz="1120" b="0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527048"/>
            <a:ext cx="11109960" cy="18288"/>
          </a:xfrm>
          <a:prstGeom prst="rect">
            <a:avLst/>
          </a:prstGeom>
          <a:solidFill>
            <a:srgbClr val="D9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52360" y="1847088"/>
            <a:ext cx="4114800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在线流程-后处理裁剪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775" y="1947672"/>
            <a:ext cx="2349968" cy="40050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580376" y="1975104"/>
            <a:ext cx="1170432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生成后校验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8368" y="1847088"/>
            <a:ext cx="6473952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066543"/>
            <a:ext cx="2560320" cy="256032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500" b="1">
                <a:solidFill>
                  <a:srgbClr val="EB7A53"/>
                </a:solidFill>
                <a:latin typeface="微软雅黑" panose="020B0503020204020204" charset="-122"/>
              </a:rPr>
              <a:t>NLI 校验只盯“高风险字段”</a:t>
            </a:r>
            <a:endParaRPr sz="1500" b="1">
              <a:solidFill>
                <a:srgbClr val="EB7A53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96112" y="2395728"/>
            <a:ext cx="5998464" cy="6217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58368" tIns="73152" rIns="109728" bIns="54864" rtlCol="0" anchor="t"/>
          <a:lstStyle/>
          <a:p>
            <a:pPr algn="l"/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先从答案里的 `【引用N·字段名】` 读出字段名，只对“收费标准”“咨询电话”等高风险字段触发校验。</a:t>
            </a:r>
            <a:endParaRPr sz="1600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24128" y="2551176"/>
            <a:ext cx="411480" cy="292608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96112" y="3145536"/>
            <a:ext cx="5998464" cy="6217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58368" tIns="73152" rIns="109728" bIns="54864" rtlCol="0" anchor="t"/>
          <a:lstStyle/>
          <a:p>
            <a:pPr algn="l"/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截取涉及该字段的</a:t>
            </a:r>
            <a:r>
              <a:rPr lang="zh-CN" sz="1600">
                <a:solidFill>
                  <a:srgbClr val="1F2D3A"/>
                </a:solidFill>
                <a:latin typeface="微软雅黑" panose="020B0503020204020204" charset="-122"/>
              </a:rPr>
              <a:t>文本</a:t>
            </a:r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做 hypothesis</a:t>
            </a:r>
            <a:r>
              <a:rPr lang="zh-CN" sz="1600">
                <a:solidFill>
                  <a:srgbClr val="1F2D3A"/>
                </a:solidFill>
                <a:latin typeface="微软雅黑" panose="020B0503020204020204" charset="-122"/>
              </a:rPr>
              <a:t>，将抽取文本与召回的</a:t>
            </a:r>
            <a:r>
              <a:rPr lang="en-US" altLang="zh-CN" sz="1600">
                <a:solidFill>
                  <a:srgbClr val="1F2D3A"/>
                </a:solidFill>
                <a:latin typeface="微软雅黑" panose="020B0503020204020204" charset="-122"/>
              </a:rPr>
              <a:t>Context</a:t>
            </a:r>
            <a:r>
              <a:rPr lang="zh-CN" altLang="en-US" sz="1600">
                <a:solidFill>
                  <a:srgbClr val="1F2D3A"/>
                </a:solidFill>
                <a:latin typeface="微软雅黑" panose="020B0503020204020204" charset="-122"/>
              </a:rPr>
              <a:t>进行蕴含验证。</a:t>
            </a:r>
            <a:endParaRPr lang="zh-CN" altLang="en-US" sz="1600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24128" y="3300984"/>
            <a:ext cx="411480" cy="292608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96112" y="3895344"/>
            <a:ext cx="5998464" cy="6217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58368" tIns="73152" rIns="109728" bIns="54864" rtlCol="0" anchor="t"/>
          <a:lstStyle/>
          <a:p>
            <a:pPr algn="l"/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用召回 chunk 原文做 premise，跑 entail / contradiction / neutral 三分类。</a:t>
            </a:r>
            <a:endParaRPr sz="1600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24128" y="4050791"/>
            <a:ext cx="411480" cy="292608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96112" y="4645152"/>
            <a:ext cx="5998464" cy="6217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58368" tIns="73152" rIns="109728" bIns="54864" rtlCol="0" anchor="t"/>
          <a:lstStyle/>
          <a:p>
            <a:pPr algn="l"/>
            <a:r>
              <a:rPr sz="1600">
                <a:solidFill>
                  <a:srgbClr val="1F2D3A"/>
                </a:solidFill>
                <a:latin typeface="微软雅黑" panose="020B0503020204020204" charset="-122"/>
              </a:rPr>
              <a:t>若是矛盾或中立，就在答案末尾追加提示：请以官方公示为准。</a:t>
            </a:r>
            <a:endParaRPr sz="1600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24128" y="4800600"/>
            <a:ext cx="411480" cy="292608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96112" y="5486400"/>
            <a:ext cx="5998464" cy="384048"/>
          </a:xfrm>
          <a:prstGeom prst="roundRect">
            <a:avLst/>
          </a:prstGeom>
          <a:solidFill>
            <a:srgbClr val="DD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5550535"/>
            <a:ext cx="5596128" cy="164592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180" b="0">
                <a:solidFill>
                  <a:srgbClr val="123C4A"/>
                </a:solidFill>
                <a:latin typeface="微软雅黑" panose="020B0503020204020204" charset="-122"/>
              </a:rPr>
              <a:t>不用正则匹配，是因为金额格式、多值场景和跨 chunk 合并都太脆。</a:t>
            </a:r>
            <a:endParaRPr sz="1180" b="0">
              <a:solidFill>
                <a:srgbClr val="123C4A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6309360"/>
            <a:ext cx="11109960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l"/>
            <a:r>
              <a:rPr sz="1080">
                <a:solidFill>
                  <a:srgbClr val="FFFFFF"/>
                </a:solidFill>
                <a:latin typeface="微软雅黑" panose="020B0503020204020204" charset="-122"/>
              </a:rPr>
              <a:t>讲解抓手：把这一步定义成“高风险字段保险丝”，比单说后处理更容易让人记住。</a:t>
            </a:r>
            <a:endParaRPr sz="108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621792" cy="256032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12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18120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背景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622792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在线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427464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离线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232136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训练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036808" y="438912"/>
            <a:ext cx="658368" cy="256032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评估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758952"/>
            <a:ext cx="7040880" cy="402336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2400" b="1">
                <a:solidFill>
                  <a:srgbClr val="1F2D3A"/>
                </a:solidFill>
                <a:latin typeface="微软雅黑" panose="020B0503020204020204" charset="-122"/>
              </a:rPr>
              <a:t>评估：怎么证明这套系统真的可用？</a:t>
            </a:r>
            <a:endParaRPr sz="2400" b="1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170432"/>
            <a:ext cx="7498079" cy="292608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120" b="0">
                <a:solidFill>
                  <a:srgbClr val="5E6B78"/>
                </a:solidFill>
                <a:latin typeface="微软雅黑" panose="020B0503020204020204" charset="-122"/>
              </a:rPr>
              <a:t>先讲测试集风险，再讲模块指标和系统指标，逻辑会更完整。</a:t>
            </a:r>
            <a:endParaRPr sz="1120" b="0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527048"/>
            <a:ext cx="11109960" cy="18288"/>
          </a:xfrm>
          <a:prstGeom prst="rect">
            <a:avLst/>
          </a:prstGeom>
          <a:solidFill>
            <a:srgbClr val="D9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847088"/>
            <a:ext cx="4626864" cy="199339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测试集的一个示例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80" y="1947672"/>
            <a:ext cx="3428862" cy="179222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68096" y="1975104"/>
            <a:ext cx="1170432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测试样例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4059936"/>
            <a:ext cx="4626864" cy="1993392"/>
          </a:xfrm>
          <a:prstGeom prst="roundRect">
            <a:avLst/>
          </a:prstGeom>
          <a:solidFill>
            <a:srgbClr val="F7E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4279392"/>
            <a:ext cx="3291840" cy="256032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500" b="1">
                <a:solidFill>
                  <a:srgbClr val="EB7A53"/>
                </a:solidFill>
                <a:latin typeface="微软雅黑" panose="020B0503020204020204" charset="-122"/>
              </a:rPr>
              <a:t>测试集不能只靠 LLM 自己写自己测</a:t>
            </a:r>
            <a:endParaRPr sz="1500" b="1">
              <a:solidFill>
                <a:srgbClr val="EB7A53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7570" y="4572000"/>
            <a:ext cx="4151630" cy="1382395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no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28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从 QA 切出来的测试集会有同质化偏差，最后可能只是在测模型像不像 Teacher。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28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所以要额外引入 Golden Test Set：从</a:t>
            </a:r>
            <a:r>
              <a:rPr lang="zh-CN"/>
              <a:t>线上或</a:t>
            </a:r>
            <a:r>
              <a:t>12345 热线记录里清洗人类 query，并手工打 critical slots 标签；上线指标也必须以它为准。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22976" y="1847088"/>
            <a:ext cx="6053328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系统与模块评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456" y="1947672"/>
            <a:ext cx="2574366" cy="400507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650992" y="1975104"/>
            <a:ext cx="1170432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评估框架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6309360"/>
            <a:ext cx="11109960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l"/>
            <a:r>
              <a:rPr sz="1080">
                <a:solidFill>
                  <a:srgbClr val="FFFFFF"/>
                </a:solidFill>
                <a:latin typeface="微软雅黑" panose="020B0503020204020204" charset="-122"/>
              </a:rPr>
              <a:t>讲解抓手：这里收尾时要把三层指标串起来：模块能力、问答质量、系统安全性。</a:t>
            </a:r>
            <a:endParaRPr sz="108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38912"/>
            <a:ext cx="621792" cy="256032"/>
          </a:xfrm>
          <a:prstGeom prst="roundRect">
            <a:avLst/>
          </a:prstGeom>
          <a:solidFill>
            <a:srgbClr val="EB7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13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18120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背景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622792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在线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427464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离线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232136" y="438912"/>
            <a:ext cx="658368" cy="256032"/>
          </a:xfrm>
          <a:prstGeom prst="roundRect">
            <a:avLst/>
          </a:prstGeom>
          <a:solidFill>
            <a:srgbClr val="E8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5E6B78"/>
                </a:solidFill>
                <a:latin typeface="微软雅黑" panose="020B0503020204020204" charset="-122"/>
              </a:rPr>
              <a:t>训练</a:t>
            </a:r>
            <a:endParaRPr sz="1000" b="1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036808" y="438912"/>
            <a:ext cx="658368" cy="256032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评估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758952"/>
            <a:ext cx="7040880" cy="402336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2400" b="1">
                <a:solidFill>
                  <a:srgbClr val="1F2D3A"/>
                </a:solidFill>
                <a:latin typeface="微软雅黑" panose="020B0503020204020204" charset="-122"/>
              </a:rPr>
              <a:t>模块指标与系统指标：最后看哪些数？</a:t>
            </a:r>
            <a:endParaRPr sz="2400" b="1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1170432"/>
            <a:ext cx="7498079" cy="292608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120" b="0">
                <a:solidFill>
                  <a:srgbClr val="5E6B78"/>
                </a:solidFill>
                <a:latin typeface="微软雅黑" panose="020B0503020204020204" charset="-122"/>
              </a:rPr>
              <a:t>如果面试时间够，再补这一页，会让你的评估部分更完整。</a:t>
            </a:r>
            <a:endParaRPr sz="1120" b="0">
              <a:solidFill>
                <a:srgbClr val="5E6B7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527048"/>
            <a:ext cx="11109960" cy="18288"/>
          </a:xfrm>
          <a:prstGeom prst="rect">
            <a:avLst/>
          </a:prstGeom>
          <a:solidFill>
            <a:srgbClr val="D9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847088"/>
            <a:ext cx="3675887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066543"/>
            <a:ext cx="822960" cy="237744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500" b="1">
                <a:solidFill>
                  <a:srgbClr val="EB7A53"/>
                </a:solidFill>
                <a:latin typeface="微软雅黑" panose="020B0503020204020204" charset="-122"/>
              </a:rPr>
              <a:t>模块层</a:t>
            </a:r>
            <a:endParaRPr sz="1500" b="1">
              <a:solidFill>
                <a:srgbClr val="EB7A53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5985" y="2359025"/>
            <a:ext cx="3181985" cy="2603500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no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40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领域分类准确率：query 是否被正确挡在系统边界内。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0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跨地区拒答准确率：覆盖范围外的问题能否稳拒答。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0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子问题拆解覆盖率：复杂 query 拆出来的事项是否齐全。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40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Hit@5：正确答案进精排 top-5 的概率。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1847088"/>
            <a:ext cx="3127248" cy="4206240"/>
          </a:xfrm>
          <a:prstGeom prst="roundRect">
            <a:avLst/>
          </a:prstGeom>
          <a:solidFill>
            <a:srgbClr val="DD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2066543"/>
            <a:ext cx="822960" cy="237744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500" b="1">
                <a:solidFill>
                  <a:srgbClr val="123C4A"/>
                </a:solidFill>
                <a:latin typeface="微软雅黑" panose="020B0503020204020204" charset="-122"/>
              </a:rPr>
              <a:t>问答层</a:t>
            </a:r>
            <a:endParaRPr sz="1500" b="1">
              <a:solidFill>
                <a:srgbClr val="123C4A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91710" y="2359025"/>
            <a:ext cx="2670175" cy="2416810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no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  <a:defRPr sz="138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Context Recall / Precision：看召回上下文是否足够且不冗余。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38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ROUGE / BLEU：看输出和标准答案在字面上的贴合度。</a:t>
            </a:r>
          </a:p>
          <a:p>
            <a:pPr>
              <a:lnSpc>
                <a:spcPct val="118000"/>
              </a:lnSpc>
              <a:spcAft>
                <a:spcPts val="800"/>
              </a:spcAft>
              <a:defRPr sz="1380">
                <a:solidFill>
                  <a:srgbClr val="1F2D3A"/>
                </a:solidFill>
                <a:latin typeface="微软雅黑" panose="020B0503020204020204" charset="-122"/>
              </a:defRPr>
            </a:pPr>
            <a:r>
              <a:t>• 这层指标只能说明“答得像不像”，不能单独代表安全。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0416" y="1847088"/>
            <a:ext cx="3675887" cy="4206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9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066543"/>
            <a:ext cx="822960" cy="237744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500" b="1">
                <a:solidFill>
                  <a:srgbClr val="EB7A53"/>
                </a:solidFill>
                <a:latin typeface="微软雅黑" panose="020B0503020204020204" charset="-122"/>
              </a:rPr>
              <a:t>系统层</a:t>
            </a:r>
            <a:endParaRPr sz="1500" b="1">
              <a:solidFill>
                <a:srgbClr val="EB7A53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11185" y="2414270"/>
            <a:ext cx="2907665" cy="1974850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noAutofit/>
          </a:bodyPr>
          <a:lstStyle/>
          <a:p>
            <a:pPr algn="l"/>
            <a:r>
              <a:rPr sz="1380" b="0">
                <a:solidFill>
                  <a:srgbClr val="1F2D3A"/>
                </a:solidFill>
                <a:latin typeface="微软雅黑" panose="020B0503020204020204" charset="-122"/>
              </a:rPr>
              <a:t>Acc：完整回答且回答正确的样本比例。
Safe：没有输出错误信息的样本比例。
CER：关键字段回答错误的样本比例。</a:t>
            </a:r>
            <a:endParaRPr sz="1380" b="0">
              <a:solidFill>
                <a:srgbClr val="1F2D3A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138160" y="4412742"/>
            <a:ext cx="3182112" cy="804672"/>
          </a:xfrm>
          <a:prstGeom prst="roundRect">
            <a:avLst/>
          </a:prstGeom>
          <a:solidFill>
            <a:srgbClr val="F7E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4517136"/>
            <a:ext cx="2852928" cy="256032"/>
          </a:xfrm>
          <a:prstGeom prst="rect">
            <a:avLst/>
          </a:prstGeom>
          <a:noFill/>
        </p:spPr>
        <p:txBody>
          <a:bodyPr wrap="square" lIns="109728" tIns="73152" rIns="109728" bIns="54864" anchor="t">
            <a:spAutoFit/>
          </a:bodyPr>
          <a:lstStyle/>
          <a:p>
            <a:pPr algn="l"/>
            <a:r>
              <a:rPr sz="1260" b="1">
                <a:solidFill>
                  <a:srgbClr val="EB7A53"/>
                </a:solidFill>
                <a:latin typeface="微软雅黑" panose="020B0503020204020204" charset="-122"/>
              </a:rPr>
              <a:t>严重错误优先级最高：只要 NLI 判矛盾，就记为最高风险。</a:t>
            </a:r>
            <a:endParaRPr sz="1260" b="1">
              <a:solidFill>
                <a:srgbClr val="EB7A53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6309360"/>
            <a:ext cx="11109960" cy="274320"/>
          </a:xfrm>
          <a:prstGeom prst="roundRect">
            <a:avLst/>
          </a:prstGeom>
          <a:solidFill>
            <a:srgbClr val="123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l"/>
            <a:r>
              <a:rPr sz="1080">
                <a:solidFill>
                  <a:srgbClr val="FFFFFF"/>
                </a:solidFill>
                <a:latin typeface="微软雅黑" panose="020B0503020204020204" charset="-122"/>
              </a:rPr>
              <a:t>讲解抓手：如果时间紧，这页可以不展开；如果面试官追问评估细节，再翻回来讲。</a:t>
            </a:r>
            <a:endParaRPr sz="108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4.40000000000003,&quot;left&quot;:54,&quot;top&quot;:171.35999999999999,&quot;width&quot;:507.6}"/>
</p:tagLst>
</file>

<file path=ppt/tags/tag2.xml><?xml version="1.0" encoding="utf-8"?>
<p:tagLst xmlns:p="http://schemas.openxmlformats.org/presentationml/2006/main">
  <p:tag name="KSO_WM_DIAGRAM_VIRTUALLY_FRAME" val="{&quot;height&quot;:284.40000000000003,&quot;left&quot;:54,&quot;top&quot;:171.35999999999999,&quot;width&quot;:507.6}"/>
</p:tagLst>
</file>

<file path=ppt/tags/tag3.xml><?xml version="1.0" encoding="utf-8"?>
<p:tagLst xmlns:p="http://schemas.openxmlformats.org/presentationml/2006/main">
  <p:tag name="KSO_WM_DIAGRAM_VIRTUALLY_FRAME" val="{&quot;height&quot;:284.40000000000003,&quot;left&quot;:54,&quot;top&quot;:171.35999999999999,&quot;width&quot;:507.6}"/>
</p:tagLst>
</file>

<file path=ppt/tags/tag4.xml><?xml version="1.0" encoding="utf-8"?>
<p:tagLst xmlns:p="http://schemas.openxmlformats.org/presentationml/2006/main">
  <p:tag name="KSO_WM_DIAGRAM_VIRTUALLY_FRAME" val="{&quot;height&quot;:284.40000000000003,&quot;left&quot;:54,&quot;top&quot;:171.35999999999999,&quot;width&quot;:507.6}"/>
</p:tagLst>
</file>

<file path=ppt/tags/tag5.xml><?xml version="1.0" encoding="utf-8"?>
<p:tagLst xmlns:p="http://schemas.openxmlformats.org/presentationml/2006/main">
  <p:tag name="KSO_WM_DIAGRAM_VIRTUALLY_FRAME" val="{&quot;height&quot;:284.40000000000003,&quot;left&quot;:54,&quot;top&quot;:171.35999999999999,&quot;width&quot;:507.6}"/>
</p:tagLst>
</file>

<file path=ppt/tags/tag6.xml><?xml version="1.0" encoding="utf-8"?>
<p:tagLst xmlns:p="http://schemas.openxmlformats.org/presentationml/2006/main">
  <p:tag name="KSO_WM_DIAGRAM_VIRTUALLY_FRAME" val="{&quot;height&quot;:284.40000000000003,&quot;left&quot;:54,&quot;top&quot;:171.35999999999999,&quot;width&quot;:507.6}"/>
</p:tagLst>
</file>

<file path=ppt/tags/tag7.xml><?xml version="1.0" encoding="utf-8"?>
<p:tagLst xmlns:p="http://schemas.openxmlformats.org/presentationml/2006/main">
  <p:tag name="KSO_WM_DIAGRAM_VIRTUALLY_FRAME" val="{&quot;height&quot;:284.40000000000003,&quot;left&quot;:54,&quot;top&quot;:171.35999999999999,&quot;width&quot;:507.6}"/>
</p:tagLst>
</file>

<file path=ppt/tags/tag8.xml><?xml version="1.0" encoding="utf-8"?>
<p:tagLst xmlns:p="http://schemas.openxmlformats.org/presentationml/2006/main">
  <p:tag name="KSO_WM_DIAGRAM_VIRTUALLY_FRAME" val="{&quot;height&quot;:284.40000000000003,&quot;left&quot;:54,&quot;top&quot;:171.35999999999999,&quot;width&quot;:507.6}"/>
</p:tagLst>
</file>

<file path=ppt/tags/tag9.xml><?xml version="1.0" encoding="utf-8"?>
<p:tagLst xmlns:p="http://schemas.openxmlformats.org/presentationml/2006/main">
  <p:tag name="KSO_WM_DIAGRAM_VIRTUALLY_FRAME" val="{&quot;height&quot;:284.40000000000003,&quot;left&quot;:54,&quot;top&quot;:171.35999999999999,&quot;width&quot;:507.6}"/>
</p:tagLst>
</file>

<file path=ppt/tags/tag10.xml><?xml version="1.0" encoding="utf-8"?>
<p:tagLst xmlns:p="http://schemas.openxmlformats.org/presentationml/2006/main">
  <p:tag name="KSO_WM_DIAGRAM_VIRTUALLY_FRAME" val="{&quot;height&quot;:284.40000000000003,&quot;left&quot;:54,&quot;top&quot;:171.35999999999999,&quot;width&quot;:507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3939</Words>
  <Application>WPS 演示</Application>
  <PresentationFormat>On-screen Show (4:3)</PresentationFormat>
  <Paragraphs>440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智慧民生-面试讲解版</dc:title>
  <dc:creator>Codex</dc:creator>
  <cp:keywords>智慧民生,政务问答,RAG,面试</cp:keywords>
  <dc:description>generated using python-pptx</dc:description>
  <dc:subject>根据智慧民生PPT制作.md生成</dc:subject>
  <cp:lastModifiedBy>G</cp:lastModifiedBy>
  <cp:revision>7</cp:revision>
  <dcterms:created xsi:type="dcterms:W3CDTF">2013-01-27T09:14:00Z</dcterms:created>
  <dcterms:modified xsi:type="dcterms:W3CDTF">2026-03-25T02:18:21Z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C66E4180AD37475986CBBD899F02DBD8_12</vt:lpwstr>
  </property>
</Properties>
</file>